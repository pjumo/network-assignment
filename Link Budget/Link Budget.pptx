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F423C0B-24CF-4C3C-8A59-7768EA0501B5}" styleName="Normal Style 1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B67C12E-1FE8-4DE7-8FEB-275F3A4D1AF3}" styleName="Normal Style 3 - Accent 6">
    <a:wholeTbl>
      <a:tcTxStyle>
        <a:fontRef idx="minor">
          <a:scrgbClr r="0" g="0" b="0"/>
        </a:fontRef>
        <a:schemeClr val="accent6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>
        <a:fontRef idx="minor">
          <a:scrgbClr r="0" g="0" b="0"/>
        </a:fontRef>
        <a:schemeClr val="dk1"/>
      </a:tcTxStyle>
      <a:tcStyle>
        <a:tcBdr/>
        <a:fill>
          <a:solidFill>
            <a:schemeClr val="dk1">
              <a:lum val="8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5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scrgbClr r="0" g="0" b="0"/>
        </a:fontRef>
        <a:schemeClr val="accent6"/>
      </a:tcTxStyle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accent6"/>
      </a:tcTxStyle>
      <a:tcStyle>
        <a:tcBdr/>
      </a:tcStyle>
    </a:seCell>
    <a:swCell>
      <a:tcTxStyle b="on">
        <a:fontRef idx="minor">
          <a:scrgbClr r="0" g="0" b="0"/>
        </a:fontRef>
        <a:schemeClr val="accent6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500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6450435-6131-4BA9-BD02-603D08AFE7CB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3"/>
              </a:solidFill>
            </a:ln>
          </a:top>
          <a:bottom>
            <a:ln w="2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3"/>
              </a:solidFill>
            </a:ln>
          </a:top>
          <a:bottom>
            <a:ln w="10000" cmpd="sng">
              <a:solidFill>
                <a:schemeClr val="accent3"/>
              </a:solidFill>
            </a:ln>
          </a:bottom>
        </a:tcBdr>
        <a:fill>
          <a:solidFill>
            <a:schemeClr val="accent3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B76CA6B-5DA6-45C4-B833-132EAC621518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accent3"/>
              </a:solidFill>
              <a:prstDash val="dash"/>
            </a:ln>
          </a:left>
          <a:right>
            <a:ln w="32700" cmpd="sng">
              <a:solidFill>
                <a:schemeClr val="accent3"/>
              </a:solidFill>
              <a:prstDash val="dash"/>
            </a:ln>
          </a:right>
          <a:top>
            <a:ln w="32700" cmpd="sng">
              <a:solidFill>
                <a:schemeClr val="accent3"/>
              </a:solidFill>
              <a:prstDash val="dash"/>
            </a:ln>
          </a:top>
          <a:bottom>
            <a:ln w="32700" cmpd="sng">
              <a:solidFill>
                <a:schemeClr val="accent3"/>
              </a:solidFill>
              <a:prstDash val="dash"/>
            </a:ln>
          </a:bottom>
          <a:insideH>
            <a:ln w="22700" cmpd="sng">
              <a:solidFill>
                <a:schemeClr val="accent3"/>
              </a:solidFill>
              <a:prstDash val="sysDot"/>
            </a:ln>
          </a:insideH>
          <a:insideV>
            <a:ln w="22700" cmpd="sng">
              <a:solidFill>
                <a:schemeClr val="accent3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77BBAD0-2FD1-4BB3-BED5-B7D4590D3504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TxStyle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3"/>
      </a:tcTxStyle>
      <a:tcStyle>
        <a:tcBdr>
          <a:top>
            <a:ln w="6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3">
          <a:shade val="40000"/>
        </a:schemeClr>
      </a:tcTxStyle>
      <a:tcStyle>
        <a:tcBdr/>
        <a:fill>
          <a:solidFill>
            <a:schemeClr val="accent3">
              <a:alpha val="4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90" d="100"/>
          <a:sy n="9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097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17659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55798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10" Type="http://schemas.openxmlformats.org/officeDocument/2006/relationships/image" Target="../media/image30.png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21.png"  /><Relationship Id="rId7" Type="http://schemas.openxmlformats.org/officeDocument/2006/relationships/image" Target="../media/image27.png"  /><Relationship Id="rId8" Type="http://schemas.openxmlformats.org/officeDocument/2006/relationships/image" Target="../media/image28.png"  /><Relationship Id="rId9" Type="http://schemas.openxmlformats.org/officeDocument/2006/relationships/image" Target="../media/image2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Relationship Id="rId4" Type="http://schemas.openxmlformats.org/officeDocument/2006/relationships/image" Target="../media/image3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://www.lx.it.pt/cost231/final_report.htm" TargetMode="External" /><Relationship Id="rId3" Type="http://schemas.openxmlformats.org/officeDocument/2006/relationships/hyperlink" Target="https://koreascience.kr/article/JAKO200111920324905.pdf" TargetMode="External" /><Relationship Id="rId4" Type="http://schemas.openxmlformats.org/officeDocument/2006/relationships/hyperlink" Target="http://www.ee.bilkent.edu.tr/~microwave/programs/wireless/prop/costWI.htm" TargetMode="External" /><Relationship Id="rId5" Type="http://schemas.openxmlformats.org/officeDocument/2006/relationships/hyperlink" Target="https://mentor.ieee.org/802.19/dcn/08/19-08-0010-00-0000-sui-path-loss-model.doc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401" y="1756315"/>
            <a:ext cx="10363198" cy="1470025"/>
          </a:xfrm>
        </p:spPr>
        <p:txBody>
          <a:bodyPr/>
          <a:p>
            <a:pPr>
              <a:defRPr/>
            </a:pPr>
            <a:r>
              <a:rPr lang="en-US" altLang="ko-KR" sz="7000" b="1"/>
              <a:t>Link Budget</a:t>
            </a:r>
            <a:endParaRPr lang="en-US" altLang="ko-KR" sz="7000" b="1"/>
          </a:p>
        </p:txBody>
      </p:sp>
      <p:sp>
        <p:nvSpPr>
          <p:cNvPr id="4" name=""/>
          <p:cNvSpPr txBox="1"/>
          <p:nvPr/>
        </p:nvSpPr>
        <p:spPr>
          <a:xfrm>
            <a:off x="3770481" y="4310569"/>
            <a:ext cx="4651038" cy="757055"/>
          </a:xfrm>
          <a:prstGeom prst="rect">
            <a:avLst/>
          </a:prstGeom>
        </p:spPr>
        <p:txBody>
          <a:bodyPr wrap="square">
            <a:spAutoFit/>
          </a:bodyPr>
          <a:p>
            <a:pPr marL="257040" indent="-257040">
              <a:buFont typeface="Arial"/>
              <a:buChar char="•"/>
              <a:defRPr/>
            </a:pPr>
            <a:r>
              <a:rPr lang="en-US" altLang="ko-KR" sz="2200"/>
              <a:t>Link Budget</a:t>
            </a:r>
            <a:endParaRPr lang="ko-KR" altLang="en-US" sz="2200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 sz="2200"/>
              <a:t>모델들에 따른 송신 파워의 변화</a:t>
            </a:r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1296328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Link Budget</a:t>
            </a:r>
            <a:endParaRPr lang="en-US" altLang="ko-KR"/>
          </a:p>
        </p:txBody>
      </p:sp>
      <p:sp>
        <p:nvSpPr>
          <p:cNvPr id="4" name=""/>
          <p:cNvSpPr txBox="1"/>
          <p:nvPr/>
        </p:nvSpPr>
        <p:spPr>
          <a:xfrm>
            <a:off x="1130840" y="1696260"/>
            <a:ext cx="7650398" cy="36511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수신 전력</a:t>
            </a:r>
            <a:r>
              <a:rPr lang="en-US" altLang="ko-KR"/>
              <a:t>(dBm) = </a:t>
            </a:r>
            <a:r>
              <a:rPr lang="ko-KR" altLang="en-US"/>
              <a:t>전송 전력</a:t>
            </a:r>
            <a:r>
              <a:rPr lang="en-US" altLang="ko-KR"/>
              <a:t>(dBm) + </a:t>
            </a:r>
            <a:r>
              <a:rPr lang="ko-KR" altLang="en-US"/>
              <a:t>이득</a:t>
            </a:r>
            <a:r>
              <a:rPr lang="en-US" altLang="ko-KR"/>
              <a:t>(dB) - </a:t>
            </a:r>
            <a:r>
              <a:rPr lang="ko-KR" altLang="en-US"/>
              <a:t>손실</a:t>
            </a:r>
            <a:r>
              <a:rPr lang="en-US" altLang="ko-KR"/>
              <a:t>(dB)</a:t>
            </a:r>
            <a:endParaRPr lang="en-US" altLang="ko-KR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13205" y="2955587"/>
            <a:ext cx="561975" cy="361950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94155" y="2411851"/>
            <a:ext cx="581025" cy="371475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1414563" y="2742794"/>
            <a:ext cx="677329" cy="36754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이득</a:t>
            </a:r>
            <a:endParaRPr lang="ko-KR" altLang="en-US"/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46543" y="3820233"/>
            <a:ext cx="495300" cy="352425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41780" y="4362042"/>
            <a:ext cx="504825" cy="342900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23338" y="4907905"/>
            <a:ext cx="495300" cy="371475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734586" y="5431375"/>
            <a:ext cx="438150" cy="352425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414563" y="4649293"/>
            <a:ext cx="670439" cy="36045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손실</a:t>
            </a:r>
            <a:endParaRPr lang="ko-KR" altLang="en-US"/>
          </a:p>
        </p:txBody>
      </p:sp>
      <p:sp>
        <p:nvSpPr>
          <p:cNvPr id="15" name=""/>
          <p:cNvSpPr txBox="1"/>
          <p:nvPr/>
        </p:nvSpPr>
        <p:spPr>
          <a:xfrm>
            <a:off x="3491824" y="2411851"/>
            <a:ext cx="2590841" cy="36754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송신기 안테나 이득</a:t>
            </a:r>
            <a:r>
              <a:rPr lang="en-US" altLang="ko-KR"/>
              <a:t>(dBi)</a:t>
            </a:r>
            <a:endParaRPr lang="en-US" altLang="ko-KR"/>
          </a:p>
        </p:txBody>
      </p:sp>
      <p:sp>
        <p:nvSpPr>
          <p:cNvPr id="16" name=""/>
          <p:cNvSpPr txBox="1"/>
          <p:nvPr/>
        </p:nvSpPr>
        <p:spPr>
          <a:xfrm>
            <a:off x="3505159" y="2949993"/>
            <a:ext cx="2587031" cy="367544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안테나 이득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(dBi)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508968" y="3805114"/>
            <a:ext cx="3516672" cy="367544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송신기 손실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(dB)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508968" y="4349720"/>
            <a:ext cx="3516672" cy="367544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손실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(dB)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508968" y="4909871"/>
            <a:ext cx="1892356" cy="36507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경로 손실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(dB)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508964" y="5416256"/>
            <a:ext cx="6488475" cy="367544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기타 손실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페이드 마진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바디 손실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polarization-mismatch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등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(dB)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360553" y="2742794"/>
            <a:ext cx="1855837" cy="36754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10[dBi]</a:t>
            </a:r>
            <a:r>
              <a:rPr lang="ko-KR" altLang="en-US"/>
              <a:t>으로 설정</a:t>
            </a:r>
            <a:endParaRPr lang="ko-KR" altLang="en-US"/>
          </a:p>
        </p:txBody>
      </p:sp>
      <p:sp>
        <p:nvSpPr>
          <p:cNvPr id="22" name=""/>
          <p:cNvSpPr txBox="1"/>
          <p:nvPr/>
        </p:nvSpPr>
        <p:spPr>
          <a:xfrm>
            <a:off x="7360553" y="4165948"/>
            <a:ext cx="2103487" cy="367544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이상적인 송수신기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7503449" y="6154771"/>
            <a:ext cx="1570044" cy="36430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10[dB]</a:t>
            </a:r>
            <a:r>
              <a:rPr lang="ko-KR" altLang="en-US"/>
              <a:t>로 설정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03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Hata Model</a:t>
            </a: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8650" y="1763340"/>
            <a:ext cx="10934700" cy="51435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10497198" y="6225702"/>
            <a:ext cx="1329042" cy="39226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/>
              <a:t>[..]</a:t>
            </a:r>
            <a:r>
              <a:rPr lang="ko-KR" altLang="en-US" sz="2000"/>
              <a:t> </a:t>
            </a:r>
            <a:r>
              <a:rPr lang="en-US" altLang="ko-KR" sz="2000"/>
              <a:t>-&gt;</a:t>
            </a:r>
            <a:r>
              <a:rPr lang="ko-KR" altLang="en-US" sz="2000"/>
              <a:t> 단위</a:t>
            </a:r>
            <a:endParaRPr lang="ko-KR" altLang="en-US" sz="2000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8650" y="2412662"/>
            <a:ext cx="7296150" cy="857250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8650" y="3587177"/>
            <a:ext cx="381000" cy="35242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38175" y="4208830"/>
            <a:ext cx="371475" cy="304800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8175" y="4707174"/>
            <a:ext cx="238125" cy="361950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09600" y="5273404"/>
            <a:ext cx="295275" cy="32385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1211904" y="3587177"/>
            <a:ext cx="2984811" cy="36379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기지국 안테나 높이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100[m]</a:t>
            </a:r>
            <a:endParaRPr lang="en-US" altLang="ko-KR"/>
          </a:p>
        </p:txBody>
      </p:sp>
      <p:sp>
        <p:nvSpPr>
          <p:cNvPr id="14" name=""/>
          <p:cNvSpPr txBox="1"/>
          <p:nvPr/>
        </p:nvSpPr>
        <p:spPr>
          <a:xfrm>
            <a:off x="1211903" y="4208830"/>
            <a:ext cx="2756212" cy="36126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이동국 안테나 높이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2[m]</a:t>
            </a: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1211904" y="4710903"/>
            <a:ext cx="3175311" cy="36401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전송 빈도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200,</a:t>
            </a:r>
            <a:r>
              <a:rPr lang="ko-KR" altLang="en-US"/>
              <a:t> </a:t>
            </a:r>
            <a:r>
              <a:rPr lang="en-US" altLang="ko-KR"/>
              <a:t>400,</a:t>
            </a:r>
            <a:r>
              <a:rPr lang="ko-KR" altLang="en-US"/>
              <a:t> </a:t>
            </a:r>
            <a:r>
              <a:rPr lang="en-US" altLang="ko-KR"/>
              <a:t>800[MHz]</a:t>
            </a:r>
            <a:endParaRPr lang="en-US" altLang="ko-KR"/>
          </a:p>
        </p:txBody>
      </p:sp>
      <p:sp>
        <p:nvSpPr>
          <p:cNvPr id="16" name=""/>
          <p:cNvSpPr txBox="1"/>
          <p:nvPr/>
        </p:nvSpPr>
        <p:spPr>
          <a:xfrm>
            <a:off x="1211904" y="5273404"/>
            <a:ext cx="1727511" cy="36349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거리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1~10[km]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7130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06958" y="1082304"/>
            <a:ext cx="5625183" cy="4336306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1281765" y="5627856"/>
            <a:ext cx="3708308" cy="36146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거리에 따른 </a:t>
            </a:r>
            <a:r>
              <a:rPr lang="en-US" altLang="ko-KR"/>
              <a:t>PathLoss - HataModel</a:t>
            </a:r>
            <a:endParaRPr lang="en-US" altLang="ko-KR"/>
          </a:p>
        </p:txBody>
      </p:sp>
      <p:sp>
        <p:nvSpPr>
          <p:cNvPr id="8" name=""/>
          <p:cNvSpPr txBox="1"/>
          <p:nvPr/>
        </p:nvSpPr>
        <p:spPr>
          <a:xfrm>
            <a:off x="7165396" y="5627856"/>
            <a:ext cx="3708308" cy="36146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PathLoss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그래프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  d=3Km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부분 확대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4458" y="1082304"/>
            <a:ext cx="5600154" cy="4336306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10873704" y="490436"/>
            <a:ext cx="778860" cy="36409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m-&gt;M</a:t>
            </a:r>
            <a:endParaRPr lang="en-US" altLang="ko-KR"/>
          </a:p>
        </p:txBody>
      </p:sp>
      <p:sp>
        <p:nvSpPr>
          <p:cNvPr id="11" name=""/>
          <p:cNvSpPr txBox="1"/>
          <p:nvPr/>
        </p:nvSpPr>
        <p:spPr>
          <a:xfrm>
            <a:off x="9241098" y="6377696"/>
            <a:ext cx="2591044" cy="363025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y</a:t>
            </a:r>
            <a:r>
              <a:rPr lang="ko-KR" altLang="en-US"/>
              <a:t>축은 </a:t>
            </a:r>
            <a:r>
              <a:rPr lang="en-US" altLang="ko-KR"/>
              <a:t>[dBm] , x</a:t>
            </a:r>
            <a:r>
              <a:rPr lang="ko-KR" altLang="en-US"/>
              <a:t>축은 </a:t>
            </a:r>
            <a:r>
              <a:rPr lang="en-US" altLang="ko-KR"/>
              <a:t>[km]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881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2031999" y="922325"/>
          <a:ext cx="8128000" cy="1283794"/>
        </p:xfrm>
        <a:graphic>
          <a:graphicData uri="http://schemas.openxmlformats.org/drawingml/2006/table">
            <a:tbl>
              <a:tblPr firstRow="1" bandRow="1">
                <a:tableStyleId>{76450435-6131-4BA9-BD02-603D08AFE7CB}</a:tableStyleId>
              </a:tblPr>
              <a:tblGrid>
                <a:gridCol w="2709333"/>
                <a:gridCol w="2709333"/>
                <a:gridCol w="2709333"/>
              </a:tblGrid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200MHz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400MHz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800MHz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9.199[dBm]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9.167[dBm]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17.042[dBm]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</a:tbl>
          </a:graphicData>
        </a:graphic>
      </p:graphicFrame>
      <p:sp>
        <p:nvSpPr>
          <p:cNvPr id="5" name=""/>
          <p:cNvSpPr txBox="1"/>
          <p:nvPr/>
        </p:nvSpPr>
        <p:spPr>
          <a:xfrm>
            <a:off x="2031999" y="3256965"/>
            <a:ext cx="4064001" cy="201151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송신 파워 범위 변화 요인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거리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주파수로 인한 직진성과 회절성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안테나의 높이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인공적 요인과 자연적 요인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기타 손실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473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COST 231 - Hata Model</a:t>
            </a:r>
            <a:endParaRPr lang="en-US" altLang="ko-KR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7737" y="1615601"/>
            <a:ext cx="10296525" cy="647700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1549" y="2631129"/>
            <a:ext cx="266700" cy="400050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400" y="3248025"/>
            <a:ext cx="381000" cy="361950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95362" y="3914977"/>
            <a:ext cx="219075" cy="304800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5924956"/>
            <a:ext cx="5638800" cy="781050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14400" y="5019271"/>
            <a:ext cx="6457950" cy="733425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414563" y="2631129"/>
            <a:ext cx="3248877" cy="36734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전송빈도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200,</a:t>
            </a:r>
            <a:r>
              <a:rPr lang="ko-KR" altLang="en-US"/>
              <a:t> </a:t>
            </a:r>
            <a:r>
              <a:rPr lang="en-US" altLang="ko-KR"/>
              <a:t>800,</a:t>
            </a:r>
            <a:r>
              <a:rPr lang="ko-KR" altLang="en-US"/>
              <a:t> </a:t>
            </a:r>
            <a:r>
              <a:rPr lang="en-US" altLang="ko-KR"/>
              <a:t>2000[MHz]</a:t>
            </a: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1414561" y="3245329"/>
            <a:ext cx="3496528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기지국 안테나 유효 높이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100[m]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414563" y="3883707"/>
            <a:ext cx="1734402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거리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1~20[km]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14400" y="4493772"/>
            <a:ext cx="361950" cy="3429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1414563" y="4481551"/>
            <a:ext cx="3267927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이동국 안테나 유효 높이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2[m]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7707138" y="5206163"/>
            <a:ext cx="4196317" cy="35964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최대 </a:t>
            </a:r>
            <a:r>
              <a:rPr lang="en-US" altLang="ko-KR"/>
              <a:t>2000MHz</a:t>
            </a:r>
            <a:r>
              <a:rPr lang="ko-KR" altLang="en-US"/>
              <a:t>까지 가능 </a:t>
            </a:r>
            <a:r>
              <a:rPr lang="en-US" altLang="ko-KR"/>
              <a:t>(</a:t>
            </a:r>
            <a:r>
              <a:rPr lang="ko-KR" altLang="en-US"/>
              <a:t>오차범위 증가</a:t>
            </a:r>
            <a:r>
              <a:rPr lang="en-US" altLang="ko-KR"/>
              <a:t>)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43723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4834626" y="5617723"/>
            <a:ext cx="2522749" cy="63768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거리에 따른 </a:t>
            </a:r>
            <a:r>
              <a:rPr lang="en-US" altLang="ko-KR"/>
              <a:t>PathLoss</a:t>
            </a:r>
            <a:endParaRPr lang="en-US" altLang="ko-KR"/>
          </a:p>
          <a:p>
            <a:pPr>
              <a:defRPr/>
            </a:pPr>
            <a:r>
              <a:rPr lang="en-US" altLang="ko-KR"/>
              <a:t>- COST231 HataModel</a:t>
            </a:r>
            <a:endParaRPr lang="en-US" altLang="ko-KR"/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79016" y="980973"/>
            <a:ext cx="5433968" cy="4336306"/>
          </a:xfrm>
          <a:prstGeom prst="rect">
            <a:avLst/>
          </a:prstGeom>
        </p:spPr>
      </p:pic>
      <p:sp>
        <p:nvSpPr>
          <p:cNvPr id="11" name=""/>
          <p:cNvSpPr txBox="1"/>
          <p:nvPr/>
        </p:nvSpPr>
        <p:spPr>
          <a:xfrm>
            <a:off x="8812984" y="4828545"/>
            <a:ext cx="641531" cy="367139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[km]</a:t>
            </a:r>
            <a:endParaRPr lang="en-US" altLang="ko-KR"/>
          </a:p>
        </p:txBody>
      </p:sp>
      <p:sp>
        <p:nvSpPr>
          <p:cNvPr id="12" name=""/>
          <p:cNvSpPr txBox="1"/>
          <p:nvPr/>
        </p:nvSpPr>
        <p:spPr>
          <a:xfrm>
            <a:off x="2732288" y="980972"/>
            <a:ext cx="778627" cy="36014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[dBm]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632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2032000" y="1652576"/>
          <a:ext cx="8128000" cy="1283794"/>
        </p:xfrm>
        <a:graphic>
          <a:graphicData uri="http://schemas.openxmlformats.org/drawingml/2006/table">
            <a:tbl>
              <a:tblPr firstRow="1" bandRow="1">
                <a:tableStyleId>{76450435-6131-4BA9-BD02-603D08AFE7CB}</a:tableStyleId>
              </a:tblPr>
              <a:tblGrid>
                <a:gridCol w="2709333"/>
                <a:gridCol w="2709333"/>
                <a:gridCol w="2709333"/>
              </a:tblGrid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200MHz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800MHz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2GHz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6.759[dBm]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19.262[dBm]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22.752[dBm]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</a:tbl>
          </a:graphicData>
        </a:graphic>
      </p:graphicFrame>
      <p:sp>
        <p:nvSpPr>
          <p:cNvPr id="6" name=""/>
          <p:cNvSpPr txBox="1"/>
          <p:nvPr/>
        </p:nvSpPr>
        <p:spPr>
          <a:xfrm>
            <a:off x="2032000" y="3429000"/>
            <a:ext cx="5784216" cy="10058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2000"/>
              <a:t>Hata Model</a:t>
            </a:r>
            <a:r>
              <a:rPr lang="ko-KR" altLang="en-US" sz="2000"/>
              <a:t> </a:t>
            </a:r>
            <a:r>
              <a:rPr lang="en-US" altLang="ko-KR" sz="2000"/>
              <a:t>800MHz</a:t>
            </a:r>
            <a:r>
              <a:rPr lang="ko-KR" altLang="en-US" sz="2000"/>
              <a:t> 에서의 송신 파워가 </a:t>
            </a:r>
            <a:r>
              <a:rPr lang="en-US" altLang="ko-KR" sz="2000"/>
              <a:t>17.042dBm</a:t>
            </a:r>
            <a:endParaRPr lang="en-US" altLang="ko-KR" sz="2000"/>
          </a:p>
          <a:p>
            <a:pPr>
              <a:defRPr/>
            </a:pPr>
            <a:r>
              <a:rPr lang="ko-KR" altLang="en-US" sz="2000"/>
              <a:t>추가 파라미터는 없는 걸 미루어 볼때</a:t>
            </a:r>
            <a:endParaRPr lang="ko-KR" altLang="en-US" sz="2000"/>
          </a:p>
          <a:p>
            <a:pPr>
              <a:defRPr/>
            </a:pPr>
            <a:r>
              <a:rPr lang="ko-KR" altLang="en-US" sz="2000"/>
              <a:t>건설양식의 발전이 상수값을 변경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1975674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COST 231 - WI</a:t>
            </a:r>
            <a:r>
              <a:rPr lang="en-US" altLang="ko-KR" sz="2400"/>
              <a:t>(Walfisch-Ikegami)</a:t>
            </a:r>
            <a:r>
              <a:rPr lang="en-US" altLang="ko-KR"/>
              <a:t> Model</a:t>
            </a:r>
            <a:endParaRPr lang="en-US" altLang="ko-KR"/>
          </a:p>
        </p:txBody>
      </p:sp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2969" y="1417638"/>
            <a:ext cx="6641901" cy="2697844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7278901" y="2048320"/>
            <a:ext cx="4114862" cy="117915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주파수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800~2000[MHz]</a:t>
            </a:r>
            <a:endParaRPr lang="en-US" altLang="ko-KR"/>
          </a:p>
          <a:p>
            <a:pPr>
              <a:defRPr/>
            </a:pPr>
            <a:r>
              <a:rPr lang="ko-KR" altLang="en-US"/>
              <a:t>기지국 안테나 높이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4~50[m]</a:t>
            </a:r>
            <a:endParaRPr lang="en-US" altLang="ko-KR"/>
          </a:p>
          <a:p>
            <a:pPr>
              <a:defRPr/>
            </a:pPr>
            <a:r>
              <a:rPr lang="ko-KR" altLang="en-US"/>
              <a:t>이동국 안테나 높이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1~3[m]</a:t>
            </a:r>
            <a:endParaRPr lang="en-US" altLang="ko-KR"/>
          </a:p>
          <a:p>
            <a:pPr>
              <a:defRPr/>
            </a:pPr>
            <a:r>
              <a:rPr lang="ko-KR" altLang="en-US"/>
              <a:t>거리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0.02~5[km]</a:t>
            </a:r>
            <a:endParaRPr lang="en-US" altLang="ko-KR"/>
          </a:p>
        </p:txBody>
      </p:sp>
      <p:sp>
        <p:nvSpPr>
          <p:cNvPr id="22" name=""/>
          <p:cNvSpPr txBox="1"/>
          <p:nvPr/>
        </p:nvSpPr>
        <p:spPr>
          <a:xfrm>
            <a:off x="1019375" y="4472697"/>
            <a:ext cx="5425240" cy="118324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COST 231 Hata Model</a:t>
            </a:r>
            <a:r>
              <a:rPr lang="ko-KR" altLang="en-US"/>
              <a:t>과 비교하였을 때 추가 매개변수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평균 건물 폭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평균 건물 높이</a:t>
            </a:r>
            <a:endParaRPr lang="ko-KR" altLang="en-US"/>
          </a:p>
          <a:p>
            <a:pPr marL="257040" indent="-257040">
              <a:buFont typeface="Arial"/>
              <a:buChar char="•"/>
              <a:defRPr/>
            </a:pPr>
            <a:r>
              <a:rPr lang="ko-KR" altLang="en-US"/>
              <a:t>건물 비율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3055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48755" y="1690288"/>
            <a:ext cx="4477359" cy="4645786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70326" y="1690288"/>
            <a:ext cx="4665020" cy="4616120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1161482" y="6340935"/>
            <a:ext cx="4464632" cy="362274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Cost231 WI </a:t>
            </a:r>
            <a:r>
              <a:rPr lang="ko-KR" altLang="en-US"/>
              <a:t>모델과 </a:t>
            </a:r>
            <a:r>
              <a:rPr lang="en-US" altLang="ko-KR"/>
              <a:t>Okumura </a:t>
            </a:r>
            <a:r>
              <a:rPr lang="ko-KR" altLang="en-US"/>
              <a:t>모델 결과 비교</a:t>
            </a:r>
            <a:endParaRPr lang="ko-KR" altLang="en-US"/>
          </a:p>
        </p:txBody>
      </p:sp>
      <p:sp>
        <p:nvSpPr>
          <p:cNvPr id="14" name=""/>
          <p:cNvSpPr txBox="1"/>
          <p:nvPr/>
        </p:nvSpPr>
        <p:spPr>
          <a:xfrm>
            <a:off x="6520236" y="6340935"/>
            <a:ext cx="4765201" cy="362274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Cost231 WI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모델과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수정된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Hata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모델 결과 비교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148755" y="362726"/>
            <a:ext cx="4735831" cy="90495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평균 건물 폭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73.8m</a:t>
            </a:r>
            <a:endParaRPr lang="en-US" altLang="ko-KR"/>
          </a:p>
          <a:p>
            <a:pPr>
              <a:defRPr/>
            </a:pPr>
            <a:r>
              <a:rPr lang="ko-KR" altLang="en-US"/>
              <a:t>평균 건물 높이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11.81m</a:t>
            </a:r>
            <a:endParaRPr lang="en-US" altLang="ko-KR"/>
          </a:p>
          <a:p>
            <a:pPr>
              <a:defRPr/>
            </a:pPr>
            <a:r>
              <a:rPr lang="ko-KR" altLang="en-US"/>
              <a:t>건물 비율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37%</a:t>
            </a:r>
            <a:endParaRPr lang="en-US" altLang="ko-KR"/>
          </a:p>
        </p:txBody>
      </p:sp>
      <p:sp>
        <p:nvSpPr>
          <p:cNvPr id="16" name=""/>
          <p:cNvSpPr txBox="1"/>
          <p:nvPr/>
        </p:nvSpPr>
        <p:spPr>
          <a:xfrm>
            <a:off x="8445046" y="362725"/>
            <a:ext cx="2790300" cy="90495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평균 건물 폭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73.8m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평균 건물 높이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10.93m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건물 비율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37%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98312" y="281804"/>
            <a:ext cx="19526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00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SUI PathLoss Model</a:t>
            </a:r>
            <a:endParaRPr lang="en-US" altLang="ko-KR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1550" y="3545941"/>
            <a:ext cx="266700" cy="400050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400" y="4162837"/>
            <a:ext cx="381000" cy="361950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95362" y="4829790"/>
            <a:ext cx="219075" cy="304800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414563" y="3545941"/>
            <a:ext cx="3591777" cy="36734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/>
              <a:t>전송빈도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2400,</a:t>
            </a:r>
            <a:r>
              <a:rPr lang="ko-KR" altLang="en-US"/>
              <a:t> </a:t>
            </a:r>
            <a:r>
              <a:rPr lang="en-US" altLang="ko-KR"/>
              <a:t>5000,</a:t>
            </a:r>
            <a:r>
              <a:rPr lang="ko-KR" altLang="en-US"/>
              <a:t> </a:t>
            </a:r>
            <a:r>
              <a:rPr lang="en-US" altLang="ko-KR"/>
              <a:t>28000[MHz]</a:t>
            </a:r>
            <a:endParaRPr lang="en-US" altLang="ko-KR"/>
          </a:p>
        </p:txBody>
      </p:sp>
      <p:sp>
        <p:nvSpPr>
          <p:cNvPr id="15" name=""/>
          <p:cNvSpPr txBox="1"/>
          <p:nvPr/>
        </p:nvSpPr>
        <p:spPr>
          <a:xfrm>
            <a:off x="1414561" y="4160141"/>
            <a:ext cx="3496529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기지국 안테나 유효 높이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100[m]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414563" y="4798519"/>
            <a:ext cx="2324952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거리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1000~10000[m]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5408584"/>
            <a:ext cx="361950" cy="342900"/>
          </a:xfrm>
          <a:prstGeom prst="rect">
            <a:avLst/>
          </a:prstGeom>
        </p:spPr>
      </p:pic>
      <p:sp>
        <p:nvSpPr>
          <p:cNvPr id="18" name=""/>
          <p:cNvSpPr txBox="1"/>
          <p:nvPr/>
        </p:nvSpPr>
        <p:spPr>
          <a:xfrm>
            <a:off x="1414563" y="5396363"/>
            <a:ext cx="3267927" cy="367341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이동국 안테나 유효 높이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2[m]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graphicFrame>
        <p:nvGraphicFramePr>
          <p:cNvPr id="21" name=""/>
          <p:cNvGraphicFramePr>
            <a:graphicFrameLocks noGrp="1"/>
          </p:cNvGraphicFramePr>
          <p:nvPr/>
        </p:nvGraphicFramePr>
        <p:xfrm>
          <a:off x="5319328" y="3984400"/>
          <a:ext cx="6513195" cy="1767083"/>
        </p:xfrm>
        <a:graphic>
          <a:graphicData uri="http://schemas.openxmlformats.org/drawingml/2006/table">
            <a:tbl>
              <a:tblPr firstRow="1" bandRow="1">
                <a:tableStyleId>{76450435-6131-4BA9-BD02-603D08AFE7CB}</a:tableStyleId>
              </a:tblPr>
              <a:tblGrid>
                <a:gridCol w="1630680"/>
                <a:gridCol w="1630680"/>
                <a:gridCol w="1630680"/>
                <a:gridCol w="1621155"/>
              </a:tblGrid>
              <a:tr h="44177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Model Parameters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Terrain Type A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Terrain Type B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Terrain Type C</a:t>
                      </a:r>
                      <a:endParaRPr lang="en-US" altLang="ko-KR" sz="1400"/>
                    </a:p>
                  </a:txBody>
                  <a:tcPr marL="91440" marR="91440" anchor="ctr"/>
                </a:tc>
              </a:tr>
              <a:tr h="44177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a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4.6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4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3.6</a:t>
                      </a:r>
                      <a:endParaRPr lang="en-US" altLang="ko-KR" sz="1400"/>
                    </a:p>
                  </a:txBody>
                  <a:tcPr marL="91440" marR="91440" anchor="ctr"/>
                </a:tc>
              </a:tr>
              <a:tr h="44177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b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0.0075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0.0065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0.005</a:t>
                      </a:r>
                      <a:endParaRPr lang="en-US" altLang="ko-KR" sz="1400"/>
                    </a:p>
                  </a:txBody>
                  <a:tcPr marL="91440" marR="91440" anchor="ctr"/>
                </a:tc>
              </a:tr>
              <a:tr h="44177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c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12.6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17.1</a:t>
                      </a:r>
                      <a:endParaRPr lang="en-US" altLang="ko-KR" sz="1400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400"/>
                        <a:t>20</a:t>
                      </a:r>
                      <a:endParaRPr lang="en-US" altLang="ko-KR" sz="1400"/>
                    </a:p>
                  </a:txBody>
                  <a:tcPr marL="91440" marR="91440" anchor="ctr"/>
                </a:tc>
              </a:tr>
            </a:tbl>
          </a:graphicData>
        </a:graphic>
      </p:graphicFrame>
      <p:pic>
        <p:nvPicPr>
          <p:cNvPr id="2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74596" y="2451100"/>
            <a:ext cx="5021404" cy="437085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771911" y="1579563"/>
            <a:ext cx="2536092" cy="419100"/>
          </a:xfrm>
          <a:prstGeom prst="rect">
            <a:avLst/>
          </a:prstGeom>
        </p:spPr>
      </p:pic>
      <p:pic>
        <p:nvPicPr>
          <p:cNvPr id="24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034415" y="1579563"/>
            <a:ext cx="4079335" cy="441009"/>
          </a:xfrm>
          <a:prstGeom prst="rect">
            <a:avLst/>
          </a:prstGeom>
        </p:spPr>
      </p:pic>
      <p:pic>
        <p:nvPicPr>
          <p:cNvPr id="25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6663426" y="2451100"/>
            <a:ext cx="4712769" cy="977899"/>
          </a:xfrm>
          <a:prstGeom prst="rect">
            <a:avLst/>
          </a:prstGeom>
        </p:spPr>
      </p:pic>
      <p:sp>
        <p:nvSpPr>
          <p:cNvPr id="26" name=""/>
          <p:cNvSpPr txBox="1"/>
          <p:nvPr/>
        </p:nvSpPr>
        <p:spPr>
          <a:xfrm>
            <a:off x="4884843" y="2940050"/>
            <a:ext cx="1211157" cy="2965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400"/>
              <a:t>d0 = 100m</a:t>
            </a:r>
            <a:endParaRPr lang="ko-KR" altLang="en-US" sz="1400"/>
          </a:p>
        </p:txBody>
      </p:sp>
      <p:sp>
        <p:nvSpPr>
          <p:cNvPr id="27" name=""/>
          <p:cNvSpPr txBox="1"/>
          <p:nvPr/>
        </p:nvSpPr>
        <p:spPr>
          <a:xfrm>
            <a:off x="10059538" y="5901892"/>
            <a:ext cx="1772987" cy="725846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1400"/>
              <a:t>A : </a:t>
            </a:r>
            <a:r>
              <a:rPr lang="ko-KR" altLang="en-US" sz="1400"/>
              <a:t>언덕이 많은 지형</a:t>
            </a:r>
            <a:endParaRPr lang="ko-KR" altLang="en-US" sz="1400"/>
          </a:p>
          <a:p>
            <a:pPr>
              <a:defRPr/>
            </a:pPr>
            <a:r>
              <a:rPr lang="en-US" altLang="ko-KR" sz="1400"/>
              <a:t>B : </a:t>
            </a:r>
            <a:r>
              <a:rPr lang="ko-KR" altLang="en-US" sz="1400"/>
              <a:t>중간</a:t>
            </a:r>
            <a:endParaRPr lang="ko-KR" altLang="en-US" sz="1400"/>
          </a:p>
          <a:p>
            <a:pPr>
              <a:defRPr/>
            </a:pPr>
            <a:r>
              <a:rPr lang="en-US" altLang="ko-KR" sz="1400"/>
              <a:t>C : </a:t>
            </a:r>
            <a:r>
              <a:rPr lang="ko-KR" altLang="en-US" sz="1400"/>
              <a:t>평평한 지형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97573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845411" y="3287137"/>
            <a:ext cx="2522749" cy="63768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거리에 따른 </a:t>
            </a:r>
            <a:r>
              <a:rPr lang="en-US" altLang="ko-KR"/>
              <a:t>PathLoss</a:t>
            </a:r>
            <a:endParaRPr lang="en-US" altLang="ko-KR"/>
          </a:p>
          <a:p>
            <a:pPr>
              <a:defRPr/>
            </a:pPr>
            <a:r>
              <a:rPr lang="en-US" altLang="ko-KR"/>
              <a:t>- SUI Model Type A</a:t>
            </a: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9772" y="328308"/>
            <a:ext cx="3654028" cy="2827101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4834625" y="4645360"/>
            <a:ext cx="2522749" cy="643163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거리에 따른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PathLoss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- SUI Model Type B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51891" y="2987775"/>
            <a:ext cx="3594774" cy="2874393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8787903" y="6033984"/>
            <a:ext cx="2522749" cy="643163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거리에 따른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PathLoss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- SUI Model Type C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08745" y="1572865"/>
            <a:ext cx="3574509" cy="282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41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677333" y="661386"/>
          <a:ext cx="10837333" cy="2567589"/>
        </p:xfrm>
        <a:graphic>
          <a:graphicData uri="http://schemas.openxmlformats.org/drawingml/2006/table">
            <a:tbl>
              <a:tblPr firstRow="1" bandRow="1">
                <a:tableStyleId>{76450435-6131-4BA9-BD02-603D08AFE7CB}</a:tableStyleId>
              </a:tblPr>
              <a:tblGrid>
                <a:gridCol w="2709333"/>
                <a:gridCol w="2709333"/>
                <a:gridCol w="2709333"/>
                <a:gridCol w="2709333"/>
              </a:tblGrid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SUI Model Type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2.4GHz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5GHz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28GHz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Type A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34.26[dBm]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42.547[dBm]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62[dBm]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Type B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27.539[dBm]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35.826[dBm]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55.279[dBm]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  <a:tr h="6418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Type C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24.274[dBm]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32.562[dBm]</a:t>
                      </a:r>
                      <a:endParaRPr lang="en-US" altLang="ko-KR"/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/>
                        <a:t>52.015[dBm]</a:t>
                      </a:r>
                      <a:endParaRPr lang="en-US" altLang="ko-KR"/>
                    </a:p>
                  </a:txBody>
                  <a:tcPr marL="91440" marR="91440" anchor="ctr"/>
                </a:tc>
              </a:tr>
            </a:tbl>
          </a:graphicData>
        </a:graphic>
      </p:graphicFrame>
      <p:sp>
        <p:nvSpPr>
          <p:cNvPr id="6" name=""/>
          <p:cNvSpPr txBox="1"/>
          <p:nvPr/>
        </p:nvSpPr>
        <p:spPr>
          <a:xfrm>
            <a:off x="677333" y="3735914"/>
            <a:ext cx="8948633" cy="1310431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5G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세대에서 고주파수에 맞춘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PL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모델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추가 파라미터는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Hata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모델에서 도시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교외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 농촌으로 나눈 것과 같은 개념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주파수가 커졌을 때의 송신 파워가 커진 것을 미루어 볼 때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주파수가 커질 수록 손실량이 증가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6513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431471" y="2215624"/>
            <a:ext cx="7394352" cy="3040585"/>
          </a:xfrm>
          <a:prstGeom prst="rect">
            <a:avLst/>
          </a:prstGeom>
        </p:spPr>
        <p:txBody>
          <a:bodyPr wrap="square">
            <a:spAutoFit/>
          </a:bodyPr>
          <a:p>
            <a:pPr marL="257040" indent="-257040">
              <a:buFont typeface="Arial"/>
              <a:buChar char="•"/>
              <a:defRPr/>
            </a:pPr>
            <a:r>
              <a:rPr lang="en-US" altLang="en-US" sz="2800">
                <a:hlinkClick r:id="rId2"/>
              </a:rPr>
              <a:t>Final report of Cost Action 231</a:t>
            </a:r>
            <a:endParaRPr lang="en-US" altLang="en-US" sz="2800"/>
          </a:p>
          <a:p>
            <a:pPr marL="0" indent="0">
              <a:buFont typeface="Arial"/>
              <a:buNone/>
              <a:defRPr/>
            </a:pPr>
            <a:endParaRPr lang="en-US" altLang="en-US" sz="2800">
              <a:hlinkClick r:id="rId3"/>
            </a:endParaRPr>
          </a:p>
          <a:p>
            <a:pPr marL="257040" indent="-257040">
              <a:buFont typeface="Arial"/>
              <a:buChar char="•"/>
              <a:defRPr/>
            </a:pPr>
            <a:r>
              <a:rPr lang="en-US" altLang="ko-KR" sz="2300">
                <a:hlinkClick r:id="rId3"/>
              </a:rPr>
              <a:t>무선통신망 설계를 위한 주요 전송 손실식 비교 분석 [정민석.이범선] (2001.12.04)</a:t>
            </a:r>
            <a:endParaRPr lang="en-US" altLang="ko-KR" sz="2300"/>
          </a:p>
          <a:p>
            <a:pPr marL="257040" indent="-257040">
              <a:buFont typeface="Arial"/>
              <a:buChar char="•"/>
              <a:defRPr/>
            </a:pPr>
            <a:endParaRPr lang="en-US" altLang="ko-KR" sz="2300"/>
          </a:p>
          <a:p>
            <a:pPr marL="257040" indent="-257040">
              <a:buFont typeface="Arial"/>
              <a:buChar char="•"/>
              <a:defRPr/>
            </a:pPr>
            <a:r>
              <a:rPr lang="en-US" altLang="ko-KR" sz="2300">
                <a:hlinkClick r:id="rId4"/>
              </a:rPr>
              <a:t>COST 231 Walfisch-Ikegami Model</a:t>
            </a:r>
            <a:endParaRPr lang="en-US" altLang="ko-KR" sz="2300"/>
          </a:p>
          <a:p>
            <a:pPr marL="257040" indent="-257040">
              <a:buFont typeface="Arial"/>
              <a:buChar char="•"/>
              <a:defRPr/>
            </a:pPr>
            <a:endParaRPr lang="en-US" altLang="ko-KR" sz="2300"/>
          </a:p>
          <a:p>
            <a:pPr marL="257040" indent="-257040">
              <a:buFont typeface="Arial"/>
              <a:buChar char="•"/>
              <a:defRPr/>
            </a:pPr>
            <a:r>
              <a:rPr lang="en-US" altLang="ko-KR" sz="2300">
                <a:hlinkClick r:id="rId5"/>
              </a:rPr>
              <a:t>SUI Path-Loss Model for Coexistence Study </a:t>
            </a:r>
            <a:endParaRPr lang="en-US" altLang="ko-KR" sz="2300"/>
          </a:p>
        </p:txBody>
      </p:sp>
      <p:sp>
        <p:nvSpPr>
          <p:cNvPr id="5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 vert="horz" lIns="91440" tIns="45720" rIns="91440" bIns="45720" anchor="ctr">
            <a:normAutofit/>
          </a:bodyPr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참조문헌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4852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337</ep:Words>
  <ep:PresentationFormat>화면 슬라이드 쇼(4:3)</ep:PresentationFormat>
  <ep:Paragraphs>90</ep:Paragraphs>
  <ep:Slides>14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한컴오피스</vt:lpstr>
      <vt:lpstr>Link Budget</vt:lpstr>
      <vt:lpstr>Link Budget</vt:lpstr>
      <vt:lpstr>Hata Model</vt:lpstr>
      <vt:lpstr>슬라이드 4</vt:lpstr>
      <vt:lpstr>슬라이드 5</vt:lpstr>
      <vt:lpstr>COST 231 - Hata Model</vt:lpstr>
      <vt:lpstr>슬라이드 7</vt:lpstr>
      <vt:lpstr>슬라이드 8</vt:lpstr>
      <vt:lpstr>COST 231 - WI(Walfisch-Ikegami) Model</vt:lpstr>
      <vt:lpstr>슬라이드 10</vt:lpstr>
      <vt:lpstr>SUI PathLoss Model</vt:lpstr>
      <vt:lpstr>슬라이드 12</vt:lpstr>
      <vt:lpstr>슬라이드 13</vt:lpstr>
      <vt:lpstr>참조문헌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2023-03-20T12:37:06.356</dcterms:created>
  <dc:creator>parkj</dc:creator>
  <cp:lastModifiedBy>parkj</cp:lastModifiedBy>
  <dcterms:modified xsi:type="dcterms:W3CDTF">2023-03-20T16:43:22.537</dcterms:modified>
  <cp:revision>54</cp:revision>
  <dc:title>Link</dc:title>
  <cp:version>12.0.0.893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