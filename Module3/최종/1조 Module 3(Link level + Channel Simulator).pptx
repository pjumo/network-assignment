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6" r:id="rId8"/>
    <p:sldId id="267" r:id="rId9"/>
    <p:sldId id="268" r:id="rId10"/>
    <p:sldId id="262" r:id="rId11"/>
    <p:sldId id="264" r:id="rId12"/>
    <p:sldId id="270" r:id="rId13"/>
    <p:sldId id="265" r:id="rId14"/>
    <p:sldId id="26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87" y="53"/>
      </p:cViewPr>
      <p:guideLst>
        <p:guide orient="horz" pos="2156"/>
        <p:guide pos="38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presProps" Target="presProps.xml"  /><Relationship Id="rId17" Type="http://schemas.openxmlformats.org/officeDocument/2006/relationships/viewProps" Target="viewProps.xml"  /><Relationship Id="rId18" Type="http://schemas.openxmlformats.org/officeDocument/2006/relationships/theme" Target="theme/theme1.xml"  /><Relationship Id="rId19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F60E6D-84F5-ADF4-FE6C-037A9AA8BB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7A0EF7C-31E2-8DA3-44B6-FCF8192C7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5F8031-DF24-4E91-5A73-694E6B0F9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EFCF-E74D-4CCD-A522-6026B8AC99D9}" type="datetimeFigureOut">
              <a:rPr lang="ko-KR" altLang="en-US" smtClean="0"/>
              <a:t>2023-06-11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C311E4-FBC5-BCBA-C571-C4F549DC3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245015-E7F1-570C-6DF0-22D6C1384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9CA6-6FCD-4425-90ED-A5FA75E3D1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385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83403F-4659-69F6-635E-27C9881BD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A56613-E304-F007-C5B8-F41F19EDD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02AEEE-8752-C5F2-DFCE-EF5EBC667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EFCF-E74D-4CCD-A522-6026B8AC99D9}" type="datetimeFigureOut">
              <a:rPr lang="ko-KR" altLang="en-US" smtClean="0"/>
              <a:t>2023-06-11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FA29D6-FF16-6717-12FC-88F9C4838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6B6F74-DA46-C53E-47AD-840A383EC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9CA6-6FCD-4425-90ED-A5FA75E3D1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513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0234B4-8184-8EB3-1501-42ABA4A36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E5DCBB-A5F3-7BBD-65E3-CF0831A63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B6F31A-9E85-61AC-A1FA-A6BED9B21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EFCF-E74D-4CCD-A522-6026B8AC99D9}" type="datetimeFigureOut">
              <a:rPr lang="ko-KR" altLang="en-US" smtClean="0"/>
              <a:t>2023-06-11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CA56BE-44C3-B509-56F1-614B9746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8B4CF2-7768-3534-0F10-2E145A1B2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9CA6-6FCD-4425-90ED-A5FA75E3D1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044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AF7218-B63B-460F-DE1F-7B824DCC2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E140EA-2FF9-7A95-3907-0789AECDF3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EE7229-649C-9CD1-9857-C610EB3FA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882134-334F-E419-8F0F-CB0626601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EFCF-E74D-4CCD-A522-6026B8AC99D9}" type="datetimeFigureOut">
              <a:rPr lang="ko-KR" altLang="en-US" smtClean="0"/>
              <a:t>2023-06-11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681E35-63F9-20B0-9D58-3F4B13023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84D0ED-2E0C-4C67-28F4-48CBEF7D6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9CA6-6FCD-4425-90ED-A5FA75E3D1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598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D1D46E-1913-C8EC-09CC-C2398288A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3D6A87-69EA-22C2-C154-9FAEC118A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F79C87-272D-670C-3FF5-A4201EA97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804AF6E-D3DE-282A-0161-DDCCF4C345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1D1B109-E842-54F7-F3E3-C194030031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C27DE8D-924A-285B-DDE1-E6A661600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EFCF-E74D-4CCD-A522-6026B8AC99D9}" type="datetimeFigureOut">
              <a:rPr lang="ko-KR" altLang="en-US" smtClean="0"/>
              <a:t>2023-06-11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8671338-54F6-65AB-772D-95F44EF7F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B802CA9-85E0-85D1-D75A-2B76A0B55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9CA6-6FCD-4425-90ED-A5FA75E3D1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121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A54927-ECB7-2488-9142-1CAC76A17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15A3DBD-2310-D3CE-E236-77E64792F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EFCF-E74D-4CCD-A522-6026B8AC99D9}" type="datetimeFigureOut">
              <a:rPr lang="ko-KR" altLang="en-US" smtClean="0"/>
              <a:t>2023-06-11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477BE9-754C-F697-173B-F47DA6F6C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22CA92-A19A-072B-BABD-FCCD72124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9CA6-6FCD-4425-90ED-A5FA75E3D1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408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77AACC-71BC-F674-E5F5-45125E280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EFCF-E74D-4CCD-A522-6026B8AC99D9}" type="datetimeFigureOut">
              <a:rPr lang="ko-KR" altLang="en-US" smtClean="0"/>
              <a:t>2023-06-11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FCA7BEC-EBB4-0E88-DC32-DA9BD6780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D68035-6B5C-76BA-2151-EACCE90E0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9CA6-6FCD-4425-90ED-A5FA75E3D1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986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096B9E-3491-AB91-6669-9F872833B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D5891B-C3A1-CE49-EBA2-002A31D46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1D45AD-B7DB-0782-28E6-C195B78BA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5892F7-4B37-6EA0-6C85-A30D97BBB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EFCF-E74D-4CCD-A522-6026B8AC99D9}" type="datetimeFigureOut">
              <a:rPr lang="ko-KR" altLang="en-US" smtClean="0"/>
              <a:t>2023-06-11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1E2EAF-5AF2-6B7F-EB7C-FBDD39EEA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BF6106-E221-EE9C-4580-6ACB399AD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9CA6-6FCD-4425-90ED-A5FA75E3D1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0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90D58-7C5B-0493-D033-4B16A6722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79327B4-8193-01CD-93CC-6306FC43C2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F40D3B-AD04-B4C7-C338-28EF504500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55A3B7-6BB3-C5C6-81BB-737ACA284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EFCF-E74D-4CCD-A522-6026B8AC99D9}" type="datetimeFigureOut">
              <a:rPr lang="ko-KR" altLang="en-US" smtClean="0"/>
              <a:t>2023-06-11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F35975-9B96-BABC-676D-63A3D2D8D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000998-D8AE-2823-6312-1A2E12EFF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9CA6-6FCD-4425-90ED-A5FA75E3D1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305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0DA87D-C3CC-4BE9-21BF-0D1583684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799481-B262-B62A-3259-88B11D0CF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AB7676-DF89-56AD-D7E6-D53BC5384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EFCF-E74D-4CCD-A522-6026B8AC99D9}" type="datetimeFigureOut">
              <a:rPr lang="ko-KR" altLang="en-US" smtClean="0"/>
              <a:t>2023-06-11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68CB66-19A4-8A78-BC99-4BB16833A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38677A-F172-60C0-3308-A44EF7F52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9CA6-6FCD-4425-90ED-A5FA75E3D1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3224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88D6FA2-0F1D-62D8-94A3-A159289160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B57E5BB-5C2D-834A-0484-D2E4864F3A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7E9E5D-FCE2-745B-81A6-BEC67168D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3EFCF-E74D-4CCD-A522-6026B8AC99D9}" type="datetimeFigureOut">
              <a:rPr lang="ko-KR" altLang="en-US" smtClean="0"/>
              <a:t>2023-06-11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DA1F5B-5C21-8697-918A-546FAA768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617C02-202D-AC94-68E2-6D47833AD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9CA6-6FCD-4425-90ED-A5FA75E3D1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325930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085A5C-8589-4EFE-E4D2-99E8FA2EB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234DBB-D984-8B1B-9968-53DEADE15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D7408C-76CB-3F74-72E0-ABBC044D63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93EFCF-E74D-4CCD-A522-6026B8AC99D9}" type="datetimeFigureOut">
              <a:rPr lang="ko-KR" altLang="en-US" smtClean="0"/>
              <a:t>2023-06-11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4A7703-258B-456B-5095-71F5FEFD06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9115BB-7410-7482-A635-E363E6B275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189CA6-6FCD-4425-90ED-A5FA75E3D1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2230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Relationship Id="rId3" Type="http://schemas.openxmlformats.org/officeDocument/2006/relationships/image" Target="../media/image7.png"  /><Relationship Id="rId4" Type="http://schemas.openxmlformats.org/officeDocument/2006/relationships/image" Target="../media/image8.png"  /><Relationship Id="rId5" Type="http://schemas.openxmlformats.org/officeDocument/2006/relationships/image" Target="../media/image9.png"  /><Relationship Id="rId6" Type="http://schemas.openxmlformats.org/officeDocument/2006/relationships/image" Target="../media/image10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.png"  /><Relationship Id="rId3" Type="http://schemas.openxmlformats.org/officeDocument/2006/relationships/image" Target="../media/image12.png"  /><Relationship Id="rId4" Type="http://schemas.openxmlformats.org/officeDocument/2006/relationships/image" Target="../media/image13.png"  /><Relationship Id="rId5" Type="http://schemas.openxmlformats.org/officeDocument/2006/relationships/image" Target="../media/image14.png"  /><Relationship Id="rId6" Type="http://schemas.openxmlformats.org/officeDocument/2006/relationships/image" Target="../media/image1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6.png"  /><Relationship Id="rId3" Type="http://schemas.openxmlformats.org/officeDocument/2006/relationships/image" Target="../media/image17.png"  /><Relationship Id="rId4" Type="http://schemas.openxmlformats.org/officeDocument/2006/relationships/image" Target="../media/image18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9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0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1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2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3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4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5.png"  /><Relationship Id="rId3" Type="http://schemas.openxmlformats.org/officeDocument/2006/relationships/image" Target="../media/image26.png"  /><Relationship Id="rId4" Type="http://schemas.openxmlformats.org/officeDocument/2006/relationships/image" Target="../media/image27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560BB9-2B16-9D68-CDB6-669D8F0DDA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4400" dirty="0"/>
              <a:t>Module 3</a:t>
            </a:r>
            <a:r>
              <a:rPr lang="en-US" altLang="ko-KR" sz="3200" dirty="0"/>
              <a:t>(Link level + Channel Simulator)</a:t>
            </a:r>
            <a:endParaRPr lang="ko-KR" altLang="en-US" sz="32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AC65EBF-6894-344B-CC1B-B21A794549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ko-KR" dirty="0"/>
              <a:t>1</a:t>
            </a:r>
            <a:r>
              <a:rPr lang="ko-KR" altLang="en-US" dirty="0"/>
              <a:t>조 </a:t>
            </a:r>
            <a:r>
              <a:rPr lang="ko-KR" altLang="en-US" dirty="0" err="1"/>
              <a:t>박준모</a:t>
            </a:r>
            <a:endParaRPr lang="en-US" altLang="ko-KR" dirty="0"/>
          </a:p>
          <a:p>
            <a:pPr algn="r"/>
            <a:r>
              <a:rPr lang="ko-KR" altLang="en-US" dirty="0"/>
              <a:t>박지원</a:t>
            </a:r>
            <a:endParaRPr lang="en-US" altLang="ko-KR" dirty="0"/>
          </a:p>
          <a:p>
            <a:pPr algn="r"/>
            <a:r>
              <a:rPr lang="ko-KR" altLang="en-US" dirty="0"/>
              <a:t>윤철훈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70813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2ADF74-D2CC-1F9E-CF5B-FC6BA81A1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SNR </a:t>
            </a:r>
            <a:r>
              <a:rPr lang="ko-KR" altLang="en-US" dirty="0"/>
              <a:t>대비 </a:t>
            </a:r>
            <a:r>
              <a:rPr lang="en-US" altLang="ko-KR" dirty="0"/>
              <a:t>SER </a:t>
            </a:r>
            <a:r>
              <a:rPr lang="ko-KR" altLang="en-US" dirty="0"/>
              <a:t>그래프 </a:t>
            </a:r>
            <a:r>
              <a:rPr lang="en-US" altLang="ko-KR" dirty="0"/>
              <a:t>-AWGN</a:t>
            </a:r>
            <a:endParaRPr lang="ko-KR" altLang="en-US" dirty="0"/>
          </a:p>
        </p:txBody>
      </p:sp>
      <p:pic>
        <p:nvPicPr>
          <p:cNvPr id="5" name="내용 개체 틀 4" descr="텍스트, 스크린샷, 도표, 라인이(가) 표시된 사진&#10;&#10;자동 생성된 설명">
            <a:extLst>
              <a:ext uri="{FF2B5EF4-FFF2-40B4-BE49-F238E27FC236}">
                <a16:creationId xmlns:a16="http://schemas.microsoft.com/office/drawing/2014/main" id="{A7851659-C69D-765D-932F-8A149E5FD6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24" y="1548499"/>
            <a:ext cx="5845749" cy="4357002"/>
          </a:xfrm>
        </p:spPr>
      </p:pic>
      <p:pic>
        <p:nvPicPr>
          <p:cNvPr id="7" name="그림 6" descr="텍스트, 스크린샷, 도표, 라인이(가) 표시된 사진&#10;&#10;자동 생성된 설명">
            <a:extLst>
              <a:ext uri="{FF2B5EF4-FFF2-40B4-BE49-F238E27FC236}">
                <a16:creationId xmlns:a16="http://schemas.microsoft.com/office/drawing/2014/main" id="{18EBF568-F828-6784-2F19-0BAAF9B153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875" y="1548499"/>
            <a:ext cx="5846858" cy="43570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2F6E0E-6224-341C-3A4C-30FC2B6587B6}"/>
              </a:ext>
            </a:extLst>
          </p:cNvPr>
          <p:cNvSpPr txBox="1"/>
          <p:nvPr/>
        </p:nvSpPr>
        <p:spPr>
          <a:xfrm>
            <a:off x="2181207" y="6123543"/>
            <a:ext cx="2600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Normal scale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666C8A-A536-13F8-EF1A-4AD4026EFA3E}"/>
              </a:ext>
            </a:extLst>
          </p:cNvPr>
          <p:cNvSpPr txBox="1"/>
          <p:nvPr/>
        </p:nvSpPr>
        <p:spPr>
          <a:xfrm>
            <a:off x="8066422" y="6123543"/>
            <a:ext cx="2600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dB scale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528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2111AB-1B53-D0E7-E0D9-769CF762E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Jakes</a:t>
            </a:r>
            <a:r>
              <a:rPr lang="ko-KR" altLang="en-US" dirty="0"/>
              <a:t> </a:t>
            </a:r>
            <a:r>
              <a:rPr lang="en-US" altLang="ko-KR" dirty="0"/>
              <a:t>Fading Simulator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79CCD3-0061-6C80-17DB-5A33944368D9}"/>
              </a:ext>
            </a:extLst>
          </p:cNvPr>
          <p:cNvSpPr txBox="1"/>
          <p:nvPr/>
        </p:nvSpPr>
        <p:spPr>
          <a:xfrm>
            <a:off x="4216400" y="1646151"/>
            <a:ext cx="375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Vehicle speed = 60 km/h</a:t>
            </a:r>
          </a:p>
          <a:p>
            <a:pPr algn="ctr"/>
            <a:r>
              <a:rPr lang="en-US" altLang="ko-KR" dirty="0"/>
              <a:t>Frequency = 2.4 GHz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D4C53E-6100-D966-183F-F9F0B3BF26E7}"/>
              </a:ext>
            </a:extLst>
          </p:cNvPr>
          <p:cNvSpPr txBox="1"/>
          <p:nvPr/>
        </p:nvSpPr>
        <p:spPr>
          <a:xfrm>
            <a:off x="9155195" y="5730917"/>
            <a:ext cx="1267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N = 21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351286-924E-5748-2D8E-1D86EDF27B43}"/>
              </a:ext>
            </a:extLst>
          </p:cNvPr>
          <p:cNvSpPr txBox="1"/>
          <p:nvPr/>
        </p:nvSpPr>
        <p:spPr>
          <a:xfrm>
            <a:off x="5462094" y="5720953"/>
            <a:ext cx="1267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N = 13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971B63-F045-E459-2BA1-ED6F397A547C}"/>
              </a:ext>
            </a:extLst>
          </p:cNvPr>
          <p:cNvSpPr txBox="1"/>
          <p:nvPr/>
        </p:nvSpPr>
        <p:spPr>
          <a:xfrm>
            <a:off x="1732547" y="5730917"/>
            <a:ext cx="1267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N = 7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B0CA91F-6422-B311-C563-6A5AF5653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68" y="2337100"/>
            <a:ext cx="3531770" cy="278205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A149404-5BAD-F308-1BF0-99D0D6F84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0812" y="2337099"/>
            <a:ext cx="3610376" cy="278206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04996C1-3998-00CE-B114-D23DE11F2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6771" y="2337100"/>
            <a:ext cx="3604661" cy="27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431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41AA7B34-2D0C-6C06-CFBB-294B5DE81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Jakes</a:t>
            </a:r>
            <a:r>
              <a:rPr lang="ko-KR" altLang="en-US" dirty="0"/>
              <a:t> </a:t>
            </a:r>
            <a:r>
              <a:rPr lang="en-US" altLang="ko-KR" dirty="0"/>
              <a:t>Fading Simulator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A2591F-7604-9210-6F3D-D7A087787CD9}"/>
              </a:ext>
            </a:extLst>
          </p:cNvPr>
          <p:cNvSpPr txBox="1"/>
          <p:nvPr/>
        </p:nvSpPr>
        <p:spPr>
          <a:xfrm>
            <a:off x="6920348" y="547226"/>
            <a:ext cx="375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N = 13</a:t>
            </a:r>
          </a:p>
          <a:p>
            <a:pPr algn="ctr"/>
            <a:r>
              <a:rPr lang="en-US" altLang="ko-KR" dirty="0"/>
              <a:t>Frequency = 2.4 GHz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A33434-A642-8504-CDC6-C66C9F55DA25}"/>
              </a:ext>
            </a:extLst>
          </p:cNvPr>
          <p:cNvSpPr txBox="1"/>
          <p:nvPr/>
        </p:nvSpPr>
        <p:spPr>
          <a:xfrm>
            <a:off x="442857" y="3769849"/>
            <a:ext cx="1267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3 Km/h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B944E9-010F-880F-7B8B-DE1662F29ADA}"/>
              </a:ext>
            </a:extLst>
          </p:cNvPr>
          <p:cNvSpPr txBox="1"/>
          <p:nvPr/>
        </p:nvSpPr>
        <p:spPr>
          <a:xfrm>
            <a:off x="5462094" y="3789823"/>
            <a:ext cx="1267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60 Km/h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E45728-B5DA-51B5-D6EC-DD23E1AAAC3E}"/>
              </a:ext>
            </a:extLst>
          </p:cNvPr>
          <p:cNvSpPr txBox="1"/>
          <p:nvPr/>
        </p:nvSpPr>
        <p:spPr>
          <a:xfrm>
            <a:off x="10288648" y="3780020"/>
            <a:ext cx="1267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300 Km/h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E3AC2E-C749-239C-2D7E-6F419F3B90AB}"/>
              </a:ext>
            </a:extLst>
          </p:cNvPr>
          <p:cNvSpPr txBox="1"/>
          <p:nvPr/>
        </p:nvSpPr>
        <p:spPr>
          <a:xfrm>
            <a:off x="7741976" y="6303168"/>
            <a:ext cx="1267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100 Km/h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DCBAE4-C62D-901F-6B4F-2C1C7C0B4D49}"/>
              </a:ext>
            </a:extLst>
          </p:cNvPr>
          <p:cNvSpPr txBox="1"/>
          <p:nvPr/>
        </p:nvSpPr>
        <p:spPr>
          <a:xfrm>
            <a:off x="3199371" y="6331958"/>
            <a:ext cx="1267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30 Km/h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6A9F29B-57ED-5460-018D-3101D1487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7" y="1539392"/>
            <a:ext cx="3026125" cy="223474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FC41B61-0F3B-8CF8-7DC0-B2DB53CFB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3055" y="3988435"/>
            <a:ext cx="3060444" cy="223474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24539C6-14CB-4311-DB9C-5C637E311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7828" y="1531141"/>
            <a:ext cx="3026125" cy="225124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F1D579D-AD6B-0222-7CAF-C18E687650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2819" y="3988435"/>
            <a:ext cx="3026126" cy="223474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9F6DEDDF-13BE-E76E-81C3-60689E2BCB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2799" y="1539392"/>
            <a:ext cx="3123661" cy="225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591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">
            <a:extLst>
              <a:ext uri="{FF2B5EF4-FFF2-40B4-BE49-F238E27FC236}">
                <a16:creationId xmlns:a16="http://schemas.microsoft.com/office/drawing/2014/main" id="{A70DA49B-5BAC-1DBB-1876-E19841372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Jakes</a:t>
            </a:r>
            <a:r>
              <a:rPr lang="ko-KR" altLang="en-US" dirty="0"/>
              <a:t> </a:t>
            </a:r>
            <a:r>
              <a:rPr lang="en-US" altLang="ko-KR" dirty="0"/>
              <a:t>Fading Simulator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3815A6-0EA2-2EAB-DF0A-9A6BAF1942D9}"/>
              </a:ext>
            </a:extLst>
          </p:cNvPr>
          <p:cNvSpPr txBox="1"/>
          <p:nvPr/>
        </p:nvSpPr>
        <p:spPr>
          <a:xfrm>
            <a:off x="6920348" y="547226"/>
            <a:ext cx="375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N = 13</a:t>
            </a:r>
          </a:p>
          <a:p>
            <a:pPr algn="ctr"/>
            <a:r>
              <a:rPr lang="en-US" altLang="ko-KR" dirty="0"/>
              <a:t>Frequency = 28 GHz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218AF1-40C4-01E6-02A7-A702B4392E27}"/>
              </a:ext>
            </a:extLst>
          </p:cNvPr>
          <p:cNvSpPr txBox="1"/>
          <p:nvPr/>
        </p:nvSpPr>
        <p:spPr>
          <a:xfrm>
            <a:off x="442857" y="3769849"/>
            <a:ext cx="1267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3 Km/h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82B4F2-073C-75A4-B2A4-FD24A9770C86}"/>
              </a:ext>
            </a:extLst>
          </p:cNvPr>
          <p:cNvSpPr txBox="1"/>
          <p:nvPr/>
        </p:nvSpPr>
        <p:spPr>
          <a:xfrm>
            <a:off x="5462094" y="3789823"/>
            <a:ext cx="1267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60 Km/h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C5A24A-59A7-725F-C9FB-9A94F764AF53}"/>
              </a:ext>
            </a:extLst>
          </p:cNvPr>
          <p:cNvSpPr txBox="1"/>
          <p:nvPr/>
        </p:nvSpPr>
        <p:spPr>
          <a:xfrm>
            <a:off x="10288648" y="3780020"/>
            <a:ext cx="1267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300 Km/h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D3C312-3820-00DD-B541-0EB426B84177}"/>
              </a:ext>
            </a:extLst>
          </p:cNvPr>
          <p:cNvSpPr txBox="1"/>
          <p:nvPr/>
        </p:nvSpPr>
        <p:spPr>
          <a:xfrm>
            <a:off x="7741976" y="6303168"/>
            <a:ext cx="1267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100 Km/h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1ED82C-1F4B-782E-ACD8-1D5DDFF80B72}"/>
              </a:ext>
            </a:extLst>
          </p:cNvPr>
          <p:cNvSpPr txBox="1"/>
          <p:nvPr/>
        </p:nvSpPr>
        <p:spPr>
          <a:xfrm>
            <a:off x="3199371" y="6331958"/>
            <a:ext cx="1267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30 Km/h</a:t>
            </a:r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819B2352-AB2E-B9BD-2642-5AACD7204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7" y="1378660"/>
            <a:ext cx="3226138" cy="2391189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721B1059-A8D0-752F-DDA1-9EFBCE1AE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132" y="3898543"/>
            <a:ext cx="3232289" cy="2391189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47621F5B-D6DE-0D53-BCA0-42EEF72DF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006" y="1375658"/>
            <a:ext cx="3302970" cy="2391189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8493A949-4632-E4D6-82E5-71805462EC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2579" y="3898542"/>
            <a:ext cx="3123545" cy="2391189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F99566A9-C575-4D7A-AE7B-B5DEA01B06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2915" y="1372305"/>
            <a:ext cx="3123545" cy="239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98894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1AA62-2742-0124-A4C5-6F239EE75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905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SNR </a:t>
            </a:r>
            <a:r>
              <a:rPr lang="ko-KR" altLang="en-US" dirty="0"/>
              <a:t>대비 </a:t>
            </a:r>
            <a:r>
              <a:rPr lang="en-US" altLang="ko-KR" dirty="0"/>
              <a:t>SER </a:t>
            </a:r>
            <a:r>
              <a:rPr lang="ko-KR" altLang="en-US" dirty="0"/>
              <a:t>그래프 </a:t>
            </a:r>
            <a:r>
              <a:rPr lang="en-US" altLang="ko-KR" dirty="0"/>
              <a:t>in Jakes case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DB1642-CA8F-1598-7541-E676DC597F01}"/>
              </a:ext>
            </a:extLst>
          </p:cNvPr>
          <p:cNvSpPr txBox="1"/>
          <p:nvPr/>
        </p:nvSpPr>
        <p:spPr>
          <a:xfrm>
            <a:off x="4104105" y="1690688"/>
            <a:ext cx="375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BPSK vs</a:t>
            </a:r>
            <a:r>
              <a:rPr lang="ko-KR" altLang="en-US" dirty="0"/>
              <a:t> </a:t>
            </a:r>
            <a:r>
              <a:rPr lang="en-US" altLang="ko-KR" dirty="0"/>
              <a:t>QPSK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8AAA57-3EC1-B6C1-557B-CF8898AE6CF2}"/>
              </a:ext>
            </a:extLst>
          </p:cNvPr>
          <p:cNvSpPr txBox="1"/>
          <p:nvPr/>
        </p:nvSpPr>
        <p:spPr>
          <a:xfrm>
            <a:off x="3991810" y="5289423"/>
            <a:ext cx="375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30Km/h, 2.4GHz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0CC9C5-4709-1EDF-0901-FD87BB63CF48}"/>
              </a:ext>
            </a:extLst>
          </p:cNvPr>
          <p:cNvSpPr txBox="1"/>
          <p:nvPr/>
        </p:nvSpPr>
        <p:spPr>
          <a:xfrm>
            <a:off x="8070489" y="5289423"/>
            <a:ext cx="375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100Km/h, 2.4GHz 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37B6C0-6EC7-8405-366E-3D7AD2C56FF5}"/>
              </a:ext>
            </a:extLst>
          </p:cNvPr>
          <p:cNvSpPr txBox="1"/>
          <p:nvPr/>
        </p:nvSpPr>
        <p:spPr>
          <a:xfrm>
            <a:off x="0" y="5289423"/>
            <a:ext cx="375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30Km/h, 28GHz </a:t>
            </a:r>
            <a:endParaRPr lang="ko-KR" altLang="en-US" dirty="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913974" y="2483246"/>
            <a:ext cx="3727232" cy="2852822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7637" y="2516981"/>
            <a:ext cx="3651155" cy="2815013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981554" y="2483643"/>
            <a:ext cx="3861182" cy="283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298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D6F5D552-77FB-8CDB-A154-9C10AC5C5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905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SNR </a:t>
            </a:r>
            <a:r>
              <a:rPr lang="ko-KR" altLang="en-US" dirty="0"/>
              <a:t>대비 </a:t>
            </a:r>
            <a:r>
              <a:rPr lang="en-US" altLang="ko-KR" dirty="0"/>
              <a:t>SER </a:t>
            </a:r>
            <a:r>
              <a:rPr lang="ko-KR" altLang="en-US" dirty="0"/>
              <a:t>그래프 </a:t>
            </a:r>
            <a:r>
              <a:rPr lang="en-US" altLang="ko-KR" dirty="0"/>
              <a:t>in Jakes case </a:t>
            </a:r>
            <a:r>
              <a:rPr lang="en-US" altLang="ko-KR" sz="2400" dirty="0"/>
              <a:t>(</a:t>
            </a:r>
            <a:r>
              <a:rPr lang="ko-KR" altLang="en-US" sz="2400" dirty="0"/>
              <a:t>속도</a:t>
            </a:r>
            <a:r>
              <a:rPr lang="en-US" altLang="ko-KR" sz="2400" dirty="0"/>
              <a:t>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232F31F-3898-9F02-A901-7CD1869C2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222" y="1919972"/>
            <a:ext cx="5733160" cy="41679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158A8B-3480-07CC-F002-1640FB7A5823}"/>
              </a:ext>
            </a:extLst>
          </p:cNvPr>
          <p:cNvSpPr txBox="1"/>
          <p:nvPr/>
        </p:nvSpPr>
        <p:spPr>
          <a:xfrm>
            <a:off x="7211751" y="2782669"/>
            <a:ext cx="40297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N = 13</a:t>
            </a:r>
          </a:p>
          <a:p>
            <a:pPr algn="ctr"/>
            <a:r>
              <a:rPr lang="en-US" altLang="ko-KR" dirty="0"/>
              <a:t>Frequency = 2.4 GHz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5735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96FC768F-BAE6-6ACD-786F-D4900F48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905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SNR </a:t>
            </a:r>
            <a:r>
              <a:rPr lang="ko-KR" altLang="en-US" dirty="0"/>
              <a:t>대비 </a:t>
            </a:r>
            <a:r>
              <a:rPr lang="en-US" altLang="ko-KR" dirty="0"/>
              <a:t>SER </a:t>
            </a:r>
            <a:r>
              <a:rPr lang="ko-KR" altLang="en-US" dirty="0"/>
              <a:t>그래프 </a:t>
            </a:r>
            <a:r>
              <a:rPr lang="en-US" altLang="ko-KR" dirty="0"/>
              <a:t>in Jakes case </a:t>
            </a:r>
            <a:r>
              <a:rPr lang="en-US" altLang="ko-KR" sz="2400" dirty="0"/>
              <a:t>(</a:t>
            </a:r>
            <a:r>
              <a:rPr lang="ko-KR" altLang="en-US" sz="2400" dirty="0"/>
              <a:t>주파수</a:t>
            </a:r>
            <a:r>
              <a:rPr lang="en-US" altLang="ko-KR" sz="2400" dirty="0"/>
              <a:t>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16141B-2935-3642-C36D-68067F066615}"/>
              </a:ext>
            </a:extLst>
          </p:cNvPr>
          <p:cNvSpPr txBox="1"/>
          <p:nvPr/>
        </p:nvSpPr>
        <p:spPr>
          <a:xfrm>
            <a:off x="7366560" y="2782669"/>
            <a:ext cx="40297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N = 13</a:t>
            </a:r>
          </a:p>
          <a:p>
            <a:pPr algn="ctr"/>
            <a:r>
              <a:rPr lang="en-US" altLang="ko-KR" dirty="0"/>
              <a:t>Velocity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60Km/h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737EEE2-2A01-CBD9-996C-AC3064A64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495" y="1690688"/>
            <a:ext cx="6488288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732912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 idx="0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SNR </a:t>
            </a:r>
            <a:r>
              <a:rPr lang="ko-KR" altLang="en-US"/>
              <a:t>대비 </a:t>
            </a:r>
            <a:r>
              <a:rPr lang="en-US" altLang="ko-KR" b="1"/>
              <a:t>FER</a:t>
            </a:r>
            <a:r>
              <a:rPr lang="en-US" altLang="ko-KR"/>
              <a:t> </a:t>
            </a:r>
            <a:r>
              <a:rPr lang="ko-KR" altLang="en-US"/>
              <a:t>그래프 </a:t>
            </a:r>
            <a:r>
              <a:rPr lang="en-US" altLang="ko-KR"/>
              <a:t>in Jakes case</a:t>
            </a:r>
            <a:endParaRPr lang="ko-KR" altLang="en-US" sz="1800"/>
          </a:p>
        </p:txBody>
      </p:sp>
      <p:sp>
        <p:nvSpPr>
          <p:cNvPr id="6" name="TextBox 5"/>
          <p:cNvSpPr txBox="1"/>
          <p:nvPr/>
        </p:nvSpPr>
        <p:spPr>
          <a:xfrm>
            <a:off x="4081123" y="1581547"/>
            <a:ext cx="40297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/>
              <a:t>QPSK vs BPSK</a:t>
            </a:r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685574" y="2064311"/>
            <a:ext cx="6820852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263512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 idx="0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SNR </a:t>
            </a:r>
            <a:r>
              <a:rPr lang="ko-KR" altLang="en-US"/>
              <a:t>대비 </a:t>
            </a:r>
            <a:r>
              <a:rPr lang="en-US" altLang="ko-KR" b="1"/>
              <a:t>FER</a:t>
            </a:r>
            <a:r>
              <a:rPr lang="en-US" altLang="ko-KR"/>
              <a:t> </a:t>
            </a:r>
            <a:r>
              <a:rPr lang="ko-KR" altLang="en-US"/>
              <a:t>그래프 </a:t>
            </a:r>
            <a:r>
              <a:rPr lang="en-US" altLang="ko-KR"/>
              <a:t>in Jakes case </a:t>
            </a:r>
            <a:r>
              <a:rPr lang="en-US" altLang="ko-KR" sz="1800"/>
              <a:t>(</a:t>
            </a:r>
            <a:r>
              <a:rPr lang="ko-KR" altLang="en-US" sz="1800"/>
              <a:t>속도</a:t>
            </a:r>
            <a:r>
              <a:rPr lang="en-US" altLang="ko-KR" sz="1800"/>
              <a:t>)</a:t>
            </a:r>
            <a:endParaRPr lang="ko-KR" alt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D7512B-66DF-B09F-7CAC-E2A74623C994}"/>
              </a:ext>
            </a:extLst>
          </p:cNvPr>
          <p:cNvSpPr txBox="1"/>
          <p:nvPr/>
        </p:nvSpPr>
        <p:spPr>
          <a:xfrm>
            <a:off x="7211751" y="2782669"/>
            <a:ext cx="40297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N = 13</a:t>
            </a:r>
          </a:p>
          <a:p>
            <a:pPr algn="ctr"/>
            <a:r>
              <a:rPr lang="en-US" altLang="ko-KR" dirty="0"/>
              <a:t>Frequency = 2.4 GHz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53282" y="1700740"/>
            <a:ext cx="6852828" cy="4547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636057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 idx="0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SNR </a:t>
            </a:r>
            <a:r>
              <a:rPr lang="ko-KR" altLang="en-US"/>
              <a:t>대비 </a:t>
            </a:r>
            <a:r>
              <a:rPr lang="en-US" altLang="ko-KR" b="1"/>
              <a:t>FER</a:t>
            </a:r>
            <a:r>
              <a:rPr lang="en-US" altLang="ko-KR"/>
              <a:t> </a:t>
            </a:r>
            <a:r>
              <a:rPr lang="ko-KR" altLang="en-US"/>
              <a:t>그래프 </a:t>
            </a:r>
            <a:r>
              <a:rPr lang="en-US" altLang="ko-KR"/>
              <a:t>in Jakes case </a:t>
            </a:r>
            <a:r>
              <a:rPr lang="en-US" altLang="ko-KR" sz="2000"/>
              <a:t>(</a:t>
            </a:r>
            <a:r>
              <a:rPr lang="ko-KR" altLang="en-US" sz="2000"/>
              <a:t>주파수</a:t>
            </a:r>
            <a:r>
              <a:rPr lang="en-US" altLang="ko-KR" sz="2000"/>
              <a:t>)</a:t>
            </a:r>
            <a:endParaRPr lang="ko-KR" altLang="en-US" sz="2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21D2C5-5037-9805-FF05-9D329F8BB07E}"/>
              </a:ext>
            </a:extLst>
          </p:cNvPr>
          <p:cNvSpPr txBox="1"/>
          <p:nvPr/>
        </p:nvSpPr>
        <p:spPr>
          <a:xfrm>
            <a:off x="7366560" y="2782669"/>
            <a:ext cx="40297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N = 13</a:t>
            </a:r>
          </a:p>
          <a:p>
            <a:pPr algn="ctr"/>
            <a:r>
              <a:rPr lang="en-US" altLang="ko-KR" dirty="0"/>
              <a:t>Velocity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60Km/h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86416" y="1606405"/>
            <a:ext cx="6805134" cy="446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29323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 idx="0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SNR </a:t>
            </a:r>
            <a:r>
              <a:rPr lang="ko-KR" altLang="en-US"/>
              <a:t>대비 </a:t>
            </a:r>
            <a:r>
              <a:rPr lang="en-US" altLang="ko-KR" b="1"/>
              <a:t>FER</a:t>
            </a:r>
            <a:r>
              <a:rPr lang="en-US" altLang="ko-KR"/>
              <a:t> </a:t>
            </a:r>
            <a:r>
              <a:rPr lang="ko-KR" altLang="en-US"/>
              <a:t>그래프 </a:t>
            </a:r>
            <a:r>
              <a:rPr lang="en-US" altLang="ko-KR"/>
              <a:t>in Jakes case</a:t>
            </a:r>
            <a:r>
              <a:rPr lang="ko-KR" altLang="en-US"/>
              <a:t> </a:t>
            </a:r>
            <a:r>
              <a:rPr lang="ko-KR" altLang="en-US" sz="1600"/>
              <a:t>에러 분산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7664216" y="2527399"/>
            <a:ext cx="4029754" cy="901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/>
              <a:t>N = 13</a:t>
            </a:r>
            <a:endParaRPr lang="en-US" altLang="ko-KR"/>
          </a:p>
          <a:p>
            <a:pPr lvl="0" algn="ctr">
              <a:defRPr/>
            </a:pPr>
            <a:r>
              <a:rPr lang="en-US" altLang="ko-KR"/>
              <a:t>Velocity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60Km/h</a:t>
            </a:r>
            <a:endParaRPr lang="en-US" altLang="ko-KR"/>
          </a:p>
          <a:p>
            <a:pPr lvl="0" algn="ctr">
              <a:defRPr/>
            </a:pPr>
            <a:r>
              <a:rPr lang="en-US" altLang="ko-KR"/>
              <a:t>Frequency = 2.4GHHz</a:t>
            </a:r>
            <a:endParaRPr lang="en-US" altLang="ko-KR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90612" y="1414859"/>
            <a:ext cx="6875463" cy="522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755293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51BB9B-8307-252B-C701-5FF0F5E24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나머지 비교 그래프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766712" y="130330"/>
            <a:ext cx="4528350" cy="329866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38188" y="1805780"/>
            <a:ext cx="5357812" cy="412233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771311" y="3429000"/>
            <a:ext cx="4515729" cy="3429000"/>
          </a:xfrm>
          <a:prstGeom prst="rect">
            <a:avLst/>
          </a:prstGeom>
        </p:spPr>
      </p:pic>
      <p:sp>
        <p:nvSpPr>
          <p:cNvPr id="6" name="TextBox 1"/>
          <p:cNvSpPr txBox="1"/>
          <p:nvPr/>
        </p:nvSpPr>
        <p:spPr>
          <a:xfrm>
            <a:off x="1492810" y="6096576"/>
            <a:ext cx="4029754" cy="63886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N,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Velocity, Frequecy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에 따른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주파수 비교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031530173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결론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p>
            <a:pPr lvl="0">
              <a:defRPr/>
            </a:pPr>
            <a:r>
              <a:rPr lang="en-US" altLang="ko-KR" sz="2000"/>
              <a:t>AWGN</a:t>
            </a:r>
            <a:r>
              <a:rPr lang="ko-KR" altLang="en-US" sz="2000"/>
              <a:t>에서 </a:t>
            </a:r>
            <a:r>
              <a:rPr lang="en-US" altLang="ko-KR" sz="2000"/>
              <a:t>SNR</a:t>
            </a:r>
            <a:r>
              <a:rPr lang="ko-KR" altLang="en-US" sz="2000"/>
              <a:t>대비 </a:t>
            </a:r>
            <a:r>
              <a:rPr lang="en-US" altLang="ko-KR" sz="2000"/>
              <a:t>SER</a:t>
            </a:r>
            <a:r>
              <a:rPr lang="ko-KR" altLang="en-US" sz="2000"/>
              <a:t> 그래프는 </a:t>
            </a:r>
            <a:r>
              <a:rPr lang="en-US" altLang="ko-KR" sz="2000"/>
              <a:t>QPSK</a:t>
            </a:r>
            <a:r>
              <a:rPr lang="ko-KR" altLang="en-US" sz="2000"/>
              <a:t>가 두배 더 크다</a:t>
            </a:r>
            <a:r>
              <a:rPr lang="en-US" altLang="ko-KR" sz="2000"/>
              <a:t>.</a:t>
            </a:r>
            <a:r>
              <a:rPr lang="ko-KR" altLang="en-US" sz="2000"/>
              <a:t> </a:t>
            </a:r>
            <a:r>
              <a:rPr lang="en-US" altLang="ko-KR" sz="2000"/>
              <a:t>(Error Rate)</a:t>
            </a:r>
            <a:endParaRPr lang="en-US" altLang="ko-KR" sz="2000"/>
          </a:p>
          <a:p>
            <a:pPr marL="0" lvl="0" indent="0">
              <a:buNone/>
              <a:defRPr/>
            </a:pPr>
            <a:r>
              <a:rPr lang="ko-KR" altLang="en-US" sz="2000"/>
              <a:t> </a:t>
            </a:r>
            <a:r>
              <a:rPr lang="en-US" altLang="ko-KR" sz="2000"/>
              <a:t>-</a:t>
            </a:r>
            <a:r>
              <a:rPr lang="ko-KR" altLang="en-US" sz="2000"/>
              <a:t> </a:t>
            </a:r>
            <a:r>
              <a:rPr lang="en-US" altLang="ko-KR" sz="2000"/>
              <a:t>QPSK</a:t>
            </a:r>
            <a:r>
              <a:rPr lang="ko-KR" altLang="en-US" sz="2000"/>
              <a:t>에 크기를 곱해 </a:t>
            </a:r>
            <a:r>
              <a:rPr lang="en-US" altLang="ko-KR" sz="2000"/>
              <a:t>3dB</a:t>
            </a:r>
            <a:r>
              <a:rPr lang="ko-KR" altLang="en-US" sz="2000"/>
              <a:t>차이가 생김</a:t>
            </a:r>
            <a:r>
              <a:rPr lang="en-US" altLang="ko-KR" sz="2000"/>
              <a:t>.</a:t>
            </a:r>
            <a:endParaRPr lang="ko-KR" altLang="en-US" sz="2000"/>
          </a:p>
          <a:p>
            <a:pPr lvl="0">
              <a:defRPr/>
            </a:pPr>
            <a:endParaRPr lang="en-US" altLang="ko-KR" sz="2000"/>
          </a:p>
          <a:p>
            <a:pPr lvl="0">
              <a:defRPr/>
            </a:pPr>
            <a:r>
              <a:rPr lang="en-US" altLang="ko-KR" sz="2000"/>
              <a:t>Jakes fading </a:t>
            </a:r>
            <a:r>
              <a:rPr lang="ko-KR" altLang="en-US" sz="2000"/>
              <a:t>의 선형보간 그래프의 경우 </a:t>
            </a:r>
            <a:r>
              <a:rPr lang="en-US" altLang="ko-KR" sz="2000"/>
              <a:t>2.4G</a:t>
            </a:r>
            <a:r>
              <a:rPr lang="ko-KR" altLang="en-US" sz="2000"/>
              <a:t>에서는 </a:t>
            </a:r>
            <a:r>
              <a:rPr lang="en-US" altLang="ko-KR" sz="2000"/>
              <a:t>300km/h</a:t>
            </a:r>
            <a:r>
              <a:rPr lang="ko-KR" altLang="en-US" sz="2000"/>
              <a:t> 이상에서</a:t>
            </a:r>
            <a:r>
              <a:rPr lang="en-US" altLang="ko-KR" sz="2000"/>
              <a:t>,</a:t>
            </a:r>
            <a:r>
              <a:rPr lang="ko-KR" altLang="en-US" sz="2000"/>
              <a:t> </a:t>
            </a:r>
            <a:r>
              <a:rPr lang="en-US" altLang="ko-KR" sz="2000"/>
              <a:t>28G</a:t>
            </a:r>
            <a:r>
              <a:rPr lang="ko-KR" altLang="en-US" sz="2000"/>
              <a:t>에서는 </a:t>
            </a:r>
            <a:r>
              <a:rPr lang="en-US" altLang="ko-KR" sz="2000"/>
              <a:t>60km/h</a:t>
            </a:r>
            <a:r>
              <a:rPr lang="ko-KR" altLang="en-US" sz="2000"/>
              <a:t> 이상에서 제대로 선형보간이 되지 않아 송신 파워가 올라감에도 </a:t>
            </a:r>
            <a:r>
              <a:rPr lang="en-US" altLang="ko-KR" sz="2000"/>
              <a:t>error rate</a:t>
            </a:r>
            <a:r>
              <a:rPr lang="ko-KR" altLang="en-US" sz="2000"/>
              <a:t>가 줄지 않는 것을 알 수 있다</a:t>
            </a:r>
            <a:r>
              <a:rPr lang="en-US" altLang="ko-KR" sz="2000"/>
              <a:t>.</a:t>
            </a:r>
            <a:endParaRPr lang="ko-KR" altLang="en-US" sz="2000"/>
          </a:p>
          <a:p>
            <a:pPr lvl="0">
              <a:defRPr/>
            </a:pPr>
            <a:endParaRPr lang="en-US" altLang="ko-KR" sz="2000"/>
          </a:p>
          <a:p>
            <a:pPr lvl="0">
              <a:defRPr/>
            </a:pPr>
            <a:r>
              <a:rPr lang="en-US" altLang="ko-KR" sz="2000"/>
              <a:t>FER</a:t>
            </a:r>
            <a:r>
              <a:rPr lang="ko-KR" altLang="en-US" sz="2000"/>
              <a:t> 그래프의 경우 </a:t>
            </a:r>
            <a:r>
              <a:rPr lang="en-US" altLang="ko-KR" sz="2000"/>
              <a:t>7*14</a:t>
            </a:r>
            <a:r>
              <a:rPr lang="ko-KR" altLang="en-US" sz="2000"/>
              <a:t>의 벡터를 세로 순서로 </a:t>
            </a:r>
            <a:r>
              <a:rPr lang="en-US" altLang="ko-KR" sz="2000"/>
              <a:t>fading</a:t>
            </a:r>
            <a:r>
              <a:rPr lang="ko-KR" altLang="en-US" sz="2000"/>
              <a:t>을 적용하는 것이 아니라 벡터를 전치하여 가로 순서로 </a:t>
            </a:r>
            <a:r>
              <a:rPr lang="en-US" altLang="ko-KR" sz="2000"/>
              <a:t>fading</a:t>
            </a:r>
            <a:r>
              <a:rPr lang="ko-KR" altLang="en-US" sz="2000"/>
              <a:t>을 적용하면서 에러를 분산시켰고</a:t>
            </a:r>
            <a:r>
              <a:rPr lang="en-US" altLang="ko-KR" sz="2000"/>
              <a:t>,</a:t>
            </a:r>
            <a:r>
              <a:rPr lang="ko-KR" altLang="en-US" sz="2000"/>
              <a:t> 그로 인해 </a:t>
            </a:r>
            <a:r>
              <a:rPr lang="en-US" altLang="ko-KR" sz="2000"/>
              <a:t>hamming code</a:t>
            </a:r>
            <a:r>
              <a:rPr lang="ko-KR" altLang="en-US" sz="2000"/>
              <a:t>의 에러 복구 확률이 올라갔다</a:t>
            </a:r>
            <a:r>
              <a:rPr lang="en-US" altLang="ko-KR" sz="2000"/>
              <a:t>.</a:t>
            </a:r>
            <a:endParaRPr lang="en-US" altLang="ko-KR" sz="2000"/>
          </a:p>
          <a:p>
            <a:pPr lvl="0">
              <a:defRPr/>
            </a:pPr>
            <a:endParaRPr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720872386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252</ep:Words>
  <ep:PresentationFormat>와이드스크린</ep:PresentationFormat>
  <ep:Paragraphs>63</ep:Paragraphs>
  <ep:Slides>14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ep:HeadingPairs>
  <ep:TitlesOfParts>
    <vt:vector size="15" baseType="lpstr">
      <vt:lpstr>Office 테마</vt:lpstr>
      <vt:lpstr>Module 3(Link level + Channel Simulator)</vt:lpstr>
      <vt:lpstr>SNR 대비 SER 그래프 -AWGN</vt:lpstr>
      <vt:lpstr>Jakes Fading Simulator</vt:lpstr>
      <vt:lpstr>Jakes Fading Simulator</vt:lpstr>
      <vt:lpstr>Jakes Fading Simulator</vt:lpstr>
      <vt:lpstr>SNR 대비 SER 그래프 in Jakes case</vt:lpstr>
      <vt:lpstr>SNR 대비 SER 그래프 in Jakes case (속도)</vt:lpstr>
      <vt:lpstr>SNR 대비 SER 그래프 in Jakes case (주파수)</vt:lpstr>
      <vt:lpstr>SNR 대비 FER 그래프 in Jakes case</vt:lpstr>
      <vt:lpstr>SNR 대비 FER 그래프 in Jakes case (속도)</vt:lpstr>
      <vt:lpstr>SNR 대비 FER 그래프 in Jakes case (주파수)</vt:lpstr>
      <vt:lpstr>SNR 대비 FER 그래프 in Jakes case 에러 분산</vt:lpstr>
      <vt:lpstr>나머지 비교 그래프</vt:lpstr>
      <vt:lpstr>결론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2023-06-10T13:27:39.000</dcterms:created>
  <dc:creator>철훈 윤</dc:creator>
  <cp:lastModifiedBy>parkj</cp:lastModifiedBy>
  <dcterms:modified xsi:type="dcterms:W3CDTF">2023-06-16T14:53:31.497</dcterms:modified>
  <cp:revision>18</cp:revision>
  <dc:title>Module 3(Link level + Channel Simulator)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