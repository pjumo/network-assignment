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70" r:id="rId13"/>
    <p:sldId id="265" r:id="rId14"/>
    <p:sldId id="266" r:id="rId15"/>
    <p:sldId id="269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49" y="240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presProps" Target="presProps.xml"  /><Relationship Id="rId18" Type="http://schemas.openxmlformats.org/officeDocument/2006/relationships/viewProps" Target="viewProps.xml"  /><Relationship Id="rId19" Type="http://schemas.openxmlformats.org/officeDocument/2006/relationships/theme" Target="theme/theme1.xml"  /><Relationship Id="rId2" Type="http://schemas.openxmlformats.org/officeDocument/2006/relationships/slide" Target="slides/slide1.xml"  /><Relationship Id="rId20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F3BC17-2102-6356-4FC1-1CF05C316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CD2761B-57F9-AB79-8A1D-7D40CFCFF5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704ABC-EFF6-2447-864D-D5A36FCA0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FC3C2-0D6E-451A-81AF-4355F721BA82}" type="datetimeFigureOut">
              <a:rPr lang="ko-KR" altLang="en-US" smtClean="0"/>
              <a:t>2023-05-18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FD9AB3-607D-42FA-D095-577641D7C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CEC4AF-E73A-BEA6-0DA9-E0DB6F83A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B7D25-6D67-4F47-A9D4-36B6FBD7E7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730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E14581-FD70-769D-5C5B-4EBDF6303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B2C06A-B685-96ED-5832-8A59004D1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64D84B-D2A0-FA86-27C7-5ED9C01DF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FC3C2-0D6E-451A-81AF-4355F721BA82}" type="datetimeFigureOut">
              <a:rPr lang="ko-KR" altLang="en-US" smtClean="0"/>
              <a:t>2023-05-18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A316BC-86A0-2B09-DA29-5B6B84CFD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72BBB2-E242-A269-2119-C60A7AE10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B7D25-6D67-4F47-A9D4-36B6FBD7E7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883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96987-CCB9-F72C-7452-753648A03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AE0FF0-C0CF-BDF0-26BC-902BC7945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53AF8E-40F0-55B2-A9AE-86E7F73DD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FC3C2-0D6E-451A-81AF-4355F721BA82}" type="datetimeFigureOut">
              <a:rPr lang="ko-KR" altLang="en-US" smtClean="0"/>
              <a:t>2023-05-18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BA417D-1699-ACB9-3E47-DBDDEBAAF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093109-8DC2-B7EE-F2D7-030B06DCE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B7D25-6D67-4F47-A9D4-36B6FBD7E7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83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9E861B-3E38-0977-9CED-B95880691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E57786-3342-6D0C-07A7-41CC66FCB4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78F6DF-AD27-9F2D-C636-EE8690AA7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BBEC69-CE50-15A2-413D-3C4346957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FC3C2-0D6E-451A-81AF-4355F721BA82}" type="datetimeFigureOut">
              <a:rPr lang="ko-KR" altLang="en-US" smtClean="0"/>
              <a:t>2023-05-18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AD475A-F481-ED39-6EB0-56BD85238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C907E4-D17F-5047-D009-39D62710D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B7D25-6D67-4F47-A9D4-36B6FBD7E7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2345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E59C75-9DEF-593D-25CA-942F15B2A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F01DD0-7FD9-AAA0-7CE0-8966AE050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24D794-D580-FB09-2532-52EA52CCA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57BD581-CFA4-CA9B-422D-A00B38B71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2A759BA-826F-727A-E1F9-B4FB5E047E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778FE39-5E31-EA07-3268-C2CB2A255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FC3C2-0D6E-451A-81AF-4355F721BA82}" type="datetimeFigureOut">
              <a:rPr lang="ko-KR" altLang="en-US" smtClean="0"/>
              <a:t>2023-05-18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B37B61F-65D9-86FD-8446-CBA9140A6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8362363-F27C-2106-B00E-23A00103E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B7D25-6D67-4F47-A9D4-36B6FBD7E7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802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E5ACD7-0539-5462-B79C-345B2BE3F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B15E1BA-FBBC-A53F-4098-B1610BC5A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FC3C2-0D6E-451A-81AF-4355F721BA82}" type="datetimeFigureOut">
              <a:rPr lang="ko-KR" altLang="en-US" smtClean="0"/>
              <a:t>2023-05-18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953112-A8AC-E3DE-0091-D74E931D5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6700CD-1194-B4FF-4CA8-23D463A9A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B7D25-6D67-4F47-A9D4-36B6FBD7E7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29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6203B8-15DD-E1A4-24C9-9F6E75345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FC3C2-0D6E-451A-81AF-4355F721BA82}" type="datetimeFigureOut">
              <a:rPr lang="ko-KR" altLang="en-US" smtClean="0"/>
              <a:t>2023-05-18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D0D40DD-AB6F-636F-A770-216A102C4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38BE34-AADA-81E9-AB1F-BA00F35D6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B7D25-6D67-4F47-A9D4-36B6FBD7E7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092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68AAAF-18D3-16D0-462A-131CE96CC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6F15F0-0664-053A-A17A-38D78D0B6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C58043-13AD-21EF-4FC9-951F5F8F5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810A33-3C9E-60CA-D8B5-44C831D7B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FC3C2-0D6E-451A-81AF-4355F721BA82}" type="datetimeFigureOut">
              <a:rPr lang="ko-KR" altLang="en-US" smtClean="0"/>
              <a:t>2023-05-18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6C62FF-68C6-BAB9-D0B9-6A91975E1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2E4E70-A76F-6F51-4CBB-2F99759D8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B7D25-6D67-4F47-A9D4-36B6FBD7E7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206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7BB229-B27D-CFE3-E672-D7B5A5450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5C61A17-F57B-0F41-82D6-51DF108609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2063E1-9B66-B8D7-5EA7-D260BD8FE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51D1DA-EE6E-7BBE-1DF1-14B9B0BA9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FC3C2-0D6E-451A-81AF-4355F721BA82}" type="datetimeFigureOut">
              <a:rPr lang="ko-KR" altLang="en-US" smtClean="0"/>
              <a:t>2023-05-18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A9F377-4350-E0F4-8180-2E866C39A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0FE18B-7E1C-9AB3-B9B3-7ED00E565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B7D25-6D67-4F47-A9D4-36B6FBD7E7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0366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C45802-E137-CAD0-4A2D-C91865004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9908A3-E23E-8002-2831-CB42211AF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B5E047-F839-F998-CEB4-34BDA0AC7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FC3C2-0D6E-451A-81AF-4355F721BA82}" type="datetimeFigureOut">
              <a:rPr lang="ko-KR" altLang="en-US" smtClean="0"/>
              <a:t>2023-05-18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24F3AD-FC68-DD04-07D6-8125AACEE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FFBB99-4AD5-9DDC-B5A7-DC0BF381D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B7D25-6D67-4F47-A9D4-36B6FBD7E7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9555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8536A4F-0FE0-8D7C-F0F0-1A8EABF153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974C495-9A3B-2466-55A9-03292A9D3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9C61C9-0856-50FB-05DD-F180796B8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FC3C2-0D6E-451A-81AF-4355F721BA82}" type="datetimeFigureOut">
              <a:rPr lang="ko-KR" altLang="en-US" smtClean="0"/>
              <a:t>2023-05-18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706CBF-EF34-97FB-E652-E8DBB9C0F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A41A15-2DFD-8E34-79FF-C0AD7FBF6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B7D25-6D67-4F47-A9D4-36B6FBD7E7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173700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6676CE-A794-9A6B-76B0-E4BDCF56C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78C6BB-35AC-96CB-39C2-19A809A26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0633B4-E00B-3181-6EBB-D5BD2C4309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FC3C2-0D6E-451A-81AF-4355F721BA82}" type="datetimeFigureOut">
              <a:rPr lang="ko-KR" altLang="en-US" smtClean="0"/>
              <a:t>2023-05-18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CCA6B0-0703-4B87-0396-88438BA743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822697-6CB0-7851-C4C7-80B1C174C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B7D25-6D67-4F47-A9D4-36B6FBD7E7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464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Relationship Id="rId3" Type="http://schemas.openxmlformats.org/officeDocument/2006/relationships/image" Target="../media/image8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9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0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.png"  /><Relationship Id="rId3" Type="http://schemas.openxmlformats.org/officeDocument/2006/relationships/image" Target="../media/image12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85CE9E-D7C5-406C-2F15-516A3B85A3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CRC</a:t>
            </a:r>
            <a:r>
              <a:rPr lang="en-US" altLang="ko-KR" sz="4000" dirty="0"/>
              <a:t>(</a:t>
            </a:r>
            <a:r>
              <a:rPr lang="ko-KR" altLang="en-US" sz="4000" dirty="0"/>
              <a:t>순환 중복 검사</a:t>
            </a:r>
            <a:r>
              <a:rPr lang="en-US" altLang="ko-KR" sz="4000" dirty="0"/>
              <a:t>)</a:t>
            </a:r>
            <a:endParaRPr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0676BDB-A5A1-F52A-8893-B80ECFDDB8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800" dirty="0"/>
              <a:t>1</a:t>
            </a:r>
            <a:r>
              <a:rPr lang="ko-KR" altLang="en-US" sz="1800" dirty="0"/>
              <a:t>조 </a:t>
            </a:r>
            <a:r>
              <a:rPr lang="ko-KR" altLang="en-US" sz="1800" dirty="0" err="1"/>
              <a:t>박준모</a:t>
            </a:r>
            <a:endParaRPr lang="en-US" altLang="ko-KR" sz="1800" dirty="0"/>
          </a:p>
          <a:p>
            <a:pPr algn="r"/>
            <a:r>
              <a:rPr lang="ko-KR" altLang="en-US" sz="1800" dirty="0"/>
              <a:t>박지원</a:t>
            </a:r>
            <a:endParaRPr lang="en-US" altLang="ko-KR" sz="1800" dirty="0"/>
          </a:p>
          <a:p>
            <a:pPr algn="r"/>
            <a:r>
              <a:rPr lang="ko-KR" altLang="en-US" sz="1800" dirty="0"/>
              <a:t>윤철훈</a:t>
            </a:r>
          </a:p>
        </p:txBody>
      </p:sp>
    </p:spTree>
    <p:extLst>
      <p:ext uri="{BB962C8B-B14F-4D97-AF65-F5344CB8AC3E}">
        <p14:creationId xmlns:p14="http://schemas.microsoft.com/office/powerpoint/2010/main" val="2597108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29EC1B-190E-10A1-688B-A19E5C593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CRC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64215F-F555-A943-A19C-3A7DAC628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에러검출</a:t>
            </a:r>
            <a:r>
              <a:rPr lang="ko-KR" altLang="en-US" dirty="0"/>
              <a:t> 능력이 우수한 순회부호의 일종</a:t>
            </a:r>
            <a:endParaRPr lang="en-US" altLang="ko-KR" dirty="0"/>
          </a:p>
          <a:p>
            <a:r>
              <a:rPr lang="ko-KR" altLang="en-US" dirty="0"/>
              <a:t>에러의 유무만 검출할 수 있음</a:t>
            </a:r>
            <a:endParaRPr lang="en-US" altLang="ko-KR" dirty="0"/>
          </a:p>
          <a:p>
            <a:r>
              <a:rPr lang="en-US" altLang="ko-KR" dirty="0"/>
              <a:t>Random Error </a:t>
            </a:r>
            <a:r>
              <a:rPr lang="ko-KR" altLang="en-US" dirty="0"/>
              <a:t>뿐만 아니라 </a:t>
            </a:r>
            <a:r>
              <a:rPr lang="en-US" altLang="ko-KR" dirty="0"/>
              <a:t>Burst Error</a:t>
            </a:r>
            <a:r>
              <a:rPr lang="ko-KR" altLang="en-US" dirty="0"/>
              <a:t>에서도 검출 능력 우수</a:t>
            </a:r>
            <a:endParaRPr lang="en-US" altLang="ko-KR" dirty="0"/>
          </a:p>
          <a:p>
            <a:pPr lvl="1"/>
            <a:r>
              <a:rPr lang="en-US" altLang="ko-KR" dirty="0"/>
              <a:t>Random</a:t>
            </a:r>
            <a:r>
              <a:rPr lang="ko-KR" altLang="en-US" dirty="0"/>
              <a:t> </a:t>
            </a:r>
            <a:r>
              <a:rPr lang="en-US" altLang="ko-KR" dirty="0"/>
              <a:t>Error : </a:t>
            </a:r>
            <a:r>
              <a:rPr lang="ko-KR" altLang="en-US" dirty="0"/>
              <a:t>산발 에러</a:t>
            </a:r>
            <a:endParaRPr lang="en-US" altLang="ko-KR" dirty="0"/>
          </a:p>
          <a:p>
            <a:pPr lvl="1"/>
            <a:r>
              <a:rPr lang="en-US" altLang="ko-KR" dirty="0"/>
              <a:t>Burst Error : </a:t>
            </a:r>
            <a:r>
              <a:rPr lang="ko-KR" altLang="en-US" dirty="0" err="1"/>
              <a:t>연집</a:t>
            </a:r>
            <a:r>
              <a:rPr lang="ko-KR" altLang="en-US" dirty="0"/>
              <a:t> 에러</a:t>
            </a:r>
            <a:endParaRPr lang="en-US" altLang="ko-KR" dirty="0"/>
          </a:p>
          <a:p>
            <a:r>
              <a:rPr lang="ko-KR" altLang="en-US" dirty="0"/>
              <a:t>순회부호에 기반한 오류 검출 부호</a:t>
            </a:r>
            <a:endParaRPr lang="en-US" altLang="ko-KR" dirty="0"/>
          </a:p>
          <a:p>
            <a:pPr lvl="1"/>
            <a:r>
              <a:rPr lang="ko-KR" altLang="en-US" dirty="0"/>
              <a:t>송신축에서 </a:t>
            </a:r>
            <a:r>
              <a:rPr lang="en-US" altLang="ko-KR" dirty="0"/>
              <a:t>FCS</a:t>
            </a:r>
            <a:r>
              <a:rPr lang="ko-KR" altLang="en-US" dirty="0"/>
              <a:t>에 덧붙여 보내면</a:t>
            </a:r>
            <a:endParaRPr lang="en-US" altLang="ko-KR" dirty="0"/>
          </a:p>
          <a:p>
            <a:pPr lvl="1"/>
            <a:r>
              <a:rPr lang="ko-KR" altLang="en-US" dirty="0" err="1"/>
              <a:t>수신측에서</a:t>
            </a:r>
            <a:r>
              <a:rPr lang="ko-KR" altLang="en-US" dirty="0"/>
              <a:t> 동일한 방법으로 계산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3478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7E4ABC-3220-25C9-BFD3-9C4346D17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용도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982FFE-D49C-5918-7BCA-C464FF678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비트 에러가 존재할 수 있는 패킷에 대한 신뢰성 제공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재전송 기반 에러제어를 하는 프로토콜에 쓰임</a:t>
            </a:r>
          </a:p>
        </p:txBody>
      </p:sp>
    </p:spTree>
    <p:extLst>
      <p:ext uri="{BB962C8B-B14F-4D97-AF65-F5344CB8AC3E}">
        <p14:creationId xmlns:p14="http://schemas.microsoft.com/office/powerpoint/2010/main" val="2423668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7C828C-854D-5FB0-7E98-251EA9134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필요한 항목들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BA51D4-9EBC-3B5B-8C66-50C8A11B2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원래 데이터 </a:t>
            </a:r>
            <a:r>
              <a:rPr lang="en-US" altLang="ko-KR" dirty="0"/>
              <a:t>: D(x)</a:t>
            </a:r>
          </a:p>
          <a:p>
            <a:r>
              <a:rPr lang="ko-KR" altLang="en-US" dirty="0"/>
              <a:t>잉여 데이터 </a:t>
            </a:r>
            <a:r>
              <a:rPr lang="en-US" altLang="ko-KR" dirty="0"/>
              <a:t>: F(x)</a:t>
            </a:r>
          </a:p>
          <a:p>
            <a:r>
              <a:rPr lang="ko-KR" altLang="en-US" dirty="0"/>
              <a:t>전송 데이터 </a:t>
            </a:r>
            <a:r>
              <a:rPr lang="en-US" altLang="ko-KR" dirty="0"/>
              <a:t>: T(x)</a:t>
            </a:r>
          </a:p>
          <a:p>
            <a:r>
              <a:rPr lang="ko-KR" altLang="en-US" dirty="0"/>
              <a:t>미리 정의된 </a:t>
            </a:r>
            <a:r>
              <a:rPr lang="en-US" altLang="ko-KR" dirty="0"/>
              <a:t>CRC </a:t>
            </a:r>
            <a:r>
              <a:rPr lang="ko-KR" altLang="en-US" dirty="0"/>
              <a:t>다항식 </a:t>
            </a:r>
            <a:r>
              <a:rPr lang="en-US" altLang="ko-KR" dirty="0"/>
              <a:t>: P(x)</a:t>
            </a:r>
          </a:p>
          <a:p>
            <a:endParaRPr lang="en-US" altLang="ko-KR" dirty="0"/>
          </a:p>
          <a:p>
            <a:r>
              <a:rPr lang="ko-KR" altLang="en-US" dirty="0"/>
              <a:t>나눗셈 몫 </a:t>
            </a:r>
            <a:r>
              <a:rPr lang="en-US" altLang="ko-KR" dirty="0"/>
              <a:t>: Q(x) (</a:t>
            </a:r>
            <a:r>
              <a:rPr lang="ko-KR" altLang="en-US" dirty="0"/>
              <a:t>버림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나머지 </a:t>
            </a:r>
            <a:r>
              <a:rPr lang="en-US" altLang="ko-KR" dirty="0"/>
              <a:t>: R(x) (</a:t>
            </a:r>
            <a:r>
              <a:rPr lang="ko-KR" altLang="en-US" dirty="0" err="1"/>
              <a:t>덧붙여짐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665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331EE1-09BE-61B2-B5F4-C9C1E8531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계산 과정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9BAC117-C39A-4C4E-2A62-7EFED303CB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ko-KR" b="0" dirty="0"/>
              </a:p>
              <a:p>
                <a:pPr lvl="1"/>
                <a:r>
                  <a:rPr lang="ko-KR" altLang="en-US" dirty="0"/>
                  <a:t>원래 데이터에 생성 다항식의 가장 큰 차수를 곱함 </a:t>
                </a:r>
                <a:r>
                  <a:rPr lang="en-US" altLang="ko-KR" dirty="0"/>
                  <a:t>(0</a:t>
                </a:r>
                <a:r>
                  <a:rPr lang="ko-KR" altLang="en-US" dirty="0"/>
                  <a:t> 덧붙임</a:t>
                </a:r>
                <a:r>
                  <a:rPr lang="en-US" altLang="ko-KR" dirty="0"/>
                  <a:t>)</a:t>
                </a:r>
                <a:endParaRPr lang="en-US" altLang="ko-KR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)= 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b="0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en-US" altLang="ko-KR" b="0" dirty="0"/>
                      <m:t>)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b="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b="0" dirty="0"/>
              </a:p>
              <a:p>
                <a:r>
                  <a:rPr lang="en-US" altLang="ko-KR" b="0" dirty="0"/>
                  <a:t>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b="0" dirty="0"/>
              </a:p>
              <a:p>
                <a:pPr lvl="1"/>
                <a:r>
                  <a:rPr lang="en-US" altLang="ko-KR" b="0" dirty="0"/>
                  <a:t>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ko-KR" b="0" dirty="0"/>
              </a:p>
              <a:p>
                <a:pPr lvl="1"/>
                <a:r>
                  <a:rPr lang="ko-KR" altLang="en-US" b="0" dirty="0"/>
                  <a:t>전송 비트 패턴 </a:t>
                </a:r>
                <a:r>
                  <a:rPr lang="en-US" altLang="ko-KR" b="0" dirty="0"/>
                  <a:t>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ko-KR" altLang="en-US" b="0" dirty="0"/>
                  <a:t>가 생성다항식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b="0" dirty="0"/>
                  <a:t>)</a:t>
                </a:r>
                <a:r>
                  <a:rPr lang="ko-KR" altLang="en-US" b="0" dirty="0"/>
                  <a:t>에 의해 정확히 나누어 떨어짐</a:t>
                </a:r>
                <a:r>
                  <a:rPr lang="en-US" altLang="ko-KR" b="0" dirty="0"/>
                  <a:t> </a:t>
                </a:r>
              </a:p>
              <a:p>
                <a:pPr lvl="1"/>
                <a:endParaRPr lang="en-US" altLang="ko-KR" b="0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9BAC117-C39A-4C4E-2A62-7EFED303CB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5214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4B5938-F157-5697-2CAD-297D333EB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예시</a:t>
            </a:r>
            <a:r>
              <a:rPr lang="en-US" altLang="ko-KR" dirty="0"/>
              <a:t>(4bit 2</a:t>
            </a:r>
            <a:r>
              <a:rPr lang="ko-KR" altLang="en-US" dirty="0"/>
              <a:t>진수 다항식</a:t>
            </a:r>
            <a:r>
              <a:rPr lang="en-US" altLang="ko-KR" dirty="0"/>
              <a:t>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72FE4F4-DEB2-BD8C-6D4E-B65B5A3574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다</m:t>
                        </m:r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항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식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: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altLang="ko-KR" b="0" dirty="0"/>
              </a:p>
              <a:p>
                <a:r>
                  <a:rPr lang="ko-KR" altLang="en-US" dirty="0"/>
                  <a:t>제수 </a:t>
                </a:r>
                <a:r>
                  <a:rPr lang="en-US" altLang="ko-KR" dirty="0"/>
                  <a:t>: 1011</a:t>
                </a:r>
              </a:p>
              <a:p>
                <a:r>
                  <a:rPr lang="ko-KR" altLang="en-US" b="0" dirty="0"/>
                  <a:t>비트 수 </a:t>
                </a:r>
                <a:r>
                  <a:rPr lang="en-US" altLang="ko-KR" b="0" dirty="0"/>
                  <a:t>: 4bit</a:t>
                </a:r>
              </a:p>
              <a:p>
                <a:r>
                  <a:rPr lang="en-US" altLang="ko-KR" b="0" dirty="0"/>
                  <a:t>CRC : 3bit</a:t>
                </a:r>
              </a:p>
              <a:p>
                <a:r>
                  <a:rPr lang="en-US" altLang="ko-KR" dirty="0"/>
                  <a:t>Data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bit : </a:t>
                </a:r>
                <a:r>
                  <a:rPr kumimoji="0" lang="ko-KR" altLang="ko-KR" sz="28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 Unicode MS"/>
                    <a:ea typeface="Courier New" panose="02070309020205020404" pitchFamily="49" charset="0"/>
                  </a:rPr>
                  <a:t>11010011101100</a:t>
                </a:r>
                <a:endParaRPr lang="en-US" altLang="ko-KR" b="0" dirty="0"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72FE4F4-DEB2-BD8C-6D4E-B65B5A3574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7082938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5E1431-A97D-E53F-B2EB-CAE59E9C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예시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721650C-BD9B-3CB8-6C2B-E6F01EAB6538}"/>
              </a:ext>
            </a:extLst>
          </p:cNvPr>
          <p:cNvCxnSpPr>
            <a:cxnSpLocks/>
          </p:cNvCxnSpPr>
          <p:nvPr/>
        </p:nvCxnSpPr>
        <p:spPr>
          <a:xfrm>
            <a:off x="3073326" y="2630724"/>
            <a:ext cx="42475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C8CBA14-FBD5-1D15-2EC7-6EA1170E702D}"/>
              </a:ext>
            </a:extLst>
          </p:cNvPr>
          <p:cNvCxnSpPr>
            <a:cxnSpLocks/>
          </p:cNvCxnSpPr>
          <p:nvPr/>
        </p:nvCxnSpPr>
        <p:spPr>
          <a:xfrm>
            <a:off x="3073326" y="2630724"/>
            <a:ext cx="0" cy="555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4"/>
          <p:cNvSpPr>
            <a:spLocks noChangeArrowheads="1"/>
          </p:cNvSpPr>
          <p:nvPr/>
        </p:nvSpPr>
        <p:spPr>
          <a:xfrm>
            <a:off x="3205732" y="2697527"/>
            <a:ext cx="4280759" cy="584775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ko-KR" altLang="ko-KR" sz="3200" b="0" i="0" u="none" strike="noStrike" cap="none" normalizeH="0" baseline="0">
                <a:solidFill>
                  <a:srgbClr val="000000"/>
                </a:solidFill>
                <a:effectLst/>
                <a:latin typeface="Arial Unicode MS"/>
                <a:ea typeface="Courier New"/>
              </a:rPr>
              <a:t>11010011101100 000</a:t>
            </a:r>
            <a:r>
              <a:rPr kumimoji="0" lang="ko-KR" altLang="ko-KR" sz="3200" b="0" i="0" u="none" strike="noStrike" cap="none" normalizeH="0" baseline="0">
                <a:solidFill>
                  <a:schemeClr val="tx1"/>
                </a:solidFill>
                <a:effectLst/>
              </a:rPr>
              <a:t> </a:t>
            </a:r>
            <a:endParaRPr kumimoji="0" lang="ko-KR" altLang="ko-KR" sz="3200" b="0" i="0" u="none" strike="noStrike" cap="none" normalizeH="0" baseline="0"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>
          <a:xfrm>
            <a:off x="1752039" y="2687366"/>
            <a:ext cx="1255084" cy="56827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ko-KR" altLang="ko-KR" sz="3200" b="0" i="0" u="none" strike="noStrike" cap="none" normalizeH="0" baseline="0">
                <a:solidFill>
                  <a:srgbClr val="000000"/>
                </a:solidFill>
                <a:effectLst/>
                <a:latin typeface="Arial Unicode MS"/>
                <a:ea typeface="Courier New"/>
              </a:rPr>
              <a:t>1011</a:t>
            </a:r>
            <a:r>
              <a:rPr kumimoji="0" lang="ko-KR" altLang="ko-KR" sz="3200" b="0" i="0" u="none" strike="noStrike" cap="none" normalizeH="0" baseline="0">
                <a:solidFill>
                  <a:schemeClr val="tx1"/>
                </a:solidFill>
                <a:effectLst/>
              </a:rPr>
              <a:t> </a:t>
            </a:r>
            <a:endParaRPr kumimoji="0" lang="ko-KR" altLang="ko-KR" sz="3200" b="0" i="0" u="none" strike="noStrike" cap="none" normalizeH="0" baseline="0"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5691C7B6-BA04-9364-3F87-200E7FD16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0640" y="2025629"/>
            <a:ext cx="426720" cy="584775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1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>
          <a:xfrm>
            <a:off x="3210561" y="3278372"/>
            <a:ext cx="1111101" cy="567823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ko-KR" altLang="ko-KR" sz="3200" b="0" i="0" u="none" strike="noStrike" cap="none" normalizeH="0" baseline="0">
                <a:solidFill>
                  <a:srgbClr val="000000"/>
                </a:solidFill>
                <a:effectLst/>
                <a:latin typeface="Arial Unicode MS"/>
                <a:ea typeface="Courier New"/>
              </a:rPr>
              <a:t>1011</a:t>
            </a:r>
            <a:r>
              <a:rPr kumimoji="0" lang="ko-KR" altLang="ko-KR" sz="3200" b="0" i="0" u="none" strike="noStrike" cap="none" normalizeH="0" baseline="0">
                <a:solidFill>
                  <a:schemeClr val="tx1"/>
                </a:solidFill>
                <a:effectLst/>
              </a:rPr>
              <a:t> </a:t>
            </a:r>
            <a:endParaRPr kumimoji="0" lang="ko-KR" altLang="ko-KR" sz="3200" b="0" i="0" u="none" strike="noStrike" cap="none" normalizeH="0" baseline="0"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20" name="Rectangle 7"/>
          <p:cNvSpPr>
            <a:spLocks noChangeArrowheads="1"/>
          </p:cNvSpPr>
          <p:nvPr/>
        </p:nvSpPr>
        <p:spPr>
          <a:xfrm>
            <a:off x="3205732" y="3996753"/>
            <a:ext cx="4301165" cy="57334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ko-KR" altLang="ko-KR" sz="3200" b="0" i="0" u="none" strike="noStrike" cap="none" normalizeH="0" baseline="0">
                <a:solidFill>
                  <a:srgbClr val="000000"/>
                </a:solidFill>
                <a:effectLst/>
                <a:latin typeface="Arial Unicode MS"/>
                <a:ea typeface="Courier New"/>
              </a:rPr>
              <a:t>01100011101100 000</a:t>
            </a:r>
            <a:r>
              <a:rPr kumimoji="0" lang="ko-KR" altLang="ko-KR" sz="3200" b="0" i="0" u="none" strike="noStrike" cap="none" normalizeH="0" baseline="0">
                <a:solidFill>
                  <a:schemeClr val="tx1"/>
                </a:solidFill>
                <a:effectLst/>
              </a:rPr>
              <a:t> </a:t>
            </a:r>
            <a:endParaRPr kumimoji="0" lang="ko-KR" altLang="ko-KR" sz="3200" b="0" i="0" u="none" strike="noStrike" cap="none" normalizeH="0" baseline="0">
              <a:solidFill>
                <a:schemeClr val="tx1"/>
              </a:solidFill>
              <a:effectLst/>
              <a:latin typeface="Arial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3073325" y="3866593"/>
            <a:ext cx="4247535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836296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1EB2D85-A402-33CB-481F-85BBD6FF67DC}"/>
              </a:ext>
            </a:extLst>
          </p:cNvPr>
          <p:cNvCxnSpPr>
            <a:cxnSpLocks/>
          </p:cNvCxnSpPr>
          <p:nvPr/>
        </p:nvCxnSpPr>
        <p:spPr>
          <a:xfrm>
            <a:off x="3839828" y="1431844"/>
            <a:ext cx="42475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ACEC81C-BE89-F4B9-D18D-553D71715484}"/>
              </a:ext>
            </a:extLst>
          </p:cNvPr>
          <p:cNvCxnSpPr>
            <a:cxnSpLocks/>
          </p:cNvCxnSpPr>
          <p:nvPr/>
        </p:nvCxnSpPr>
        <p:spPr>
          <a:xfrm>
            <a:off x="3839828" y="1431844"/>
            <a:ext cx="0" cy="555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4">
            <a:extLst>
              <a:ext uri="{FF2B5EF4-FFF2-40B4-BE49-F238E27FC236}">
                <a16:creationId xmlns:a16="http://schemas.microsoft.com/office/drawing/2014/main" id="{B3AED254-0733-95D7-DC1E-C02628CE6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2234" y="1498647"/>
            <a:ext cx="4247531" cy="584775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11010011101100 000</a:t>
            </a: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>
          <a:xfrm>
            <a:off x="2584994" y="1498646"/>
            <a:ext cx="1188630" cy="584775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ko-KR" altLang="ko-KR" sz="3200" b="0" i="0" u="none" strike="noStrike" cap="none" normalizeH="0" baseline="0">
                <a:solidFill>
                  <a:srgbClr val="000000"/>
                </a:solidFill>
                <a:effectLst/>
                <a:latin typeface="Arial Unicode MS"/>
                <a:ea typeface="Courier New"/>
              </a:rPr>
              <a:t>1011</a:t>
            </a:r>
            <a:r>
              <a:rPr kumimoji="0" lang="ko-KR" altLang="ko-KR" sz="3200" b="0" i="0" u="none" strike="noStrike" cap="none" normalizeH="0" baseline="0">
                <a:solidFill>
                  <a:schemeClr val="tx1"/>
                </a:solidFill>
                <a:effectLst/>
              </a:rPr>
              <a:t> </a:t>
            </a:r>
            <a:endParaRPr kumimoji="0" lang="ko-KR" altLang="ko-KR" sz="3200" b="0" i="0" u="none" strike="noStrike" cap="none" normalizeH="0" baseline="0"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A3A7670-D745-B141-1EF3-0B24A6F37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7142" y="826749"/>
            <a:ext cx="426720" cy="584775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1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C7045E-9976-29A2-DBB9-49EA5033E9AE}"/>
              </a:ext>
            </a:extLst>
          </p:cNvPr>
          <p:cNvSpPr txBox="1"/>
          <p:nvPr/>
        </p:nvSpPr>
        <p:spPr>
          <a:xfrm>
            <a:off x="5043862" y="2507361"/>
            <a:ext cx="2021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(</a:t>
            </a:r>
            <a:r>
              <a:rPr lang="ko-KR" altLang="en-US" sz="3200" dirty="0"/>
              <a:t>중략</a:t>
            </a:r>
            <a:r>
              <a:rPr lang="en-US" altLang="ko-KR" sz="3200" dirty="0"/>
              <a:t>)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73EE137-12DB-7EF4-D6C5-BE086FBA2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2234" y="3617675"/>
            <a:ext cx="4277360" cy="2554545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00000000001110 000 </a:t>
            </a:r>
            <a:endParaRPr kumimoji="0" lang="en-US" altLang="ko-KR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                    </a:t>
            </a: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1011 </a:t>
            </a:r>
            <a:endParaRPr kumimoji="0" lang="en-US" altLang="ko-KR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00000000000101 000 </a:t>
            </a:r>
            <a:endParaRPr kumimoji="0" lang="en-US" altLang="ko-KR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                      </a:t>
            </a: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101 1 </a:t>
            </a:r>
            <a:endParaRPr kumimoji="0" lang="en-US" altLang="ko-KR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00000000000000 100</a:t>
            </a: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046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7E23B078-D86B-F8AC-77B1-6F99B7930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1493" y="428178"/>
            <a:ext cx="7202613" cy="600164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11010011101100 100 &lt;--- </a:t>
            </a:r>
            <a:r>
              <a:rPr kumimoji="0" lang="ko-KR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받은 전송 값</a:t>
            </a:r>
            <a:endParaRPr kumimoji="0" lang="en-US" altLang="ko-KR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1011 </a:t>
            </a:r>
            <a:r>
              <a:rPr kumimoji="0" lang="ko-KR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  <a:sym typeface="Wingdings" panose="05000000000000000000" pitchFamily="2" charset="2"/>
              </a:rPr>
              <a:t></a:t>
            </a: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- 나누고 </a:t>
            </a:r>
            <a:endParaRPr kumimoji="0" lang="en-US" altLang="ko-KR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01100011101100 100 </a:t>
            </a:r>
            <a:r>
              <a:rPr kumimoji="0" lang="ko-KR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  <a:sym typeface="Wingdings" panose="05000000000000000000" pitchFamily="2" charset="2"/>
              </a:rPr>
              <a:t></a:t>
            </a: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- 결과 </a:t>
            </a:r>
            <a:endParaRPr kumimoji="0" lang="en-US" altLang="ko-KR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  </a:t>
            </a: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1011 </a:t>
            </a:r>
            <a:r>
              <a:rPr kumimoji="0" lang="ko-KR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  <a:sym typeface="Wingdings" panose="05000000000000000000" pitchFamily="2" charset="2"/>
              </a:rPr>
              <a:t></a:t>
            </a: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- 나누고 </a:t>
            </a:r>
            <a:r>
              <a:rPr kumimoji="0" lang="en-US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…</a:t>
            </a: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 </a:t>
            </a:r>
            <a:endParaRPr kumimoji="0" lang="en-US" altLang="ko-KR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highlight>
                <a:srgbClr val="FF0000"/>
              </a:highlight>
              <a:latin typeface="Arial Unicode MS"/>
              <a:ea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00111011101100 100 </a:t>
            </a:r>
            <a:endParaRPr kumimoji="0" lang="en-US" altLang="ko-KR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           (</a:t>
            </a:r>
            <a:r>
              <a:rPr kumimoji="0" lang="ko-KR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중략</a:t>
            </a:r>
            <a:r>
              <a:rPr kumimoji="0" lang="en-US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)</a:t>
            </a: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 </a:t>
            </a:r>
            <a:endParaRPr kumimoji="0" lang="en-US" altLang="ko-KR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00000000001110 100 </a:t>
            </a:r>
            <a:endParaRPr kumimoji="0" lang="en-US" altLang="ko-KR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                    </a:t>
            </a: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1011</a:t>
            </a:r>
            <a:endParaRPr kumimoji="0" lang="en-US" altLang="ko-KR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00000000000101 100 </a:t>
            </a:r>
            <a:endParaRPr kumimoji="0" lang="en-US" altLang="ko-KR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                      </a:t>
            </a: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101 1</a:t>
            </a:r>
            <a:endParaRPr kumimoji="0" lang="en-US" altLang="ko-KR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 ------------------</a:t>
            </a:r>
            <a:r>
              <a:rPr kumimoji="0" lang="en-US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-----------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 </a:t>
            </a:r>
            <a:r>
              <a:rPr kumimoji="0" lang="en-US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                            </a:t>
            </a: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0 &lt;--- 나머지</a:t>
            </a: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75432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794244" y="940981"/>
            <a:ext cx="3800792" cy="4976037"/>
          </a:xfrm>
          <a:prstGeom prst="rect">
            <a:avLst/>
          </a:prstGeom>
        </p:spPr>
      </p:pic>
      <p:sp>
        <p:nvSpPr>
          <p:cNvPr id="6" name="가로 글상자 5"/>
          <p:cNvSpPr txBox="1"/>
          <p:nvPr/>
        </p:nvSpPr>
        <p:spPr>
          <a:xfrm>
            <a:off x="2867465" y="239230"/>
            <a:ext cx="1237321" cy="49096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2600"/>
              <a:t>Sender</a:t>
            </a:r>
            <a:endParaRPr lang="en-US" altLang="ko-KR" sz="260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823998" y="935802"/>
            <a:ext cx="4366872" cy="4986395"/>
          </a:xfrm>
          <a:prstGeom prst="rect">
            <a:avLst/>
          </a:prstGeom>
        </p:spPr>
      </p:pic>
      <p:sp>
        <p:nvSpPr>
          <p:cNvPr id="10" name="가로 글상자 9"/>
          <p:cNvSpPr txBox="1"/>
          <p:nvPr/>
        </p:nvSpPr>
        <p:spPr>
          <a:xfrm>
            <a:off x="7361493" y="280874"/>
            <a:ext cx="3219852" cy="485866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Reciever (Error Free)</a:t>
            </a:r>
            <a:endPara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113856602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00911" y="1174676"/>
            <a:ext cx="4397586" cy="4973821"/>
          </a:xfrm>
          <a:prstGeom prst="rect">
            <a:avLst/>
          </a:prstGeom>
        </p:spPr>
      </p:pic>
      <p:sp>
        <p:nvSpPr>
          <p:cNvPr id="5" name="가로 글상자 4"/>
          <p:cNvSpPr txBox="1"/>
          <p:nvPr/>
        </p:nvSpPr>
        <p:spPr>
          <a:xfrm>
            <a:off x="1557887" y="258721"/>
            <a:ext cx="3219852" cy="873291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Reciever</a:t>
            </a:r>
            <a:endPara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(Error in data part)</a:t>
            </a:r>
            <a:endPara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570810" y="1216652"/>
            <a:ext cx="4477414" cy="5000549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7037642" y="233911"/>
            <a:ext cx="3219852" cy="873735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Reciever</a:t>
            </a:r>
            <a:endPara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(Error in CRC part)</a:t>
            </a:r>
            <a:endPara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454377895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75882" y="1202129"/>
            <a:ext cx="4390947" cy="5107201"/>
          </a:xfrm>
          <a:prstGeom prst="rect">
            <a:avLst/>
          </a:prstGeom>
        </p:spPr>
      </p:pic>
      <p:sp>
        <p:nvSpPr>
          <p:cNvPr id="5" name="가로 글상자 4"/>
          <p:cNvSpPr txBox="1"/>
          <p:nvPr/>
        </p:nvSpPr>
        <p:spPr>
          <a:xfrm>
            <a:off x="1568963" y="247646"/>
            <a:ext cx="3219853" cy="876614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Recieved Data </a:t>
            </a:r>
            <a:endPara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with Error</a:t>
            </a:r>
            <a:endPara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가로 글상자 5"/>
          <p:cNvSpPr txBox="1"/>
          <p:nvPr/>
        </p:nvSpPr>
        <p:spPr>
          <a:xfrm>
            <a:off x="5885782" y="820917"/>
            <a:ext cx="5900140" cy="873735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    Send Data : 11010011101100100</a:t>
            </a:r>
            <a:endPara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Recieved Data : 10110000101100000</a:t>
            </a:r>
            <a:endPara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36943" y="3165732"/>
            <a:ext cx="3724275" cy="1323975"/>
          </a:xfrm>
          <a:prstGeom prst="rect">
            <a:avLst/>
          </a:prstGeom>
        </p:spPr>
      </p:pic>
      <p:sp>
        <p:nvSpPr>
          <p:cNvPr id="13" name="가로 글상자 12"/>
          <p:cNvSpPr txBox="1"/>
          <p:nvPr/>
        </p:nvSpPr>
        <p:spPr>
          <a:xfrm>
            <a:off x="5794521" y="4672561"/>
            <a:ext cx="5900140" cy="880381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 : CRC</a:t>
            </a:r>
            <a:r>
              <a:rPr xmlns:mc="http://schemas.openxmlformats.org/markup-compatibility/2006" xmlns:hp="http://schemas.haansoft.com/office/presentation/8.0" kumimoji="0" lang="ko-KR" altLang="en-US" sz="2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가 검출한 에러가 틀릴 확률</a:t>
            </a:r>
            <a:endParaRPr xmlns:mc="http://schemas.openxmlformats.org/markup-compatibility/2006" xmlns:hp="http://schemas.haansoft.com/office/presentation/8.0" kumimoji="0" lang="ko-KR" altLang="en-US" sz="2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X : CRC </a:t>
            </a:r>
            <a:r>
              <a:rPr xmlns:mc="http://schemas.openxmlformats.org/markup-compatibility/2006" xmlns:hp="http://schemas.haansoft.com/office/presentation/8.0" kumimoji="0" lang="ko-KR" altLang="en-US" sz="2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비트</a:t>
            </a:r>
            <a:endParaRPr xmlns:mc="http://schemas.openxmlformats.org/markup-compatibility/2006" xmlns:hp="http://schemas.haansoft.com/office/presentation/8.0" kumimoji="0" lang="ko-KR" altLang="en-US" sz="2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194795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1E68FE-F484-2658-635D-A29887810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생성 다항식 예시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AEB3514-0F65-B18D-190C-899130EB5D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/>
                  <a:t>CRC-8 (</a:t>
                </a:r>
                <a:r>
                  <a:rPr lang="ko-KR" altLang="en-US" dirty="0"/>
                  <a:t>비트 길이</a:t>
                </a:r>
                <a:r>
                  <a:rPr lang="en-US" altLang="ko-KR" dirty="0"/>
                  <a:t> : 8+1 =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𝑏𝑖𝑡𝑠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pPr lvl="1"/>
                <a:r>
                  <a:rPr lang="en-US" altLang="ko-KR" dirty="0"/>
                  <a:t>P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ko-KR" dirty="0"/>
                  <a:t> (1000 0011 1)</a:t>
                </a:r>
              </a:p>
              <a:p>
                <a:r>
                  <a:rPr lang="en-US" altLang="ko-KR" dirty="0"/>
                  <a:t>CRC-10 (</a:t>
                </a:r>
                <a:r>
                  <a:rPr lang="ko-KR" altLang="en-US" dirty="0"/>
                  <a:t>비트 길이</a:t>
                </a:r>
                <a:r>
                  <a:rPr lang="en-US" altLang="ko-KR" dirty="0"/>
                  <a:t> : 10+1 =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𝑏𝑖𝑡𝑠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pPr lvl="1"/>
                <a:r>
                  <a:rPr lang="en-US" altLang="ko-KR" dirty="0"/>
                  <a:t>P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ko-KR" dirty="0"/>
                  <a:t> (11 0001 1001 1)</a:t>
                </a:r>
              </a:p>
              <a:p>
                <a:r>
                  <a:rPr lang="en-US" altLang="ko-KR" dirty="0"/>
                  <a:t>CRC-12 (</a:t>
                </a:r>
                <a:r>
                  <a:rPr lang="ko-KR" altLang="en-US" dirty="0"/>
                  <a:t>비트 길이</a:t>
                </a:r>
                <a:r>
                  <a:rPr lang="en-US" altLang="ko-KR" dirty="0"/>
                  <a:t> : 12+1 =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𝑏𝑖𝑡𝑠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pPr lvl="1"/>
                <a:r>
                  <a:rPr lang="en-US" altLang="ko-KR" dirty="0"/>
                  <a:t>P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ko-KR" dirty="0"/>
                  <a:t> (1000 1000 0001 0000 1)</a:t>
                </a:r>
              </a:p>
              <a:p>
                <a:r>
                  <a:rPr lang="en-US" altLang="ko-KR" dirty="0"/>
                  <a:t>CRC-16 (</a:t>
                </a:r>
                <a:r>
                  <a:rPr lang="ko-KR" altLang="en-US" dirty="0"/>
                  <a:t>비트 길이</a:t>
                </a:r>
                <a:r>
                  <a:rPr lang="en-US" altLang="ko-KR" dirty="0"/>
                  <a:t> : 16+1 =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𝑏𝑖𝑡𝑠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pPr lvl="1"/>
                <a:r>
                  <a:rPr lang="en-US" altLang="ko-KR" dirty="0"/>
                  <a:t>P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ko-KR" dirty="0"/>
                  <a:t> (1000 1000 0001 0000 1)</a:t>
                </a:r>
              </a:p>
              <a:p>
                <a:pPr marL="0" indent="0">
                  <a:buNone/>
                </a:pPr>
                <a:endParaRPr lang="en-US" altLang="ko-KR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AEB3514-0F65-B18D-190C-899130EB5D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0920578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92231" y="1028257"/>
            <a:ext cx="10607537" cy="480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510851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664730" y="856253"/>
            <a:ext cx="4333875" cy="3838575"/>
          </a:xfrm>
          <a:prstGeom prst="rect">
            <a:avLst/>
          </a:prstGeom>
          <a:ln>
            <a:solidFill>
              <a:schemeClr val="dk1"/>
            </a:solidFill>
          </a:ln>
          <a:effectLst>
            <a:softEdge rad="12700"/>
          </a:effectLst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07902" y="857250"/>
            <a:ext cx="4171950" cy="5143500"/>
          </a:xfrm>
          <a:prstGeom prst="rect">
            <a:avLst/>
          </a:prstGeom>
          <a:ln>
            <a:solidFill>
              <a:schemeClr val="dk1"/>
            </a:solidFill>
          </a:ln>
          <a:effectLst>
            <a:softEdge rad="12700"/>
          </a:effectLst>
        </p:spPr>
      </p:pic>
      <p:sp>
        <p:nvSpPr>
          <p:cNvPr id="8" name="가로 글상자 7"/>
          <p:cNvSpPr txBox="1"/>
          <p:nvPr/>
        </p:nvSpPr>
        <p:spPr>
          <a:xfrm>
            <a:off x="2147552" y="217078"/>
            <a:ext cx="2134443" cy="488968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Sender Code</a:t>
            </a:r>
            <a:endPara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가로 글상자 8"/>
          <p:cNvSpPr txBox="1"/>
          <p:nvPr/>
        </p:nvSpPr>
        <p:spPr>
          <a:xfrm>
            <a:off x="7616230" y="203342"/>
            <a:ext cx="2488864" cy="483654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Reciever Code</a:t>
            </a:r>
            <a:endPara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409668347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193</ep:Words>
  <ep:PresentationFormat>와이드스크린</ep:PresentationFormat>
  <ep:Paragraphs>70</ep:Paragraphs>
  <ep:Slides>15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ep:HeadingPairs>
  <ep:TitlesOfParts>
    <vt:vector size="16" baseType="lpstr">
      <vt:lpstr>Office 테마</vt:lpstr>
      <vt:lpstr>CRC(순환 중복 검사)</vt:lpstr>
      <vt:lpstr>CRC</vt:lpstr>
      <vt:lpstr>용도</vt:lpstr>
      <vt:lpstr>필요한 항목들</vt:lpstr>
      <vt:lpstr>계산 과정</vt:lpstr>
      <vt:lpstr>예시(4bit 2진수 다항식)</vt:lpstr>
      <vt:lpstr>예시</vt:lpstr>
      <vt:lpstr>슬라이드 8</vt:lpstr>
      <vt:lpstr>슬라이드 9</vt:lpstr>
      <vt:lpstr>슬라이드 10</vt:lpstr>
      <vt:lpstr>슬라이드 11</vt:lpstr>
      <vt:lpstr>슬라이드 12</vt:lpstr>
      <vt:lpstr>생성 다항식 예시</vt:lpstr>
      <vt:lpstr>슬라이드 14</vt:lpstr>
      <vt:lpstr>슬라이드 15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2023-05-18T10:27:33.000</dcterms:created>
  <dc:creator>철훈 윤</dc:creator>
  <cp:lastModifiedBy>parkj</cp:lastModifiedBy>
  <dcterms:modified xsi:type="dcterms:W3CDTF">2023-05-21T14:31:39.555</dcterms:modified>
  <cp:revision>12</cp:revision>
  <dc:title>CRC(순환 중복 검사)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