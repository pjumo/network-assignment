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1C974F-2FB9-E93D-AD67-C197C77556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997D9DA-F058-90F0-C46D-56C166E7D5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C98F15-0D05-1C8A-7540-9FE1EF95D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9C546-AA30-4611-B0DE-A1C239FC8A22}" type="datetimeFigureOut">
              <a:rPr lang="ko-KR" altLang="en-US" smtClean="0"/>
              <a:t>2023-05-15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C5A15A-E78C-0198-D1E7-E80CAFEFB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FA8D2F-4AC8-40BF-3717-678EFF4BE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A39A0-23AE-4A42-8CCF-315B8B1889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1973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7BA68C-9B3A-F184-D56A-4D69ED44D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F4F97F-D4EE-CDA8-86BA-CFDD5D0794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7549EE-0F0E-6018-CFC6-91BCAFF04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9C546-AA30-4611-B0DE-A1C239FC8A22}" type="datetimeFigureOut">
              <a:rPr lang="ko-KR" altLang="en-US" smtClean="0"/>
              <a:t>2023-05-15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78C0FD-0F2C-231E-9E23-9494BD982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12B13-9C5D-E4B8-C3A3-0F71C57E6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A39A0-23AE-4A42-8CCF-315B8B1889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075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4620A7-28DE-9B67-A1FF-AFD059BB4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059552-D224-886E-4819-332CE26DB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504845-E323-B1D0-3D4E-A24F3567D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9C546-AA30-4611-B0DE-A1C239FC8A22}" type="datetimeFigureOut">
              <a:rPr lang="ko-KR" altLang="en-US" smtClean="0"/>
              <a:t>2023-05-15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7FE7DF-D72E-B2A4-3ECC-97AB5E89E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0DDF3D-6B4F-507B-1D20-7EAC4D4B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A39A0-23AE-4A42-8CCF-315B8B1889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3482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642BA1-43B1-8C15-0CEA-F153CC334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28906D-34F5-8835-1DD1-0003921D0A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9BDB178-467F-6B53-BBC3-C3BC820AC7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F1AB1B-1DE6-E7B2-3EF0-807E3F106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9C546-AA30-4611-B0DE-A1C239FC8A22}" type="datetimeFigureOut">
              <a:rPr lang="ko-KR" altLang="en-US" smtClean="0"/>
              <a:t>2023-05-15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FBAC6D1-6492-6FD6-C5B2-578E7EAF5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B10F7A-B493-DAC8-B9A5-4FD014B01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A39A0-23AE-4A42-8CCF-315B8B1889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176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1D12BD-99EA-59D0-B957-EC6247335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A0A0E1-0DDC-51B5-C54E-3E3D5BCD5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F0A7D8-BEA7-BAFE-7C1A-6C30EDD629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EA67432-F9C0-17C1-19E3-3E95BAFABE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4E6F1F4-B584-F4A1-CB2F-B4CCC555F8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FF57927-4E9F-389B-F68D-9626A7007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9C546-AA30-4611-B0DE-A1C239FC8A22}" type="datetimeFigureOut">
              <a:rPr lang="ko-KR" altLang="en-US" smtClean="0"/>
              <a:t>2023-05-15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C2E52F5-F31E-652E-0B84-193E6FA0F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37F4FE9-5E82-852B-3291-8F705BFF8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A39A0-23AE-4A42-8CCF-315B8B1889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3632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29D228-B570-F25A-793B-B70A00A42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EA59742-6841-DFD9-D481-B8B91F3A7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9C546-AA30-4611-B0DE-A1C239FC8A22}" type="datetimeFigureOut">
              <a:rPr lang="ko-KR" altLang="en-US" smtClean="0"/>
              <a:t>2023-05-15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0884BEB-356B-25B9-DD7C-9A224CC4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E090E25-3CFF-4E4E-022C-AA994D208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A39A0-23AE-4A42-8CCF-315B8B1889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093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128AC3C-2D1D-BD2E-B4DE-A0311D36C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9C546-AA30-4611-B0DE-A1C239FC8A22}" type="datetimeFigureOut">
              <a:rPr lang="ko-KR" altLang="en-US" smtClean="0"/>
              <a:t>2023-05-15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1781557-8C0D-0F8A-3FEC-6F10C61F0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DA5B9B-4C05-338B-C5E0-760887E57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A39A0-23AE-4A42-8CCF-315B8B1889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1695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70E98F-F460-F062-FBD8-D2F95554A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B2F228-7D27-A4E4-E3D1-6081F6EA6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EF4E5E6-497D-78DF-1DDD-A91CCC392D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47BF7A4-F8B6-A186-E983-0E7E988AF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9C546-AA30-4611-B0DE-A1C239FC8A22}" type="datetimeFigureOut">
              <a:rPr lang="ko-KR" altLang="en-US" smtClean="0"/>
              <a:t>2023-05-15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AB4A6C1-72F3-A27E-55C1-715E21767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ECAC2B1-D8A1-88BA-C6BF-601D84DF5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A39A0-23AE-4A42-8CCF-315B8B1889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687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55CB3C-DFD6-1F67-F2EA-251BBE051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783B796-E703-6A13-9005-D1A9B37BCB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4B118B8-F2BE-2F01-4228-CC63A17CB7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D58ABE1-2632-F415-4CD7-586374B6A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9C546-AA30-4611-B0DE-A1C239FC8A22}" type="datetimeFigureOut">
              <a:rPr lang="ko-KR" altLang="en-US" smtClean="0"/>
              <a:t>2023-05-15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702B751-A89B-903A-8850-7C787A60B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90ADF1-211D-1B6B-6F24-578AC860C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A39A0-23AE-4A42-8CCF-315B8B1889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0800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1DDA9F-BD6C-9AAA-A0EC-B8E971ED7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ECAC2FF-45FA-DED5-F5FC-371527C322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BF3B2D-0D00-A636-E4C4-F63A4C408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9C546-AA30-4611-B0DE-A1C239FC8A22}" type="datetimeFigureOut">
              <a:rPr lang="ko-KR" altLang="en-US" smtClean="0"/>
              <a:t>2023-05-15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A6A053-3267-474C-3042-28D2D30EF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570725-F5FF-9BDA-BA8D-8E8278F75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A39A0-23AE-4A42-8CCF-315B8B1889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9224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A2DBD0D-7451-71FF-EF28-18C68A4AA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8736ACF-1F2A-3ED3-C644-B8A3D0E578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FB10F9-530C-525A-59AA-A112D82CC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9C546-AA30-4611-B0DE-A1C239FC8A22}" type="datetimeFigureOut">
              <a:rPr lang="ko-KR" altLang="en-US" smtClean="0"/>
              <a:t>2023-05-15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584456-79B1-8D8D-AF3C-89002FDDA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0A66C8-B593-4C6A-3B8D-CBCAC13BF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A39A0-23AE-4A42-8CCF-315B8B1889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8523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BFB89DB-897A-1AF3-2E46-C236787BD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C65228B-34D4-2E04-0FB9-7EB9155D6D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5D7440-56F4-E5BC-37ED-5084DAE1AA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09C546-AA30-4611-B0DE-A1C239FC8A22}" type="datetimeFigureOut">
              <a:rPr lang="ko-KR" altLang="en-US" smtClean="0"/>
              <a:t>2023-05-15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3B6DFC-33CD-3CF9-C3A8-42BB5B2DB0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3658ED-C01E-77DE-D01B-7D5782870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A39A0-23AE-4A42-8CCF-315B8B1889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601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5A742B-59D8-4EA3-A5D4-A53C0B5166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IFS &amp; Hamming code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EBF3350-296E-A5AB-D5C4-3B815391A2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800" dirty="0"/>
              <a:t>1</a:t>
            </a:r>
            <a:r>
              <a:rPr lang="ko-KR" altLang="en-US" sz="1800" dirty="0"/>
              <a:t>조 </a:t>
            </a:r>
            <a:r>
              <a:rPr lang="ko-KR" altLang="en-US" sz="1800" dirty="0" err="1"/>
              <a:t>박준모</a:t>
            </a:r>
            <a:endParaRPr lang="en-US" altLang="ko-KR" sz="1800" dirty="0"/>
          </a:p>
          <a:p>
            <a:pPr algn="r"/>
            <a:r>
              <a:rPr lang="ko-KR" altLang="en-US" sz="1800" dirty="0"/>
              <a:t>박지원</a:t>
            </a:r>
            <a:endParaRPr lang="en-US" altLang="ko-KR" sz="1800" dirty="0"/>
          </a:p>
          <a:p>
            <a:pPr algn="r"/>
            <a:r>
              <a:rPr lang="ko-KR" altLang="en-US" sz="1800" dirty="0" err="1"/>
              <a:t>윤철훈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450166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622457-9D0C-9C91-861A-225A14F70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5D79C4-7588-0C91-3F70-16E8FC5BE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IFS</a:t>
            </a:r>
            <a:r>
              <a:rPr lang="ko-KR" altLang="en-US" dirty="0"/>
              <a:t>로 </a:t>
            </a:r>
            <a:r>
              <a:rPr lang="en-US" altLang="ko-KR" dirty="0"/>
              <a:t>WIFI </a:t>
            </a:r>
            <a:r>
              <a:rPr lang="ko-KR" altLang="en-US" dirty="0"/>
              <a:t>충돌을 어떻게 방지하는가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IFS</a:t>
            </a:r>
          </a:p>
          <a:p>
            <a:pPr lvl="1"/>
            <a:r>
              <a:rPr lang="en-US" altLang="ko-KR" dirty="0"/>
              <a:t>CSMA/CA</a:t>
            </a:r>
          </a:p>
          <a:p>
            <a:pPr marL="457200" lvl="1" indent="0">
              <a:buNone/>
            </a:pPr>
            <a:endParaRPr lang="en-US" altLang="ko-KR" dirty="0"/>
          </a:p>
          <a:p>
            <a:r>
              <a:rPr lang="en-US" altLang="ko-KR" dirty="0"/>
              <a:t>Hamming code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9188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76655C-809A-D9B6-674F-62141CB05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IFS (Inter Frame Space)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CD3AE8-2047-06CF-E30F-2D0C8D3F7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프레임간 간격</a:t>
            </a:r>
            <a:r>
              <a:rPr lang="en-US" altLang="ko-KR" dirty="0"/>
              <a:t>(</a:t>
            </a:r>
            <a:r>
              <a:rPr lang="ko-KR" altLang="en-US" dirty="0"/>
              <a:t>공간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공유 무선 매체에 여러 무선 단말이 동시 접근 시 충돌 회피를 위하여 사용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매체가 비어 있는 상태로 확인되어도 일부러 전송을 늦추어 충돌을 회피</a:t>
            </a:r>
          </a:p>
        </p:txBody>
      </p:sp>
    </p:spTree>
    <p:extLst>
      <p:ext uri="{BB962C8B-B14F-4D97-AF65-F5344CB8AC3E}">
        <p14:creationId xmlns:p14="http://schemas.microsoft.com/office/powerpoint/2010/main" val="1696908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15E3F8-E045-A378-441C-2B1320CCA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ko-KR" sz="4400" dirty="0"/>
              <a:t>CSMA/CA </a:t>
            </a:r>
            <a:r>
              <a:rPr lang="en-US" altLang="ko-KR" sz="2400" dirty="0"/>
              <a:t>(Carrier Sense Multiple Access with Collision Avoidance)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1A1F940-6F2B-9384-551B-6902F4A54FDC}"/>
              </a:ext>
            </a:extLst>
          </p:cNvPr>
          <p:cNvSpPr/>
          <p:nvPr/>
        </p:nvSpPr>
        <p:spPr>
          <a:xfrm>
            <a:off x="2403755" y="1826123"/>
            <a:ext cx="2062263" cy="4182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송신 준비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730C676-CAEE-9D12-FEE4-05BFE1A66E81}"/>
              </a:ext>
            </a:extLst>
          </p:cNvPr>
          <p:cNvSpPr/>
          <p:nvPr/>
        </p:nvSpPr>
        <p:spPr>
          <a:xfrm>
            <a:off x="7268608" y="1872035"/>
            <a:ext cx="2756169" cy="4182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Back off time</a:t>
            </a:r>
            <a:r>
              <a:rPr lang="ko-KR" altLang="en-US" dirty="0"/>
              <a:t> 대기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167BE79-F77B-2269-8082-D9D476DFC75F}"/>
              </a:ext>
            </a:extLst>
          </p:cNvPr>
          <p:cNvSpPr/>
          <p:nvPr/>
        </p:nvSpPr>
        <p:spPr>
          <a:xfrm>
            <a:off x="2403755" y="3683000"/>
            <a:ext cx="2062263" cy="4182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IFS </a:t>
            </a:r>
            <a:r>
              <a:rPr lang="ko-KR" altLang="en-US" dirty="0"/>
              <a:t>주기 대기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76F243B-C4CA-85DC-66D3-8E13CB601B9A}"/>
              </a:ext>
            </a:extLst>
          </p:cNvPr>
          <p:cNvSpPr/>
          <p:nvPr/>
        </p:nvSpPr>
        <p:spPr>
          <a:xfrm>
            <a:off x="7615559" y="5774512"/>
            <a:ext cx="2062263" cy="4182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전송 완료</a:t>
            </a:r>
          </a:p>
        </p:txBody>
      </p:sp>
      <p:sp>
        <p:nvSpPr>
          <p:cNvPr id="9" name="순서도: 판단 8">
            <a:extLst>
              <a:ext uri="{FF2B5EF4-FFF2-40B4-BE49-F238E27FC236}">
                <a16:creationId xmlns:a16="http://schemas.microsoft.com/office/drawing/2014/main" id="{9A302B16-F00B-A9EC-0F8A-515B4411CEA1}"/>
              </a:ext>
            </a:extLst>
          </p:cNvPr>
          <p:cNvSpPr/>
          <p:nvPr/>
        </p:nvSpPr>
        <p:spPr>
          <a:xfrm>
            <a:off x="2210823" y="2627406"/>
            <a:ext cx="2448128" cy="700392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매체 감시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BEE9CB5B-BE4C-5025-00B9-9EB2FDDE35AC}"/>
              </a:ext>
            </a:extLst>
          </p:cNvPr>
          <p:cNvCxnSpPr>
            <a:cxnSpLocks/>
            <a:stCxn id="6" idx="1"/>
            <a:endCxn id="5" idx="3"/>
          </p:cNvCxnSpPr>
          <p:nvPr/>
        </p:nvCxnSpPr>
        <p:spPr>
          <a:xfrm flipH="1" flipV="1">
            <a:off x="4466018" y="2035268"/>
            <a:ext cx="2802590" cy="459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1FDACE2A-DA15-BA79-341E-5041753C8383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>
            <a:off x="3434887" y="2244412"/>
            <a:ext cx="0" cy="382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E7F9A19E-65EE-1DBF-81DF-FAC14233C9B0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3434886" y="3327798"/>
            <a:ext cx="1" cy="3246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367CC663-8909-9D4A-A462-6153E2D79683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4658951" y="2123578"/>
            <a:ext cx="1140974" cy="854024"/>
          </a:xfrm>
          <a:prstGeom prst="bentConnector3">
            <a:avLst>
              <a:gd name="adj1" fmla="val 9944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85FCAB6-7774-0FDA-8DA3-F63CEB6FC298}"/>
              </a:ext>
            </a:extLst>
          </p:cNvPr>
          <p:cNvSpPr txBox="1"/>
          <p:nvPr/>
        </p:nvSpPr>
        <p:spPr>
          <a:xfrm>
            <a:off x="5475972" y="2977602"/>
            <a:ext cx="672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busy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F36611-7905-77C8-145A-9DD8956E753D}"/>
              </a:ext>
            </a:extLst>
          </p:cNvPr>
          <p:cNvSpPr txBox="1"/>
          <p:nvPr/>
        </p:nvSpPr>
        <p:spPr>
          <a:xfrm>
            <a:off x="8646692" y="2775027"/>
            <a:ext cx="672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busy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05319B-9343-2171-D336-5A672FA72468}"/>
              </a:ext>
            </a:extLst>
          </p:cNvPr>
          <p:cNvSpPr txBox="1"/>
          <p:nvPr/>
        </p:nvSpPr>
        <p:spPr>
          <a:xfrm>
            <a:off x="3026218" y="5142065"/>
            <a:ext cx="514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Yes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DB57D9-6CD2-19F8-64A2-DA670BB28673}"/>
              </a:ext>
            </a:extLst>
          </p:cNvPr>
          <p:cNvSpPr txBox="1"/>
          <p:nvPr/>
        </p:nvSpPr>
        <p:spPr>
          <a:xfrm>
            <a:off x="3483171" y="3302143"/>
            <a:ext cx="1185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idle</a:t>
            </a:r>
            <a:endParaRPr lang="ko-KR" altLang="en-US" dirty="0"/>
          </a:p>
        </p:txBody>
      </p:sp>
      <p:sp>
        <p:nvSpPr>
          <p:cNvPr id="18" name="순서도: 판단 17">
            <a:extLst>
              <a:ext uri="{FF2B5EF4-FFF2-40B4-BE49-F238E27FC236}">
                <a16:creationId xmlns:a16="http://schemas.microsoft.com/office/drawing/2014/main" id="{F6EDF102-4F21-C9AC-58E5-D0D91CFE946E}"/>
              </a:ext>
            </a:extLst>
          </p:cNvPr>
          <p:cNvSpPr/>
          <p:nvPr/>
        </p:nvSpPr>
        <p:spPr>
          <a:xfrm>
            <a:off x="6609344" y="3447044"/>
            <a:ext cx="4074695" cy="911531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매체 감시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978C7845-27F2-768A-DBF5-5C416B0BEA41}"/>
              </a:ext>
            </a:extLst>
          </p:cNvPr>
          <p:cNvCxnSpPr>
            <a:cxnSpLocks/>
            <a:stCxn id="18" idx="0"/>
            <a:endCxn id="6" idx="2"/>
          </p:cNvCxnSpPr>
          <p:nvPr/>
        </p:nvCxnSpPr>
        <p:spPr>
          <a:xfrm flipV="1">
            <a:off x="8646692" y="2290324"/>
            <a:ext cx="1" cy="11567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32D199F4-4DCB-A4E9-6EFB-0744DB894398}"/>
              </a:ext>
            </a:extLst>
          </p:cNvPr>
          <p:cNvCxnSpPr>
            <a:cxnSpLocks/>
            <a:stCxn id="7" idx="3"/>
            <a:endCxn id="18" idx="1"/>
          </p:cNvCxnSpPr>
          <p:nvPr/>
        </p:nvCxnSpPr>
        <p:spPr>
          <a:xfrm>
            <a:off x="4466018" y="3892145"/>
            <a:ext cx="2143326" cy="10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순서도: 판단 20">
            <a:extLst>
              <a:ext uri="{FF2B5EF4-FFF2-40B4-BE49-F238E27FC236}">
                <a16:creationId xmlns:a16="http://schemas.microsoft.com/office/drawing/2014/main" id="{7582CB41-B359-E060-1DCC-CCDE79C4D191}"/>
              </a:ext>
            </a:extLst>
          </p:cNvPr>
          <p:cNvSpPr/>
          <p:nvPr/>
        </p:nvSpPr>
        <p:spPr>
          <a:xfrm>
            <a:off x="2210822" y="4744504"/>
            <a:ext cx="2448128" cy="700392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ACK </a:t>
            </a:r>
            <a:r>
              <a:rPr lang="ko-KR" altLang="en-US" dirty="0"/>
              <a:t>응답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32157A3-F71A-9791-9330-E07A9F7030B6}"/>
              </a:ext>
            </a:extLst>
          </p:cNvPr>
          <p:cNvSpPr/>
          <p:nvPr/>
        </p:nvSpPr>
        <p:spPr>
          <a:xfrm>
            <a:off x="7463884" y="4862981"/>
            <a:ext cx="2365616" cy="4182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Contention window</a:t>
            </a:r>
            <a:endParaRPr lang="ko-KR" altLang="en-US" dirty="0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5BF458B5-36C5-F396-4B32-A16B2EE203BC}"/>
              </a:ext>
            </a:extLst>
          </p:cNvPr>
          <p:cNvCxnSpPr>
            <a:cxnSpLocks/>
            <a:stCxn id="18" idx="2"/>
            <a:endCxn id="22" idx="0"/>
          </p:cNvCxnSpPr>
          <p:nvPr/>
        </p:nvCxnSpPr>
        <p:spPr>
          <a:xfrm>
            <a:off x="8646692" y="4358575"/>
            <a:ext cx="0" cy="5044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79BA797E-84D7-6A62-EFA4-1AE06B0A9B23}"/>
              </a:ext>
            </a:extLst>
          </p:cNvPr>
          <p:cNvCxnSpPr>
            <a:cxnSpLocks/>
            <a:stCxn id="21" idx="2"/>
            <a:endCxn id="8" idx="1"/>
          </p:cNvCxnSpPr>
          <p:nvPr/>
        </p:nvCxnSpPr>
        <p:spPr>
          <a:xfrm rot="16200000" flipH="1">
            <a:off x="5255842" y="3623939"/>
            <a:ext cx="538761" cy="418067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97A53FE7-30FC-A5EA-AADF-48CC79B2ECA5}"/>
              </a:ext>
            </a:extLst>
          </p:cNvPr>
          <p:cNvCxnSpPr>
            <a:cxnSpLocks/>
            <a:stCxn id="21" idx="1"/>
          </p:cNvCxnSpPr>
          <p:nvPr/>
        </p:nvCxnSpPr>
        <p:spPr>
          <a:xfrm rot="10800000">
            <a:off x="1626806" y="2035268"/>
            <a:ext cx="584016" cy="3059433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0B6C9D0D-CD59-D6CD-E472-612DCCCAFCA2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1626806" y="2035267"/>
            <a:ext cx="77694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87E061D-9778-D974-B6F8-B0D45C89AFAC}"/>
              </a:ext>
            </a:extLst>
          </p:cNvPr>
          <p:cNvSpPr txBox="1"/>
          <p:nvPr/>
        </p:nvSpPr>
        <p:spPr>
          <a:xfrm>
            <a:off x="1792479" y="5092117"/>
            <a:ext cx="514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No</a:t>
            </a:r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3509508-6D98-E0D1-BC86-758FD3B98895}"/>
              </a:ext>
            </a:extLst>
          </p:cNvPr>
          <p:cNvSpPr txBox="1"/>
          <p:nvPr/>
        </p:nvSpPr>
        <p:spPr>
          <a:xfrm>
            <a:off x="8133960" y="4396815"/>
            <a:ext cx="1185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idle</a:t>
            </a:r>
            <a:endParaRPr lang="ko-KR" altLang="en-US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7C81841-97B6-078E-4C7E-4B4F5ABB0DA0}"/>
              </a:ext>
            </a:extLst>
          </p:cNvPr>
          <p:cNvSpPr/>
          <p:nvPr/>
        </p:nvSpPr>
        <p:spPr>
          <a:xfrm>
            <a:off x="5133041" y="4862981"/>
            <a:ext cx="1746996" cy="4182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프레임 전송</a:t>
            </a: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0840C5EA-88AA-5DB8-CE9E-5AED0961E8DD}"/>
              </a:ext>
            </a:extLst>
          </p:cNvPr>
          <p:cNvCxnSpPr>
            <a:cxnSpLocks/>
            <a:stCxn id="22" idx="1"/>
            <a:endCxn id="32" idx="3"/>
          </p:cNvCxnSpPr>
          <p:nvPr/>
        </p:nvCxnSpPr>
        <p:spPr>
          <a:xfrm flipH="1">
            <a:off x="6880037" y="5072126"/>
            <a:ext cx="5838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70A11E23-A1E2-D2BF-209F-136BFBF96E67}"/>
              </a:ext>
            </a:extLst>
          </p:cNvPr>
          <p:cNvCxnSpPr>
            <a:cxnSpLocks/>
            <a:endCxn id="21" idx="3"/>
          </p:cNvCxnSpPr>
          <p:nvPr/>
        </p:nvCxnSpPr>
        <p:spPr>
          <a:xfrm flipH="1">
            <a:off x="4658950" y="5092117"/>
            <a:ext cx="474091" cy="25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2488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626C11-9536-8212-7487-A0AE77501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Hamming code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2B690F-1D14-EBED-1C2F-A3D65F309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1950</a:t>
            </a:r>
            <a:r>
              <a:rPr lang="ko-KR" altLang="en-US" dirty="0"/>
              <a:t>년 </a:t>
            </a:r>
            <a:r>
              <a:rPr lang="en-US" altLang="ko-KR" dirty="0"/>
              <a:t>bell</a:t>
            </a:r>
            <a:r>
              <a:rPr lang="ko-KR" altLang="en-US" dirty="0"/>
              <a:t>의 연구소에서 고안됨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이진 선형 블록 오류정정 부호의 일부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최대 </a:t>
            </a:r>
            <a:r>
              <a:rPr lang="en-US" altLang="ko-KR" dirty="0"/>
              <a:t>2</a:t>
            </a:r>
            <a:r>
              <a:rPr lang="ko-KR" altLang="en-US" dirty="0"/>
              <a:t>비트의 오류 감지 혹은 </a:t>
            </a:r>
            <a:r>
              <a:rPr lang="en-US" altLang="ko-KR" dirty="0"/>
              <a:t>1</a:t>
            </a:r>
            <a:r>
              <a:rPr lang="ko-KR" altLang="en-US" dirty="0"/>
              <a:t>비트의 오류 수정이 가능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2355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B4339F-941B-EEFA-490B-F53B304C8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Hamming code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C11129C-FB81-3D17-AB6B-CE94F369D6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n≥2 </a:t>
                </a:r>
                <a:r>
                  <a:rPr lang="ko-KR" altLang="en-US" dirty="0"/>
                  <a:t>일 때 </a:t>
                </a:r>
                <a:r>
                  <a:rPr lang="en-US" altLang="ko-KR" dirty="0"/>
                  <a:t>n</a:t>
                </a:r>
                <a:r>
                  <a:rPr lang="ko-KR" altLang="en-US" dirty="0"/>
                  <a:t>개의 </a:t>
                </a:r>
                <a:r>
                  <a:rPr lang="en-US" altLang="ko-KR" dirty="0"/>
                  <a:t>Check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bits-&gt;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ko-KR" altLang="en-US" dirty="0"/>
                  <a:t> 의 </a:t>
                </a:r>
                <a:r>
                  <a:rPr lang="en-US" altLang="ko-KR" dirty="0"/>
                  <a:t>information bits</a:t>
                </a:r>
              </a:p>
              <a:p>
                <a:endParaRPr lang="en-US" altLang="ko-KR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C11129C-FB81-3D17-AB6B-CE94F369D6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4">
                <a:extLst>
                  <a:ext uri="{FF2B5EF4-FFF2-40B4-BE49-F238E27FC236}">
                    <a16:creationId xmlns:a16="http://schemas.microsoft.com/office/drawing/2014/main" id="{CF5C947E-DDD0-B268-3E86-7FBA4D16F2C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911927" y="3019830"/>
              <a:ext cx="8368146" cy="20874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184073">
                      <a:extLst>
                        <a:ext uri="{9D8B030D-6E8A-4147-A177-3AD203B41FA5}">
                          <a16:colId xmlns:a16="http://schemas.microsoft.com/office/drawing/2014/main" val="4244275830"/>
                        </a:ext>
                      </a:extLst>
                    </a:gridCol>
                    <a:gridCol w="4184073">
                      <a:extLst>
                        <a:ext uri="{9D8B030D-6E8A-4147-A177-3AD203B41FA5}">
                          <a16:colId xmlns:a16="http://schemas.microsoft.com/office/drawing/2014/main" val="4018111859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Check bits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Data bits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2516655"/>
                      </a:ext>
                    </a:extLst>
                  </a:tr>
                  <a:tr h="43041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  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−2−1</m:t>
                              </m:r>
                            </m:oMath>
                          </a14:m>
                          <a:r>
                            <a:rPr lang="en-US" altLang="ko-KR" dirty="0"/>
                            <a:t>)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1089173"/>
                      </a:ext>
                    </a:extLst>
                  </a:tr>
                  <a:tr h="43041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4  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−3−1</m:t>
                              </m:r>
                            </m:oMath>
                          </a14:m>
                          <a:r>
                            <a:rPr lang="en-US" altLang="ko-KR" dirty="0"/>
                            <a:t>)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58307449"/>
                      </a:ext>
                    </a:extLst>
                  </a:tr>
                  <a:tr h="43041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4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11 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−4−1</m:t>
                              </m:r>
                            </m:oMath>
                          </a14:m>
                          <a:r>
                            <a:rPr lang="en-US" altLang="ko-KR" dirty="0"/>
                            <a:t>)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34445"/>
                      </a:ext>
                    </a:extLst>
                  </a:tr>
                  <a:tr h="43041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5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26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−5−1</m:t>
                              </m:r>
                            </m:oMath>
                          </a14:m>
                          <a:r>
                            <a:rPr lang="en-US" altLang="ko-KR" dirty="0"/>
                            <a:t>)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3096358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4">
                <a:extLst>
                  <a:ext uri="{FF2B5EF4-FFF2-40B4-BE49-F238E27FC236}">
                    <a16:creationId xmlns:a16="http://schemas.microsoft.com/office/drawing/2014/main" id="{CF5C947E-DDD0-B268-3E86-7FBA4D16F2C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56451458"/>
                  </p:ext>
                </p:extLst>
              </p:nvPr>
            </p:nvGraphicFramePr>
            <p:xfrm>
              <a:off x="1911927" y="3019830"/>
              <a:ext cx="8368146" cy="20874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184073">
                      <a:extLst>
                        <a:ext uri="{9D8B030D-6E8A-4147-A177-3AD203B41FA5}">
                          <a16:colId xmlns:a16="http://schemas.microsoft.com/office/drawing/2014/main" val="4244275830"/>
                        </a:ext>
                      </a:extLst>
                    </a:gridCol>
                    <a:gridCol w="4184073">
                      <a:extLst>
                        <a:ext uri="{9D8B030D-6E8A-4147-A177-3AD203B41FA5}">
                          <a16:colId xmlns:a16="http://schemas.microsoft.com/office/drawing/2014/main" val="4018111859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Check bits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Data bits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2516655"/>
                      </a:ext>
                    </a:extLst>
                  </a:tr>
                  <a:tr h="43041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00146" t="-91549" r="-582" b="-3056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1089173"/>
                      </a:ext>
                    </a:extLst>
                  </a:tr>
                  <a:tr h="43041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00146" t="-191549" r="-582" b="-2056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58307449"/>
                      </a:ext>
                    </a:extLst>
                  </a:tr>
                  <a:tr h="43041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4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00146" t="-295714" r="-582" b="-10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5634445"/>
                      </a:ext>
                    </a:extLst>
                  </a:tr>
                  <a:tr h="43041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5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00146" t="-390141" r="-582" b="-70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3096358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10585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2C0E1117-D172-40C1-5628-4C97EFA09376}"/>
              </a:ext>
            </a:extLst>
          </p:cNvPr>
          <p:cNvCxnSpPr>
            <a:cxnSpLocks/>
          </p:cNvCxnSpPr>
          <p:nvPr/>
        </p:nvCxnSpPr>
        <p:spPr>
          <a:xfrm>
            <a:off x="9429173" y="5016269"/>
            <a:ext cx="0" cy="12397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73AA5D69-53FC-C3C9-942E-89CDC2EB1EED}"/>
              </a:ext>
            </a:extLst>
          </p:cNvPr>
          <p:cNvCxnSpPr>
            <a:cxnSpLocks/>
          </p:cNvCxnSpPr>
          <p:nvPr/>
        </p:nvCxnSpPr>
        <p:spPr>
          <a:xfrm>
            <a:off x="8289632" y="5016268"/>
            <a:ext cx="0" cy="12397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C9853F4A-1FBE-6802-0906-834F24A3CB98}"/>
              </a:ext>
            </a:extLst>
          </p:cNvPr>
          <p:cNvCxnSpPr>
            <a:cxnSpLocks/>
          </p:cNvCxnSpPr>
          <p:nvPr/>
        </p:nvCxnSpPr>
        <p:spPr>
          <a:xfrm>
            <a:off x="7199743" y="5016271"/>
            <a:ext cx="0" cy="12397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832987E0-5039-3E24-0873-9A3F2D7A8250}"/>
              </a:ext>
            </a:extLst>
          </p:cNvPr>
          <p:cNvCxnSpPr>
            <a:cxnSpLocks/>
          </p:cNvCxnSpPr>
          <p:nvPr/>
        </p:nvCxnSpPr>
        <p:spPr>
          <a:xfrm>
            <a:off x="9429173" y="5016271"/>
            <a:ext cx="0" cy="73528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03B1DCEB-A572-AAE6-ECCA-BAA47C5CEEE2}"/>
              </a:ext>
            </a:extLst>
          </p:cNvPr>
          <p:cNvCxnSpPr>
            <a:cxnSpLocks/>
          </p:cNvCxnSpPr>
          <p:nvPr/>
        </p:nvCxnSpPr>
        <p:spPr>
          <a:xfrm>
            <a:off x="8848431" y="5029165"/>
            <a:ext cx="0" cy="7223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93604732-9858-DCC0-235A-3ED495F93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 Coded Hamming words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01C1479-668B-CBCC-7C33-540A0E54E8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8315036" cy="4802187"/>
              </a:xfrm>
            </p:spPr>
            <p:txBody>
              <a:bodyPr>
                <a:noAutofit/>
              </a:bodyPr>
              <a:lstStyle/>
              <a:p>
                <a:r>
                  <a:rPr lang="en-US" altLang="ko-KR" sz="2400" dirty="0"/>
                  <a:t>Received data</a:t>
                </a:r>
              </a:p>
              <a:p>
                <a:endParaRPr lang="en-US" altLang="ko-KR" sz="24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u="none" strike="noStrike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u="none" strike="noStrike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u="none" strike="noStrike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 lvl="1"/>
                <a:endParaRPr lang="en-US" altLang="ko-KR" dirty="0"/>
              </a:p>
              <a:p>
                <a:r>
                  <a:rPr lang="en-US" altLang="ko-KR" sz="2400" dirty="0"/>
                  <a:t>Checking and correcting</a:t>
                </a:r>
              </a:p>
              <a:p>
                <a:endParaRPr lang="en-US" altLang="ko-KR" sz="24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ko-KR" altLang="en-US" dirty="0"/>
                  <a:t>⊕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ko-KR" altLang="en-US" dirty="0"/>
                  <a:t>⊕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ko-KR" altLang="en-US" dirty="0"/>
                  <a:t>⊕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dirty="0"/>
                  <a:t>⊕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ko-KR" altLang="en-US" dirty="0"/>
                  <a:t>⊕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ko-KR" altLang="en-US" dirty="0"/>
                  <a:t>⊕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dirty="0"/>
                  <a:t>⊕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ko-KR" altLang="en-US" dirty="0"/>
                  <a:t>⊕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ko-KR" altLang="en-US" dirty="0"/>
                  <a:t>⊕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01C1479-668B-CBCC-7C33-540A0E54E8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8315036" cy="4802187"/>
              </a:xfrm>
              <a:blipFill>
                <a:blip r:embed="rId2"/>
                <a:stretch>
                  <a:fillRect l="-1026" t="-17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4">
                <a:extLst>
                  <a:ext uri="{FF2B5EF4-FFF2-40B4-BE49-F238E27FC236}">
                    <a16:creationId xmlns:a16="http://schemas.microsoft.com/office/drawing/2014/main" id="{BDC5031B-B47D-B1D7-2A82-98B101D2ADB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544192" y="1074549"/>
              <a:ext cx="2809608" cy="3291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1267">
                      <a:extLst>
                        <a:ext uri="{9D8B030D-6E8A-4147-A177-3AD203B41FA5}">
                          <a16:colId xmlns:a16="http://schemas.microsoft.com/office/drawing/2014/main" val="1494305697"/>
                        </a:ext>
                      </a:extLst>
                    </a:gridCol>
                    <a:gridCol w="481267">
                      <a:extLst>
                        <a:ext uri="{9D8B030D-6E8A-4147-A177-3AD203B41FA5}">
                          <a16:colId xmlns:a16="http://schemas.microsoft.com/office/drawing/2014/main" val="1579650773"/>
                        </a:ext>
                      </a:extLst>
                    </a:gridCol>
                    <a:gridCol w="475996">
                      <a:extLst>
                        <a:ext uri="{9D8B030D-6E8A-4147-A177-3AD203B41FA5}">
                          <a16:colId xmlns:a16="http://schemas.microsoft.com/office/drawing/2014/main" val="2814648650"/>
                        </a:ext>
                      </a:extLst>
                    </a:gridCol>
                    <a:gridCol w="1371078">
                      <a:extLst>
                        <a:ext uri="{9D8B030D-6E8A-4147-A177-3AD203B41FA5}">
                          <a16:colId xmlns:a16="http://schemas.microsoft.com/office/drawing/2014/main" val="894081053"/>
                        </a:ext>
                      </a:extLst>
                    </a:gridCol>
                  </a:tblGrid>
                  <a:tr h="34379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800" b="0" i="0" smtClean="0">
                                        <a:latin typeface="Cambria Math" panose="02040503050406030204" pitchFamily="18" charset="0"/>
                                      </a:rPr>
                                      <m:t>e</m:t>
                                    </m:r>
                                  </m:e>
                                  <m:sub>
                                    <m:r>
                                      <a:rPr lang="en-US" altLang="ko-KR" sz="1800" b="0" i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800" b="0" i="0" smtClean="0">
                                        <a:latin typeface="Cambria Math" panose="02040503050406030204" pitchFamily="18" charset="0"/>
                                      </a:rPr>
                                      <m:t>e</m:t>
                                    </m:r>
                                  </m:e>
                                  <m:sub>
                                    <m:r>
                                      <a:rPr lang="en-US" altLang="ko-KR" sz="1800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800" b="0" i="0" smtClean="0">
                                        <a:latin typeface="Cambria Math" panose="02040503050406030204" pitchFamily="18" charset="0"/>
                                      </a:rPr>
                                      <m:t>e</m:t>
                                    </m:r>
                                  </m:e>
                                  <m:sub>
                                    <m:r>
                                      <a:rPr lang="en-US" altLang="ko-KR" sz="1800" b="0" i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Error bit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63677294"/>
                      </a:ext>
                    </a:extLst>
                  </a:tr>
                  <a:tr h="34856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No</a:t>
                          </a:r>
                          <a:r>
                            <a:rPr lang="ko-KR" altLang="en-US" dirty="0"/>
                            <a:t> </a:t>
                          </a:r>
                          <a:r>
                            <a:rPr lang="en-US" altLang="ko-KR" dirty="0"/>
                            <a:t>error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84423541"/>
                      </a:ext>
                    </a:extLst>
                  </a:tr>
                  <a:tr h="34856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i="1" u="none" strike="noStrike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u="none" strike="noStrike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b="0" i="1" u="none" strike="noStrike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08169953"/>
                      </a:ext>
                    </a:extLst>
                  </a:tr>
                  <a:tr h="34856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0997458"/>
                      </a:ext>
                    </a:extLst>
                  </a:tr>
                  <a:tr h="34856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37416095"/>
                      </a:ext>
                    </a:extLst>
                  </a:tr>
                  <a:tr h="354207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229825"/>
                      </a:ext>
                    </a:extLst>
                  </a:tr>
                  <a:tr h="34856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945871"/>
                      </a:ext>
                    </a:extLst>
                  </a:tr>
                  <a:tr h="34856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4207253"/>
                      </a:ext>
                    </a:extLst>
                  </a:tr>
                  <a:tr h="34856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114485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4">
                <a:extLst>
                  <a:ext uri="{FF2B5EF4-FFF2-40B4-BE49-F238E27FC236}">
                    <a16:creationId xmlns:a16="http://schemas.microsoft.com/office/drawing/2014/main" id="{BDC5031B-B47D-B1D7-2A82-98B101D2AD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2477306"/>
                  </p:ext>
                </p:extLst>
              </p:nvPr>
            </p:nvGraphicFramePr>
            <p:xfrm>
              <a:off x="8544192" y="1074549"/>
              <a:ext cx="2809608" cy="3291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1267">
                      <a:extLst>
                        <a:ext uri="{9D8B030D-6E8A-4147-A177-3AD203B41FA5}">
                          <a16:colId xmlns:a16="http://schemas.microsoft.com/office/drawing/2014/main" val="1494305697"/>
                        </a:ext>
                      </a:extLst>
                    </a:gridCol>
                    <a:gridCol w="481267">
                      <a:extLst>
                        <a:ext uri="{9D8B030D-6E8A-4147-A177-3AD203B41FA5}">
                          <a16:colId xmlns:a16="http://schemas.microsoft.com/office/drawing/2014/main" val="1579650773"/>
                        </a:ext>
                      </a:extLst>
                    </a:gridCol>
                    <a:gridCol w="475996">
                      <a:extLst>
                        <a:ext uri="{9D8B030D-6E8A-4147-A177-3AD203B41FA5}">
                          <a16:colId xmlns:a16="http://schemas.microsoft.com/office/drawing/2014/main" val="2814648650"/>
                        </a:ext>
                      </a:extLst>
                    </a:gridCol>
                    <a:gridCol w="1371078">
                      <a:extLst>
                        <a:ext uri="{9D8B030D-6E8A-4147-A177-3AD203B41FA5}">
                          <a16:colId xmlns:a16="http://schemas.microsoft.com/office/drawing/2014/main" val="894081053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266" t="-8333" r="-489873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01266" t="-8333" r="-389873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201266" t="-8333" r="-289873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Error bit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6367729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No</a:t>
                          </a:r>
                          <a:r>
                            <a:rPr lang="ko-KR" altLang="en-US" dirty="0"/>
                            <a:t> </a:t>
                          </a:r>
                          <a:r>
                            <a:rPr lang="en-US" altLang="ko-KR" dirty="0"/>
                            <a:t>error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8442354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05778" t="-208333" r="-1778" b="-6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0816995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05778" t="-308333" r="-1778" b="-5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099745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05778" t="-401639" r="-1778" b="-4180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741609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05778" t="-510000" r="-1778" b="-3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0022982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05778" t="-610000" r="-1778" b="-2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94587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05778" t="-710000" r="-1778" b="-1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420725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05778" t="-810000" r="-1778" b="-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1144856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순서도: 연결자 4">
                <a:extLst>
                  <a:ext uri="{FF2B5EF4-FFF2-40B4-BE49-F238E27FC236}">
                    <a16:creationId xmlns:a16="http://schemas.microsoft.com/office/drawing/2014/main" id="{EB6221B3-C61F-46DE-E9C9-3B28E6295879}"/>
                  </a:ext>
                </a:extLst>
              </p:cNvPr>
              <p:cNvSpPr/>
              <p:nvPr/>
            </p:nvSpPr>
            <p:spPr>
              <a:xfrm>
                <a:off x="5874327" y="4650479"/>
                <a:ext cx="360219" cy="378691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u="none" strike="noStrike" kern="12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u="none" strike="noStrike" kern="12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ko-KR" b="0" i="1" u="none" strike="noStrike" kern="12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b="0" i="1" u="none" strike="noStrike" kern="12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순서도: 연결자 4">
                <a:extLst>
                  <a:ext uri="{FF2B5EF4-FFF2-40B4-BE49-F238E27FC236}">
                    <a16:creationId xmlns:a16="http://schemas.microsoft.com/office/drawing/2014/main" id="{EB6221B3-C61F-46DE-E9C9-3B28E62958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4327" y="4650479"/>
                <a:ext cx="360219" cy="378691"/>
              </a:xfrm>
              <a:prstGeom prst="flowChartConnector">
                <a:avLst/>
              </a:prstGeom>
              <a:blipFill>
                <a:blip r:embed="rId4"/>
                <a:stretch>
                  <a:fillRect l="-65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순서도: 연결자 5">
                <a:extLst>
                  <a:ext uri="{FF2B5EF4-FFF2-40B4-BE49-F238E27FC236}">
                    <a16:creationId xmlns:a16="http://schemas.microsoft.com/office/drawing/2014/main" id="{30A3761D-278A-5454-7D13-19FA9129E0BB}"/>
                  </a:ext>
                </a:extLst>
              </p:cNvPr>
              <p:cNvSpPr/>
              <p:nvPr/>
            </p:nvSpPr>
            <p:spPr>
              <a:xfrm>
                <a:off x="6433126" y="4650479"/>
                <a:ext cx="360219" cy="378691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u="none" strike="noStrike" kern="12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u="none" strike="noStrike" kern="12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ko-KR" b="0" i="1" u="none" strike="noStrike" kern="12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b="0" i="1" u="none" strike="noStrike" kern="12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순서도: 연결자 5">
                <a:extLst>
                  <a:ext uri="{FF2B5EF4-FFF2-40B4-BE49-F238E27FC236}">
                    <a16:creationId xmlns:a16="http://schemas.microsoft.com/office/drawing/2014/main" id="{30A3761D-278A-5454-7D13-19FA9129E0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3126" y="4650479"/>
                <a:ext cx="360219" cy="378691"/>
              </a:xfrm>
              <a:prstGeom prst="flowChartConnector">
                <a:avLst/>
              </a:prstGeom>
              <a:blipFill>
                <a:blip r:embed="rId5"/>
                <a:stretch>
                  <a:fillRect l="-65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순서도: 연결자 6">
                <a:extLst>
                  <a:ext uri="{FF2B5EF4-FFF2-40B4-BE49-F238E27FC236}">
                    <a16:creationId xmlns:a16="http://schemas.microsoft.com/office/drawing/2014/main" id="{85C56A4B-8D26-AFB3-3060-91EB8174CFAF}"/>
                  </a:ext>
                </a:extLst>
              </p:cNvPr>
              <p:cNvSpPr/>
              <p:nvPr/>
            </p:nvSpPr>
            <p:spPr>
              <a:xfrm>
                <a:off x="6991925" y="4650478"/>
                <a:ext cx="360219" cy="378691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u="none" strike="noStrike" kern="12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u="none" strike="noStrike" kern="12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ko-KR" b="0" i="1" u="none" strike="noStrike" kern="12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b="0" i="1" u="none" strike="noStrike" kern="12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순서도: 연결자 6">
                <a:extLst>
                  <a:ext uri="{FF2B5EF4-FFF2-40B4-BE49-F238E27FC236}">
                    <a16:creationId xmlns:a16="http://schemas.microsoft.com/office/drawing/2014/main" id="{85C56A4B-8D26-AFB3-3060-91EB8174CF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1925" y="4650478"/>
                <a:ext cx="360219" cy="378691"/>
              </a:xfrm>
              <a:prstGeom prst="flowChartConnector">
                <a:avLst/>
              </a:prstGeom>
              <a:blipFill>
                <a:blip r:embed="rId6"/>
                <a:stretch>
                  <a:fillRect l="-81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순서도: 연결자 7">
                <a:extLst>
                  <a:ext uri="{FF2B5EF4-FFF2-40B4-BE49-F238E27FC236}">
                    <a16:creationId xmlns:a16="http://schemas.microsoft.com/office/drawing/2014/main" id="{D80EBF2B-2225-5814-D54E-3C55E2324F00}"/>
                  </a:ext>
                </a:extLst>
              </p:cNvPr>
              <p:cNvSpPr/>
              <p:nvPr/>
            </p:nvSpPr>
            <p:spPr>
              <a:xfrm>
                <a:off x="7550724" y="4650477"/>
                <a:ext cx="360219" cy="378691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u="none" strike="noStrike" kern="12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u="none" strike="noStrike" kern="12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ko-KR" b="0" i="1" u="none" strike="noStrike" kern="12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b="0" i="1" u="none" strike="noStrike" kern="12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순서도: 연결자 7">
                <a:extLst>
                  <a:ext uri="{FF2B5EF4-FFF2-40B4-BE49-F238E27FC236}">
                    <a16:creationId xmlns:a16="http://schemas.microsoft.com/office/drawing/2014/main" id="{D80EBF2B-2225-5814-D54E-3C55E2324F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0724" y="4650477"/>
                <a:ext cx="360219" cy="378691"/>
              </a:xfrm>
              <a:prstGeom prst="flowChartConnector">
                <a:avLst/>
              </a:prstGeom>
              <a:blipFill>
                <a:blip r:embed="rId7"/>
                <a:stretch>
                  <a:fillRect l="-81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순서도: 연결자 8">
                <a:extLst>
                  <a:ext uri="{FF2B5EF4-FFF2-40B4-BE49-F238E27FC236}">
                    <a16:creationId xmlns:a16="http://schemas.microsoft.com/office/drawing/2014/main" id="{21F5799B-BD73-C318-43A6-634EE5C96F6A}"/>
                  </a:ext>
                </a:extLst>
              </p:cNvPr>
              <p:cNvSpPr/>
              <p:nvPr/>
            </p:nvSpPr>
            <p:spPr>
              <a:xfrm>
                <a:off x="8109523" y="4650477"/>
                <a:ext cx="360219" cy="378691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u="none" strike="noStrike" kern="12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u="none" strike="noStrike" kern="12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ko-KR" b="0" i="1" u="none" strike="noStrike" kern="12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b="0" i="1" u="none" strike="noStrike" kern="12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순서도: 연결자 8">
                <a:extLst>
                  <a:ext uri="{FF2B5EF4-FFF2-40B4-BE49-F238E27FC236}">
                    <a16:creationId xmlns:a16="http://schemas.microsoft.com/office/drawing/2014/main" id="{21F5799B-BD73-C318-43A6-634EE5C96F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9523" y="4650477"/>
                <a:ext cx="360219" cy="378691"/>
              </a:xfrm>
              <a:prstGeom prst="flowChartConnector">
                <a:avLst/>
              </a:prstGeom>
              <a:blipFill>
                <a:blip r:embed="rId8"/>
                <a:stretch>
                  <a:fillRect l="-65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순서도: 연결자 9">
                <a:extLst>
                  <a:ext uri="{FF2B5EF4-FFF2-40B4-BE49-F238E27FC236}">
                    <a16:creationId xmlns:a16="http://schemas.microsoft.com/office/drawing/2014/main" id="{63F657C2-2667-127B-694D-F058C0FE0636}"/>
                  </a:ext>
                </a:extLst>
              </p:cNvPr>
              <p:cNvSpPr/>
              <p:nvPr/>
            </p:nvSpPr>
            <p:spPr>
              <a:xfrm>
                <a:off x="8668322" y="4650477"/>
                <a:ext cx="360219" cy="378691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u="none" strike="noStrike" kern="12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u="none" strike="noStrike" kern="12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ko-KR" b="0" i="1" u="none" strike="noStrike" kern="12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b="0" i="1" u="none" strike="noStrike" kern="12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순서도: 연결자 9">
                <a:extLst>
                  <a:ext uri="{FF2B5EF4-FFF2-40B4-BE49-F238E27FC236}">
                    <a16:creationId xmlns:a16="http://schemas.microsoft.com/office/drawing/2014/main" id="{63F657C2-2667-127B-694D-F058C0FE06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8322" y="4650477"/>
                <a:ext cx="360219" cy="378691"/>
              </a:xfrm>
              <a:prstGeom prst="flowChartConnector">
                <a:avLst/>
              </a:prstGeom>
              <a:blipFill>
                <a:blip r:embed="rId9"/>
                <a:stretch>
                  <a:fillRect l="-81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순서도: 연결자 10">
                <a:extLst>
                  <a:ext uri="{FF2B5EF4-FFF2-40B4-BE49-F238E27FC236}">
                    <a16:creationId xmlns:a16="http://schemas.microsoft.com/office/drawing/2014/main" id="{21756C19-20DA-1A9D-69CC-374BC2D8F415}"/>
                  </a:ext>
                </a:extLst>
              </p:cNvPr>
              <p:cNvSpPr/>
              <p:nvPr/>
            </p:nvSpPr>
            <p:spPr>
              <a:xfrm>
                <a:off x="9229434" y="4650476"/>
                <a:ext cx="360219" cy="378691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u="none" strike="noStrike" kern="12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u="none" strike="noStrike" kern="12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ko-KR" b="0" i="1" u="none" strike="noStrike" kern="12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b="0" i="1" u="none" strike="noStrike" kern="12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순서도: 연결자 10">
                <a:extLst>
                  <a:ext uri="{FF2B5EF4-FFF2-40B4-BE49-F238E27FC236}">
                    <a16:creationId xmlns:a16="http://schemas.microsoft.com/office/drawing/2014/main" id="{21756C19-20DA-1A9D-69CC-374BC2D8F4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9434" y="4650476"/>
                <a:ext cx="360219" cy="378691"/>
              </a:xfrm>
              <a:prstGeom prst="flowChartConnector">
                <a:avLst/>
              </a:prstGeom>
              <a:blipFill>
                <a:blip r:embed="rId10"/>
                <a:stretch>
                  <a:fillRect l="-81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63CF642F-7CF7-F7EF-2EC3-A83D69CB7A7F}"/>
              </a:ext>
            </a:extLst>
          </p:cNvPr>
          <p:cNvCxnSpPr>
            <a:cxnSpLocks/>
            <a:endCxn id="29" idx="2"/>
          </p:cNvCxnSpPr>
          <p:nvPr/>
        </p:nvCxnSpPr>
        <p:spPr>
          <a:xfrm>
            <a:off x="7731115" y="4838457"/>
            <a:ext cx="2672218" cy="457232"/>
          </a:xfrm>
          <a:prstGeom prst="bentConnector3">
            <a:avLst>
              <a:gd name="adj1" fmla="val -46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0428FE52-8C3D-D016-EDBD-C13837FBCBD4}"/>
              </a:ext>
            </a:extLst>
          </p:cNvPr>
          <p:cNvCxnSpPr>
            <a:cxnSpLocks/>
            <a:stCxn id="9" idx="4"/>
          </p:cNvCxnSpPr>
          <p:nvPr/>
        </p:nvCxnSpPr>
        <p:spPr>
          <a:xfrm>
            <a:off x="8289633" y="5029168"/>
            <a:ext cx="281" cy="2665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5B9E443-1A97-A7DA-FBE8-34D938990EE9}"/>
              </a:ext>
            </a:extLst>
          </p:cNvPr>
          <p:cNvCxnSpPr>
            <a:cxnSpLocks/>
          </p:cNvCxnSpPr>
          <p:nvPr/>
        </p:nvCxnSpPr>
        <p:spPr>
          <a:xfrm flipH="1">
            <a:off x="8848431" y="4800583"/>
            <a:ext cx="4616" cy="4951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118CE3E7-9BBB-1D78-BE03-7222813D58E9}"/>
              </a:ext>
            </a:extLst>
          </p:cNvPr>
          <p:cNvCxnSpPr>
            <a:cxnSpLocks/>
          </p:cNvCxnSpPr>
          <p:nvPr/>
        </p:nvCxnSpPr>
        <p:spPr>
          <a:xfrm>
            <a:off x="9429173" y="5029166"/>
            <a:ext cx="0" cy="2665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순서도: 연결자 28">
                <a:extLst>
                  <a:ext uri="{FF2B5EF4-FFF2-40B4-BE49-F238E27FC236}">
                    <a16:creationId xmlns:a16="http://schemas.microsoft.com/office/drawing/2014/main" id="{4A331096-C1F0-A11A-C8DA-E893EDF0AE3D}"/>
                  </a:ext>
                </a:extLst>
              </p:cNvPr>
              <p:cNvSpPr/>
              <p:nvPr/>
            </p:nvSpPr>
            <p:spPr>
              <a:xfrm>
                <a:off x="10403333" y="5106343"/>
                <a:ext cx="360219" cy="378691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u="none" strike="noStrike" kern="12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u="none" strike="noStrike" kern="12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ko-KR" b="0" i="1" u="none" strike="noStrike" kern="12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ko-KR" b="0" i="1" u="none" strike="noStrike" kern="12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순서도: 연결자 28">
                <a:extLst>
                  <a:ext uri="{FF2B5EF4-FFF2-40B4-BE49-F238E27FC236}">
                    <a16:creationId xmlns:a16="http://schemas.microsoft.com/office/drawing/2014/main" id="{4A331096-C1F0-A11A-C8DA-E893EDF0AE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3333" y="5106343"/>
                <a:ext cx="360219" cy="378691"/>
              </a:xfrm>
              <a:prstGeom prst="flowChartConnector">
                <a:avLst/>
              </a:prstGeom>
              <a:blipFill>
                <a:blip r:embed="rId11"/>
                <a:stretch>
                  <a:fillRect l="-491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FB2B937F-2449-7EE9-7769-0D562B6D3DDB}"/>
              </a:ext>
            </a:extLst>
          </p:cNvPr>
          <p:cNvCxnSpPr>
            <a:cxnSpLocks/>
          </p:cNvCxnSpPr>
          <p:nvPr/>
        </p:nvCxnSpPr>
        <p:spPr>
          <a:xfrm>
            <a:off x="7199743" y="5029166"/>
            <a:ext cx="0" cy="7223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45BBAA32-DD73-C7A9-3EC4-48E95C597762}"/>
              </a:ext>
            </a:extLst>
          </p:cNvPr>
          <p:cNvCxnSpPr>
            <a:cxnSpLocks/>
            <a:stCxn id="6" idx="4"/>
            <a:endCxn id="55" idx="2"/>
          </p:cNvCxnSpPr>
          <p:nvPr/>
        </p:nvCxnSpPr>
        <p:spPr>
          <a:xfrm rot="16200000" flipH="1">
            <a:off x="8147093" y="3495313"/>
            <a:ext cx="722382" cy="3790096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순서도: 연결자 54">
                <a:extLst>
                  <a:ext uri="{FF2B5EF4-FFF2-40B4-BE49-F238E27FC236}">
                    <a16:creationId xmlns:a16="http://schemas.microsoft.com/office/drawing/2014/main" id="{C826D4B9-7AA5-85CB-EE85-785D843853B8}"/>
                  </a:ext>
                </a:extLst>
              </p:cNvPr>
              <p:cNvSpPr/>
              <p:nvPr/>
            </p:nvSpPr>
            <p:spPr>
              <a:xfrm>
                <a:off x="10403332" y="5562206"/>
                <a:ext cx="360219" cy="378691"/>
              </a:xfrm>
              <a:prstGeom prst="flowChartConnector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u="none" strike="noStrike" kern="12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u="none" strike="noStrike" kern="12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ko-KR" b="0" i="1" u="none" strike="noStrike" kern="12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ko-KR" b="0" i="1" u="none" strike="noStrike" kern="12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5" name="순서도: 연결자 54">
                <a:extLst>
                  <a:ext uri="{FF2B5EF4-FFF2-40B4-BE49-F238E27FC236}">
                    <a16:creationId xmlns:a16="http://schemas.microsoft.com/office/drawing/2014/main" id="{C826D4B9-7AA5-85CB-EE85-785D843853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3332" y="5562206"/>
                <a:ext cx="360219" cy="378691"/>
              </a:xfrm>
              <a:prstGeom prst="flowChartConnector">
                <a:avLst/>
              </a:prstGeom>
              <a:blipFill>
                <a:blip r:embed="rId12"/>
                <a:stretch>
                  <a:fillRect l="-4918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연결선: 꺾임 64">
            <a:extLst>
              <a:ext uri="{FF2B5EF4-FFF2-40B4-BE49-F238E27FC236}">
                <a16:creationId xmlns:a16="http://schemas.microsoft.com/office/drawing/2014/main" id="{3ED68C66-4ED1-EE0D-12AC-56D4ECB8FE8F}"/>
              </a:ext>
            </a:extLst>
          </p:cNvPr>
          <p:cNvCxnSpPr>
            <a:cxnSpLocks/>
            <a:stCxn id="5" idx="4"/>
          </p:cNvCxnSpPr>
          <p:nvPr/>
        </p:nvCxnSpPr>
        <p:spPr>
          <a:xfrm rot="16200000" flipH="1">
            <a:off x="7615471" y="3468135"/>
            <a:ext cx="1226827" cy="4348895"/>
          </a:xfrm>
          <a:prstGeom prst="bentConnector2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순서도: 연결자 75">
            <a:extLst>
              <a:ext uri="{FF2B5EF4-FFF2-40B4-BE49-F238E27FC236}">
                <a16:creationId xmlns:a16="http://schemas.microsoft.com/office/drawing/2014/main" id="{B7491A6F-5000-64F3-3CC9-08C7B71AEFB5}"/>
              </a:ext>
            </a:extLst>
          </p:cNvPr>
          <p:cNvSpPr/>
          <p:nvPr/>
        </p:nvSpPr>
        <p:spPr>
          <a:xfrm>
            <a:off x="7669531" y="5253064"/>
            <a:ext cx="88731" cy="85248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순서도: 연결자 77">
            <a:extLst>
              <a:ext uri="{FF2B5EF4-FFF2-40B4-BE49-F238E27FC236}">
                <a16:creationId xmlns:a16="http://schemas.microsoft.com/office/drawing/2014/main" id="{F3922AFE-B7A5-7058-50EE-7AC9D5BFEE09}"/>
              </a:ext>
            </a:extLst>
          </p:cNvPr>
          <p:cNvSpPr/>
          <p:nvPr/>
        </p:nvSpPr>
        <p:spPr>
          <a:xfrm>
            <a:off x="8245266" y="5260031"/>
            <a:ext cx="88731" cy="85248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순서도: 연결자 78">
            <a:extLst>
              <a:ext uri="{FF2B5EF4-FFF2-40B4-BE49-F238E27FC236}">
                <a16:creationId xmlns:a16="http://schemas.microsoft.com/office/drawing/2014/main" id="{352FBA60-07FB-DA92-F0F6-D7774545CD79}"/>
              </a:ext>
            </a:extLst>
          </p:cNvPr>
          <p:cNvSpPr/>
          <p:nvPr/>
        </p:nvSpPr>
        <p:spPr>
          <a:xfrm>
            <a:off x="8803784" y="5248314"/>
            <a:ext cx="88731" cy="85248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순서도: 연결자 79">
            <a:extLst>
              <a:ext uri="{FF2B5EF4-FFF2-40B4-BE49-F238E27FC236}">
                <a16:creationId xmlns:a16="http://schemas.microsoft.com/office/drawing/2014/main" id="{E380C023-7560-F7B8-6227-B16027FC8306}"/>
              </a:ext>
            </a:extLst>
          </p:cNvPr>
          <p:cNvSpPr/>
          <p:nvPr/>
        </p:nvSpPr>
        <p:spPr>
          <a:xfrm>
            <a:off x="9384418" y="5260031"/>
            <a:ext cx="88731" cy="85248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순서도: 연결자 80">
            <a:extLst>
              <a:ext uri="{FF2B5EF4-FFF2-40B4-BE49-F238E27FC236}">
                <a16:creationId xmlns:a16="http://schemas.microsoft.com/office/drawing/2014/main" id="{2D9A5DEB-4AFC-8CF9-754F-F6DFAF3548E9}"/>
              </a:ext>
            </a:extLst>
          </p:cNvPr>
          <p:cNvSpPr/>
          <p:nvPr/>
        </p:nvSpPr>
        <p:spPr>
          <a:xfrm>
            <a:off x="6566068" y="5702860"/>
            <a:ext cx="88731" cy="85248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순서도: 연결자 82">
            <a:extLst>
              <a:ext uri="{FF2B5EF4-FFF2-40B4-BE49-F238E27FC236}">
                <a16:creationId xmlns:a16="http://schemas.microsoft.com/office/drawing/2014/main" id="{621F660C-15F4-B69D-B15F-32EB9BCA8A6C}"/>
              </a:ext>
            </a:extLst>
          </p:cNvPr>
          <p:cNvSpPr/>
          <p:nvPr/>
        </p:nvSpPr>
        <p:spPr>
          <a:xfrm>
            <a:off x="7155377" y="5702860"/>
            <a:ext cx="88731" cy="85248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순서도: 연결자 83">
            <a:extLst>
              <a:ext uri="{FF2B5EF4-FFF2-40B4-BE49-F238E27FC236}">
                <a16:creationId xmlns:a16="http://schemas.microsoft.com/office/drawing/2014/main" id="{99892867-2D04-02BE-D4F4-ACF42BA83E09}"/>
              </a:ext>
            </a:extLst>
          </p:cNvPr>
          <p:cNvSpPr/>
          <p:nvPr/>
        </p:nvSpPr>
        <p:spPr>
          <a:xfrm>
            <a:off x="8803783" y="5702860"/>
            <a:ext cx="88731" cy="85248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순서도: 연결자 84">
            <a:extLst>
              <a:ext uri="{FF2B5EF4-FFF2-40B4-BE49-F238E27FC236}">
                <a16:creationId xmlns:a16="http://schemas.microsoft.com/office/drawing/2014/main" id="{839661EC-874B-3056-358C-54A47E73C81E}"/>
              </a:ext>
            </a:extLst>
          </p:cNvPr>
          <p:cNvSpPr/>
          <p:nvPr/>
        </p:nvSpPr>
        <p:spPr>
          <a:xfrm>
            <a:off x="9389110" y="5702860"/>
            <a:ext cx="88731" cy="85248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순서도: 연결자 85">
            <a:extLst>
              <a:ext uri="{FF2B5EF4-FFF2-40B4-BE49-F238E27FC236}">
                <a16:creationId xmlns:a16="http://schemas.microsoft.com/office/drawing/2014/main" id="{53DA0C75-C8F4-4E4A-BC4D-43F2CE36C742}"/>
              </a:ext>
            </a:extLst>
          </p:cNvPr>
          <p:cNvSpPr/>
          <p:nvPr/>
        </p:nvSpPr>
        <p:spPr>
          <a:xfrm>
            <a:off x="6000337" y="6194045"/>
            <a:ext cx="88731" cy="85248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순서도: 연결자 86">
            <a:extLst>
              <a:ext uri="{FF2B5EF4-FFF2-40B4-BE49-F238E27FC236}">
                <a16:creationId xmlns:a16="http://schemas.microsoft.com/office/drawing/2014/main" id="{E961E694-4AF4-7387-DE9B-30889D4B0E5D}"/>
              </a:ext>
            </a:extLst>
          </p:cNvPr>
          <p:cNvSpPr/>
          <p:nvPr/>
        </p:nvSpPr>
        <p:spPr>
          <a:xfrm>
            <a:off x="7155376" y="6194045"/>
            <a:ext cx="88731" cy="85248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순서도: 연결자 87">
            <a:extLst>
              <a:ext uri="{FF2B5EF4-FFF2-40B4-BE49-F238E27FC236}">
                <a16:creationId xmlns:a16="http://schemas.microsoft.com/office/drawing/2014/main" id="{8B1B4DC9-2866-C3C8-CC0C-211B2090B526}"/>
              </a:ext>
            </a:extLst>
          </p:cNvPr>
          <p:cNvSpPr/>
          <p:nvPr/>
        </p:nvSpPr>
        <p:spPr>
          <a:xfrm>
            <a:off x="8239810" y="6195540"/>
            <a:ext cx="88731" cy="85248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순서도: 연결자 88">
            <a:extLst>
              <a:ext uri="{FF2B5EF4-FFF2-40B4-BE49-F238E27FC236}">
                <a16:creationId xmlns:a16="http://schemas.microsoft.com/office/drawing/2014/main" id="{0D974F21-67E2-FE5B-7A5E-33679875DCB8}"/>
              </a:ext>
            </a:extLst>
          </p:cNvPr>
          <p:cNvSpPr/>
          <p:nvPr/>
        </p:nvSpPr>
        <p:spPr>
          <a:xfrm>
            <a:off x="9394849" y="6194045"/>
            <a:ext cx="88731" cy="85248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순서도: 연결자 90">
                <a:extLst>
                  <a:ext uri="{FF2B5EF4-FFF2-40B4-BE49-F238E27FC236}">
                    <a16:creationId xmlns:a16="http://schemas.microsoft.com/office/drawing/2014/main" id="{92E28E0E-BBF0-E8B1-FE47-478AB27D3EF7}"/>
                  </a:ext>
                </a:extLst>
              </p:cNvPr>
              <p:cNvSpPr/>
              <p:nvPr/>
            </p:nvSpPr>
            <p:spPr>
              <a:xfrm>
                <a:off x="10398713" y="6068016"/>
                <a:ext cx="360219" cy="378691"/>
              </a:xfrm>
              <a:prstGeom prst="flowChartConnector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u="none" strike="noStrike" kern="12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u="none" strike="noStrike" kern="12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ko-KR" b="0" i="1" u="none" strike="noStrike" kern="12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ko-KR" b="0" i="1" u="none" strike="noStrike" kern="12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1" name="순서도: 연결자 90">
                <a:extLst>
                  <a:ext uri="{FF2B5EF4-FFF2-40B4-BE49-F238E27FC236}">
                    <a16:creationId xmlns:a16="http://schemas.microsoft.com/office/drawing/2014/main" id="{92E28E0E-BBF0-E8B1-FE47-478AB27D3E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8713" y="6068016"/>
                <a:ext cx="360219" cy="378691"/>
              </a:xfrm>
              <a:prstGeom prst="flowChartConnector">
                <a:avLst/>
              </a:prstGeom>
              <a:blipFill>
                <a:blip r:embed="rId13"/>
                <a:stretch>
                  <a:fillRect l="-491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8731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1AFB54-9F71-E6F0-1021-9B5B9D62A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Hamming</a:t>
            </a:r>
            <a:r>
              <a:rPr lang="ko-KR" altLang="en-US" dirty="0"/>
              <a:t> </a:t>
            </a:r>
            <a:r>
              <a:rPr lang="en-US" altLang="ko-KR" dirty="0"/>
              <a:t>words example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9A4AF5-419E-AC4A-3DDB-E3208EAD8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Ex1) Received : 0010011</a:t>
            </a:r>
          </a:p>
          <a:p>
            <a:endParaRPr lang="en-US" altLang="ko-KR" dirty="0"/>
          </a:p>
          <a:p>
            <a:pPr lvl="1"/>
            <a:r>
              <a:rPr lang="en-US" altLang="ko-KR" dirty="0"/>
              <a:t>e4=0	e2=1	  e1=0</a:t>
            </a:r>
          </a:p>
          <a:p>
            <a:pPr lvl="1"/>
            <a:r>
              <a:rPr lang="en-US" altLang="ko-KR" dirty="0"/>
              <a:t>Bit 2 (Check bit) error -&gt; a2 = 1</a:t>
            </a:r>
          </a:p>
          <a:p>
            <a:pPr lvl="1"/>
            <a:r>
              <a:rPr lang="en-US" altLang="ko-KR" dirty="0"/>
              <a:t>Correct word : 0110011, Corrected data : 1011</a:t>
            </a:r>
          </a:p>
          <a:p>
            <a:endParaRPr lang="en-US" altLang="ko-KR" dirty="0"/>
          </a:p>
          <a:p>
            <a:r>
              <a:rPr lang="en-US" altLang="ko-KR" dirty="0"/>
              <a:t>Ex2) Received : 1101101</a:t>
            </a:r>
          </a:p>
          <a:p>
            <a:endParaRPr lang="en-US" altLang="ko-KR" dirty="0"/>
          </a:p>
          <a:p>
            <a:pPr lvl="1"/>
            <a:r>
              <a:rPr lang="en-US" altLang="ko-KR" dirty="0"/>
              <a:t>e4=1	e2=0	  e1=1</a:t>
            </a:r>
          </a:p>
          <a:p>
            <a:pPr lvl="1"/>
            <a:r>
              <a:rPr lang="en-US" altLang="ko-KR" dirty="0"/>
              <a:t>Bit 5 error -&gt; a5 = 0</a:t>
            </a:r>
          </a:p>
          <a:p>
            <a:pPr lvl="1"/>
            <a:r>
              <a:rPr lang="en-US" altLang="ko-KR" dirty="0"/>
              <a:t>Correct word : 1101001, Corrected data : 0001</a:t>
            </a:r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72285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4">
                <a:extLst>
                  <a:ext uri="{FF2B5EF4-FFF2-40B4-BE49-F238E27FC236}">
                    <a16:creationId xmlns:a16="http://schemas.microsoft.com/office/drawing/2014/main" id="{FF768186-AFA6-3794-E723-7EAC369C024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159164" y="320040"/>
              <a:ext cx="9873672" cy="6217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34209">
                      <a:extLst>
                        <a:ext uri="{9D8B030D-6E8A-4147-A177-3AD203B41FA5}">
                          <a16:colId xmlns:a16="http://schemas.microsoft.com/office/drawing/2014/main" val="97013955"/>
                        </a:ext>
                      </a:extLst>
                    </a:gridCol>
                    <a:gridCol w="1234209">
                      <a:extLst>
                        <a:ext uri="{9D8B030D-6E8A-4147-A177-3AD203B41FA5}">
                          <a16:colId xmlns:a16="http://schemas.microsoft.com/office/drawing/2014/main" val="2807506318"/>
                        </a:ext>
                      </a:extLst>
                    </a:gridCol>
                    <a:gridCol w="1234209">
                      <a:extLst>
                        <a:ext uri="{9D8B030D-6E8A-4147-A177-3AD203B41FA5}">
                          <a16:colId xmlns:a16="http://schemas.microsoft.com/office/drawing/2014/main" val="2885851697"/>
                        </a:ext>
                      </a:extLst>
                    </a:gridCol>
                    <a:gridCol w="1234209">
                      <a:extLst>
                        <a:ext uri="{9D8B030D-6E8A-4147-A177-3AD203B41FA5}">
                          <a16:colId xmlns:a16="http://schemas.microsoft.com/office/drawing/2014/main" val="289548948"/>
                        </a:ext>
                      </a:extLst>
                    </a:gridCol>
                    <a:gridCol w="1234209">
                      <a:extLst>
                        <a:ext uri="{9D8B030D-6E8A-4147-A177-3AD203B41FA5}">
                          <a16:colId xmlns:a16="http://schemas.microsoft.com/office/drawing/2014/main" val="3894513484"/>
                        </a:ext>
                      </a:extLst>
                    </a:gridCol>
                    <a:gridCol w="1234209">
                      <a:extLst>
                        <a:ext uri="{9D8B030D-6E8A-4147-A177-3AD203B41FA5}">
                          <a16:colId xmlns:a16="http://schemas.microsoft.com/office/drawing/2014/main" val="1283054526"/>
                        </a:ext>
                      </a:extLst>
                    </a:gridCol>
                    <a:gridCol w="1234209">
                      <a:extLst>
                        <a:ext uri="{9D8B030D-6E8A-4147-A177-3AD203B41FA5}">
                          <a16:colId xmlns:a16="http://schemas.microsoft.com/office/drawing/2014/main" val="617394347"/>
                        </a:ext>
                      </a:extLst>
                    </a:gridCol>
                    <a:gridCol w="1234209">
                      <a:extLst>
                        <a:ext uri="{9D8B030D-6E8A-4147-A177-3AD203B41FA5}">
                          <a16:colId xmlns:a16="http://schemas.microsoft.com/office/drawing/2014/main" val="782078061"/>
                        </a:ext>
                      </a:extLst>
                    </a:gridCol>
                  </a:tblGrid>
                  <a:tr h="3126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Data/Bit</a:t>
                          </a:r>
                          <a:endParaRPr lang="ko-KR" altLang="en-US" dirty="0"/>
                        </a:p>
                      </a:txBody>
                      <a:tcPr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1" i="1" smtClean="0">
                                        <a:solidFill>
                                          <a:schemeClr val="accent2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 smtClean="0">
                                        <a:solidFill>
                                          <a:schemeClr val="accent2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ko-KR" b="1" i="1" smtClean="0">
                                        <a:solidFill>
                                          <a:schemeClr val="accent2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ko-K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1" i="1" smtClean="0">
                                        <a:solidFill>
                                          <a:schemeClr val="accent2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 smtClean="0">
                                        <a:solidFill>
                                          <a:schemeClr val="accent2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ko-KR" b="1" i="1" smtClean="0">
                                        <a:solidFill>
                                          <a:schemeClr val="accent2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1" i="1" smtClean="0">
                                        <a:solidFill>
                                          <a:schemeClr val="accent2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 smtClean="0">
                                        <a:solidFill>
                                          <a:schemeClr val="accent2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ko-KR" b="1" i="1" smtClean="0">
                                        <a:solidFill>
                                          <a:schemeClr val="accent2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8669906"/>
                      </a:ext>
                    </a:extLst>
                  </a:tr>
                  <a:tr h="3126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0000</a:t>
                          </a:r>
                          <a:endParaRPr lang="ko-KR" altLang="en-US" dirty="0"/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0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0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0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9425607"/>
                      </a:ext>
                    </a:extLst>
                  </a:tr>
                  <a:tr h="3126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0001</a:t>
                          </a:r>
                          <a:endParaRPr lang="ko-KR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1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1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1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73912918"/>
                      </a:ext>
                    </a:extLst>
                  </a:tr>
                  <a:tr h="3126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0010</a:t>
                          </a:r>
                          <a:endParaRPr lang="ko-KR" altLang="en-US" dirty="0"/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0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1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1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03800885"/>
                      </a:ext>
                    </a:extLst>
                  </a:tr>
                  <a:tr h="3126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0011</a:t>
                          </a:r>
                          <a:endParaRPr lang="ko-KR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1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0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0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22925536"/>
                      </a:ext>
                    </a:extLst>
                  </a:tr>
                  <a:tr h="3126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0100</a:t>
                          </a:r>
                          <a:endParaRPr lang="ko-KR" altLang="en-US" dirty="0"/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1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0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1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1743788"/>
                      </a:ext>
                    </a:extLst>
                  </a:tr>
                  <a:tr h="3126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0101</a:t>
                          </a:r>
                          <a:endParaRPr lang="ko-KR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0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1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0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1821552"/>
                      </a:ext>
                    </a:extLst>
                  </a:tr>
                  <a:tr h="3126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0110</a:t>
                          </a:r>
                          <a:endParaRPr lang="ko-KR" altLang="en-US" dirty="0"/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1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1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0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031425"/>
                      </a:ext>
                    </a:extLst>
                  </a:tr>
                  <a:tr h="3126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0111</a:t>
                          </a:r>
                          <a:endParaRPr lang="ko-KR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0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0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1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10766951"/>
                      </a:ext>
                    </a:extLst>
                  </a:tr>
                  <a:tr h="3126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1000</a:t>
                          </a:r>
                          <a:endParaRPr lang="ko-KR" altLang="en-US" dirty="0"/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1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1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0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90395738"/>
                      </a:ext>
                    </a:extLst>
                  </a:tr>
                  <a:tr h="3126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1001</a:t>
                          </a:r>
                          <a:endParaRPr lang="ko-KR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0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0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1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8147570"/>
                      </a:ext>
                    </a:extLst>
                  </a:tr>
                  <a:tr h="3126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1010</a:t>
                          </a:r>
                          <a:endParaRPr lang="ko-KR" altLang="en-US" dirty="0"/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1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0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1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45036372"/>
                      </a:ext>
                    </a:extLst>
                  </a:tr>
                  <a:tr h="3126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1011</a:t>
                          </a:r>
                          <a:endParaRPr lang="ko-KR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0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1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0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82218968"/>
                      </a:ext>
                    </a:extLst>
                  </a:tr>
                  <a:tr h="3126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1100</a:t>
                          </a:r>
                          <a:endParaRPr lang="ko-KR" altLang="en-US" dirty="0"/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0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1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1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94472617"/>
                      </a:ext>
                    </a:extLst>
                  </a:tr>
                  <a:tr h="3126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1101</a:t>
                          </a:r>
                          <a:endParaRPr lang="ko-KR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1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0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0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9442865"/>
                      </a:ext>
                    </a:extLst>
                  </a:tr>
                  <a:tr h="3126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1110</a:t>
                          </a:r>
                          <a:endParaRPr lang="ko-KR" altLang="en-US" dirty="0"/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0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0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0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01162849"/>
                      </a:ext>
                    </a:extLst>
                  </a:tr>
                  <a:tr h="3126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1111</a:t>
                          </a:r>
                          <a:endParaRPr lang="ko-KR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1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1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1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562417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4">
                <a:extLst>
                  <a:ext uri="{FF2B5EF4-FFF2-40B4-BE49-F238E27FC236}">
                    <a16:creationId xmlns:a16="http://schemas.microsoft.com/office/drawing/2014/main" id="{FF768186-AFA6-3794-E723-7EAC369C024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7300372"/>
                  </p:ext>
                </p:extLst>
              </p:nvPr>
            </p:nvGraphicFramePr>
            <p:xfrm>
              <a:off x="1159164" y="320040"/>
              <a:ext cx="9873672" cy="6217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34209">
                      <a:extLst>
                        <a:ext uri="{9D8B030D-6E8A-4147-A177-3AD203B41FA5}">
                          <a16:colId xmlns:a16="http://schemas.microsoft.com/office/drawing/2014/main" val="97013955"/>
                        </a:ext>
                      </a:extLst>
                    </a:gridCol>
                    <a:gridCol w="1234209">
                      <a:extLst>
                        <a:ext uri="{9D8B030D-6E8A-4147-A177-3AD203B41FA5}">
                          <a16:colId xmlns:a16="http://schemas.microsoft.com/office/drawing/2014/main" val="2807506318"/>
                        </a:ext>
                      </a:extLst>
                    </a:gridCol>
                    <a:gridCol w="1234209">
                      <a:extLst>
                        <a:ext uri="{9D8B030D-6E8A-4147-A177-3AD203B41FA5}">
                          <a16:colId xmlns:a16="http://schemas.microsoft.com/office/drawing/2014/main" val="2885851697"/>
                        </a:ext>
                      </a:extLst>
                    </a:gridCol>
                    <a:gridCol w="1234209">
                      <a:extLst>
                        <a:ext uri="{9D8B030D-6E8A-4147-A177-3AD203B41FA5}">
                          <a16:colId xmlns:a16="http://schemas.microsoft.com/office/drawing/2014/main" val="289548948"/>
                        </a:ext>
                      </a:extLst>
                    </a:gridCol>
                    <a:gridCol w="1234209">
                      <a:extLst>
                        <a:ext uri="{9D8B030D-6E8A-4147-A177-3AD203B41FA5}">
                          <a16:colId xmlns:a16="http://schemas.microsoft.com/office/drawing/2014/main" val="3894513484"/>
                        </a:ext>
                      </a:extLst>
                    </a:gridCol>
                    <a:gridCol w="1234209">
                      <a:extLst>
                        <a:ext uri="{9D8B030D-6E8A-4147-A177-3AD203B41FA5}">
                          <a16:colId xmlns:a16="http://schemas.microsoft.com/office/drawing/2014/main" val="1283054526"/>
                        </a:ext>
                      </a:extLst>
                    </a:gridCol>
                    <a:gridCol w="1234209">
                      <a:extLst>
                        <a:ext uri="{9D8B030D-6E8A-4147-A177-3AD203B41FA5}">
                          <a16:colId xmlns:a16="http://schemas.microsoft.com/office/drawing/2014/main" val="617394347"/>
                        </a:ext>
                      </a:extLst>
                    </a:gridCol>
                    <a:gridCol w="1234209">
                      <a:extLst>
                        <a:ext uri="{9D8B030D-6E8A-4147-A177-3AD203B41FA5}">
                          <a16:colId xmlns:a16="http://schemas.microsoft.com/office/drawing/2014/main" val="782078061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Data/Bit</a:t>
                          </a:r>
                          <a:endParaRPr lang="ko-KR" altLang="en-US" dirty="0"/>
                        </a:p>
                      </a:txBody>
                      <a:tcPr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100990" t="-8333" r="-603960" b="-1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8333" r="-500985" b="-1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01485" t="-8333" r="-403465" b="-1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99507" t="-8333" r="-301478" b="-1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501980" t="-8333" r="-202970" b="-1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599015" t="-8333" r="-101970" b="-1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702475" t="-8333" r="-2475" b="-16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866990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0000</a:t>
                          </a:r>
                          <a:endParaRPr lang="ko-KR" altLang="en-US" dirty="0"/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0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0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0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942560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0001</a:t>
                          </a:r>
                          <a:endParaRPr lang="ko-KR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1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1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1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7391291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0010</a:t>
                          </a:r>
                          <a:endParaRPr lang="ko-KR" altLang="en-US" dirty="0"/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0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1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1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0380088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0011</a:t>
                          </a:r>
                          <a:endParaRPr lang="ko-KR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1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0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0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2292553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0100</a:t>
                          </a:r>
                          <a:endParaRPr lang="ko-KR" altLang="en-US" dirty="0"/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1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0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1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174378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0101</a:t>
                          </a:r>
                          <a:endParaRPr lang="ko-KR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0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1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0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182155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0110</a:t>
                          </a:r>
                          <a:endParaRPr lang="ko-KR" altLang="en-US" dirty="0"/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1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1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0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03142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0111</a:t>
                          </a:r>
                          <a:endParaRPr lang="ko-KR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0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0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1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1076695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1000</a:t>
                          </a:r>
                          <a:endParaRPr lang="ko-KR" altLang="en-US" dirty="0"/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1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1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0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9039573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1001</a:t>
                          </a:r>
                          <a:endParaRPr lang="ko-KR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0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0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1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814757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1010</a:t>
                          </a:r>
                          <a:endParaRPr lang="ko-KR" altLang="en-US" dirty="0"/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1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0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1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4503637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1011</a:t>
                          </a:r>
                          <a:endParaRPr lang="ko-KR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0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1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0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8221896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1100</a:t>
                          </a:r>
                          <a:endParaRPr lang="ko-KR" altLang="en-US" dirty="0"/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0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1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1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9447261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1101</a:t>
                          </a:r>
                          <a:endParaRPr lang="ko-KR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1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0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0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944286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1110</a:t>
                          </a:r>
                          <a:endParaRPr lang="ko-KR" altLang="en-US" dirty="0"/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0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0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0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011628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1111</a:t>
                          </a:r>
                          <a:endParaRPr lang="ko-KR" altLang="en-US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1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1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1</a:t>
                          </a:r>
                          <a:endParaRPr lang="ko-KR" altLang="en-US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562417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74274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476</Words>
  <Application>Microsoft Office PowerPoint</Application>
  <PresentationFormat>와이드스크린</PresentationFormat>
  <Paragraphs>258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Cambria Math</vt:lpstr>
      <vt:lpstr>Office 테마</vt:lpstr>
      <vt:lpstr>IFS &amp; Hamming code</vt:lpstr>
      <vt:lpstr>Contents</vt:lpstr>
      <vt:lpstr>IFS (Inter Frame Space)</vt:lpstr>
      <vt:lpstr>CSMA/CA (Carrier Sense Multiple Access with Collision Avoidance)</vt:lpstr>
      <vt:lpstr>Hamming code</vt:lpstr>
      <vt:lpstr>Hamming code</vt:lpstr>
      <vt:lpstr>16 Coded Hamming words</vt:lpstr>
      <vt:lpstr>Hamming words example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IFS &amp; Hamming code</dc:title>
  <dc:creator>박지원</dc:creator>
  <cp:lastModifiedBy>박지원</cp:lastModifiedBy>
  <cp:revision>6</cp:revision>
  <dcterms:created xsi:type="dcterms:W3CDTF">2023-05-12T05:04:26Z</dcterms:created>
  <dcterms:modified xsi:type="dcterms:W3CDTF">2023-05-14T17:15:04Z</dcterms:modified>
</cp:coreProperties>
</file>