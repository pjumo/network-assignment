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55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50" y="7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viewProps" Target="viewProps.xml"  /><Relationship Id="rId11" Type="http://schemas.openxmlformats.org/officeDocument/2006/relationships/theme" Target="theme/theme1.xml"  /><Relationship Id="rId12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presProps" Target="presProp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B23C05-B8EB-A7B8-A285-A29BEB985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D88327B-4868-76D1-435C-E3BE475135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A861E1-162E-490D-8803-28BF2A434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9456E-47D6-4109-9EE7-A8EE35405026}" type="datetimeFigureOut">
              <a:rPr lang="ko-KR" altLang="en-US" smtClean="0"/>
              <a:t>2023-05-12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B62243-E935-952D-E399-65E526F4C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D2D231-EB7E-CA69-59F5-98D3BA0B9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D223-0F57-4E7A-833E-3F834772F3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714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2FAEFF-6F4A-19E1-F71D-FC9690432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28074C-92B2-CE91-D84F-93A3C03C4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7A5AE0-00EF-CA9C-ED1F-407846CE0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9456E-47D6-4109-9EE7-A8EE35405026}" type="datetimeFigureOut">
              <a:rPr lang="ko-KR" altLang="en-US" smtClean="0"/>
              <a:t>2023-05-12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F4832B-691D-DAD2-7E67-F2E98642B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FE1079-ACF8-88D2-9C10-6F574B4DB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D223-0F57-4E7A-833E-3F834772F3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869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E951D5-5C54-F776-7B51-A680E932C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788CD6-574B-36D9-08DD-2B4284226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CF47A0-B667-9FBE-5712-70293368C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9456E-47D6-4109-9EE7-A8EE35405026}" type="datetimeFigureOut">
              <a:rPr lang="ko-KR" altLang="en-US" smtClean="0"/>
              <a:t>2023-05-12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279A97-96F6-0D9F-3598-36FBAEF85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2CD0CF-9D1D-7865-3191-40B55855B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D223-0F57-4E7A-833E-3F834772F3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943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5BE665-788C-B5B2-E9F3-3173F56EB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E6B188-18DB-943F-5465-8DEBDDB9F5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363B804-EC70-2BF4-CF9A-5B77D2EEE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199072-BD31-DBAC-CFEA-FDEFEB25F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9456E-47D6-4109-9EE7-A8EE35405026}" type="datetimeFigureOut">
              <a:rPr lang="ko-KR" altLang="en-US" smtClean="0"/>
              <a:t>2023-05-12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E6E8DA-8D19-222A-B379-A66C10923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1F69AF-C177-B6B4-9B04-462DEA0E9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D223-0F57-4E7A-833E-3F834772F3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415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29C542-347B-18FF-D022-34BAA1766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73213B-3CB4-3385-F13A-EB8AC7FB6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1AEDED-C3CE-8165-1D8A-5169E44F2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A9CA4C-29FD-1002-14FD-ACFBCC0FEE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B451001-259A-432D-74A0-FEFB0E991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E9A4666-C76D-E33B-2DBE-135A5D6F1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9456E-47D6-4109-9EE7-A8EE35405026}" type="datetimeFigureOut">
              <a:rPr lang="ko-KR" altLang="en-US" smtClean="0"/>
              <a:t>2023-05-12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E09BD27-3902-4089-8D4E-1D255E15B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9C618E4-BFCE-5606-B2A7-C5334A0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D223-0F57-4E7A-833E-3F834772F3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797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C16D8C-C739-0DA0-5B46-BD10FB970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9257AE-7A6B-A532-C0BB-ACBDAE28A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9456E-47D6-4109-9EE7-A8EE35405026}" type="datetimeFigureOut">
              <a:rPr lang="ko-KR" altLang="en-US" smtClean="0"/>
              <a:t>2023-05-12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CE0F5C-B91B-BA87-3138-E9E532D2E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6CBD95D-BE13-B5EF-858F-A49B3CA68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D223-0F57-4E7A-833E-3F834772F3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1151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D83A980-E1C9-6C5A-E1C5-545AC5BF6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9456E-47D6-4109-9EE7-A8EE35405026}" type="datetimeFigureOut">
              <a:rPr lang="ko-KR" altLang="en-US" smtClean="0"/>
              <a:t>2023-05-12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B0D1A30-CF10-7190-152A-20468B84B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258064-1A78-F0FA-BFD1-DA420350E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D223-0F57-4E7A-833E-3F834772F3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0348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DA714-5034-5625-77F4-122A46D90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8A4A6E-EA1A-BA0A-75F0-693960CBF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45E437-DAC0-3FCE-1AEE-3126DA0E5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2627B4-0B84-95C3-F4D5-1CD73275C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9456E-47D6-4109-9EE7-A8EE35405026}" type="datetimeFigureOut">
              <a:rPr lang="ko-KR" altLang="en-US" smtClean="0"/>
              <a:t>2023-05-12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D537F9-9472-B987-85AB-EFC8E2B8C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A1D99D-93CF-B7E7-627B-CE3681F94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D223-0F57-4E7A-833E-3F834772F3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390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6A18D8-099B-7571-1C7A-70F1622F4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DE0E735-5A1E-63D7-7BA6-26441C2C21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6C4B68-BE05-D9F2-5FB8-71485CDE2B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75056F-58AB-AA32-1E06-60DB71651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9456E-47D6-4109-9EE7-A8EE35405026}" type="datetimeFigureOut">
              <a:rPr lang="ko-KR" altLang="en-US" smtClean="0"/>
              <a:t>2023-05-12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37BC2D-E4D3-1D72-62F7-54A10D613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4C194B-441A-D4CB-D2EF-778A3CD13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D223-0F57-4E7A-833E-3F834772F3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7922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C22C7F-4E04-3A46-6B78-BDCCAEA31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934193-E329-5A34-FD17-DAD7F2CF51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FB12F3-3CD2-EC9A-832C-D33377B63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9456E-47D6-4109-9EE7-A8EE35405026}" type="datetimeFigureOut">
              <a:rPr lang="ko-KR" altLang="en-US" smtClean="0"/>
              <a:t>2023-05-12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6ECF82-52E4-1253-221C-DF05C9E7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D563DF-5A87-6B78-F484-05207A499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D223-0F57-4E7A-833E-3F834772F3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795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0176B8A-EC1E-EC43-05D0-172502FEAE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A7763D-0772-945D-27DB-9FE5CDB3C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673BBC-F909-F080-7AE4-6C3F5B783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9456E-47D6-4109-9EE7-A8EE35405026}" type="datetimeFigureOut">
              <a:rPr lang="ko-KR" altLang="en-US" smtClean="0"/>
              <a:t>2023-05-12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C6CDDE-D66F-3018-39FF-2C7C539F9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60B8D9-1DA8-9AC0-899C-6284EA799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D223-0F57-4E7A-833E-3F834772F3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0685220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CEF223-FD0E-C414-C1C5-939520015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8B8C55-2971-C203-C372-82ED69BC4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71C465-5B78-149C-11DC-729A6333FA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9456E-47D6-4109-9EE7-A8EE35405026}" type="datetimeFigureOut">
              <a:rPr lang="ko-KR" altLang="en-US" smtClean="0"/>
              <a:t>2023-05-12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B3E0A1-BBFA-1144-C85D-A9A9259A3A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56D419-5FDC-2D24-CAD5-4F6B981157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8D223-0F57-4E7A-833E-3F834772F3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35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Relationship Id="rId4" Type="http://schemas.openxmlformats.org/officeDocument/2006/relationships/image" Target="../media/image5.png"  /><Relationship Id="rId5" Type="http://schemas.openxmlformats.org/officeDocument/2006/relationships/image" Target="../media/image6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png"  /><Relationship Id="rId3" Type="http://schemas.openxmlformats.org/officeDocument/2006/relationships/image" Target="../media/image8.png"  /><Relationship Id="rId4" Type="http://schemas.openxmlformats.org/officeDocument/2006/relationships/image" Target="../media/image9.png"  /><Relationship Id="rId5" Type="http://schemas.openxmlformats.org/officeDocument/2006/relationships/image" Target="../media/image10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.png"  /><Relationship Id="rId3" Type="http://schemas.openxmlformats.org/officeDocument/2006/relationships/image" Target="../media/image12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3.png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Relationship Id="rId5" Type="http://schemas.openxmlformats.org/officeDocument/2006/relationships/image" Target="../media/image16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836A29-2258-9D73-0B0F-F9F9C104F3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Fading Channel Simulator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7DA35D6-5C08-5D4A-524F-E2E43D31BD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1800" dirty="0"/>
              <a:t>1</a:t>
            </a:r>
            <a:r>
              <a:rPr lang="ko-KR" altLang="en-US" sz="1800" dirty="0"/>
              <a:t>조 </a:t>
            </a:r>
            <a:r>
              <a:rPr lang="ko-KR" altLang="en-US" sz="1800" dirty="0" err="1"/>
              <a:t>박준모</a:t>
            </a:r>
            <a:endParaRPr lang="en-US" altLang="ko-KR" sz="1800" dirty="0"/>
          </a:p>
          <a:p>
            <a:pPr algn="r"/>
            <a:r>
              <a:rPr lang="ko-KR" altLang="en-US" sz="1800" dirty="0"/>
              <a:t>박지원</a:t>
            </a:r>
            <a:endParaRPr lang="en-US" altLang="ko-KR" sz="1800" dirty="0"/>
          </a:p>
          <a:p>
            <a:pPr algn="r"/>
            <a:r>
              <a:rPr lang="ko-KR" altLang="en-US" sz="1800" dirty="0" err="1"/>
              <a:t>윤철훈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653714496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xmlns:mc="http://schemas.openxmlformats.org/markup-compatibility/2006" xmlns:a14="http://schemas.microsoft.com/office/drawing/2010/main" mc:Ignorable="a14 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3330"/>
                <a:ext cx="10515600" cy="4351338"/>
              </a:xfrm>
            </p:spPr>
            <p:txBody>
              <a:bodyPr/>
              <a:lstStyle/>
              <a:p>
                <a14:m xmlns:m="http://schemas.openxmlformats.org/officeDocument/2006/math">
                  <m:oMathPara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  <a:p>
                <a14:m xmlns:m="http://schemas.openxmlformats.org/officeDocument/2006/math">
                  <m:oMathPara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 xml:space="preserve">=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</a:p>
              <a:p>
                <a14:m xmlns:m="http://schemas.openxmlformats.org/officeDocument/2006/math">
                  <m:oMathPara>
                    <m:oMath xmlns:m="http://schemas.openxmlformats.org/officeDocument/2006/math"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𝜍</m:t>
                      </m:r>
                      <m:r>
                        <a:rPr lang="en-US" altLang="ko-KR" dirty="0"/>
                        <m:t>(t) = |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</a:p>
              <a:p>
                <a14:m xmlns:m="http://schemas.openxmlformats.org/officeDocument/2006/math">
                  <m:oMathPara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ko-KR" altLang="en-US" dirty="0"/>
                        <m:t xml:space="preserve"> </m:t>
                      </m:r>
                      <m:r>
                        <a:rPr lang="en-US" altLang="ko-KR" dirty="0"/>
                        <m:t xml:space="preserve">= </m:t>
                      </m:r>
                      <m:nary>
                        <m:naryPr>
                          <m:chr m:val="∑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⁡(2</m:t>
                          </m:r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</a:p>
            </p:txBody>
          </p:sp>
        </mc:Choice>
        <mc:Fallback>
          <p:sp>
            <p:nvSpPr>
              <p:cNvPr id="3" name=""/>
              <p:cNvSpPr txBox="1"/>
              <p:nvPr/>
            </p:nvSpPr>
            <p:spPr>
              <a:xfrm>
                <a:off x="838200" y="1253330"/>
                <a:ext cx="10515600" cy="435133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</p:sp>
        </mc:Fallback>
      </mc:AlternateContent>
    </p:spTree>
    <p:extLst>
      <p:ext uri="{BB962C8B-B14F-4D97-AF65-F5344CB8AC3E}">
        <p14:creationId xmlns:p14="http://schemas.microsoft.com/office/powerpoint/2010/main" val="903549120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xmlns:mc="http://schemas.openxmlformats.org/markup-compatibility/2006" xmlns:a14="http://schemas.microsoft.com/office/drawing/2010/main" mc:Ignorable="a14 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253331"/>
                <a:ext cx="10515600" cy="4351338"/>
              </a:xfrm>
            </p:spPr>
            <p:txBody>
              <a:bodyPr/>
              <a:lstStyle/>
              <a:p>
                <a14:m xmlns:m="http://schemas.openxmlformats.org/officeDocument/2006/math">
                  <m:oMathPara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−1/2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ko-KR" altLang="en-US" b="0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 xml:space="preserve">,  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=1,2,…,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 xml:space="preserve">−1      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−1/2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ko-KR" altLang="en-US" b="0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=1,2,…,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 xml:space="preserve">−1      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−1/2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 xml:space="preserve">,           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 xml:space="preserve">,             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=1,2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  <a:p>
                <a14:m xmlns:m="http://schemas.openxmlformats.org/officeDocument/2006/math">
                  <m:oMathPara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ko-KR" altLang="en-US" b="0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2(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 xml:space="preserve">,    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=1,2,…,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 xml:space="preserve">−1      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=1,2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 xml:space="preserve">               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 xml:space="preserve">,             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=1,2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  <a:p>
                <a14:m xmlns:m="http://schemas.openxmlformats.org/officeDocument/2006/math">
                  <m:oMathPara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 xml:space="preserve">=0    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=1,2,…,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 xml:space="preserve">, 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=1,2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" name=""/>
              <p:cNvSpPr txBox="1"/>
              <p:nvPr/>
            </p:nvSpPr>
            <p:spPr>
              <a:xfrm>
                <a:off x="838199" y="1253331"/>
                <a:ext cx="10515600" cy="435133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</p:sp>
        </mc:Fallback>
      </mc:AlternateContent>
    </p:spTree>
    <p:extLst>
      <p:ext uri="{BB962C8B-B14F-4D97-AF65-F5344CB8AC3E}">
        <p14:creationId xmlns:p14="http://schemas.microsoft.com/office/powerpoint/2010/main" val="2113037253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3C52CE-2E5C-3607-3505-0F72ADD21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6669"/>
            <a:ext cx="10515600" cy="1325563"/>
          </a:xfrm>
        </p:spPr>
        <p:txBody>
          <a:bodyPr/>
          <a:lstStyle/>
          <a:p>
            <a:pPr algn="ctr"/>
            <a:r>
              <a:rPr lang="en-US" altLang="ko-KR" dirty="0"/>
              <a:t>850MHZ</a:t>
            </a:r>
            <a:endParaRPr lang="ko-KR" altLang="en-US" dirty="0"/>
          </a:p>
        </p:txBody>
      </p:sp>
      <p:grpSp>
        <p:nvGrpSpPr>
          <p:cNvPr id="59" name=""/>
          <p:cNvGrpSpPr/>
          <p:nvPr/>
        </p:nvGrpSpPr>
        <p:grpSpPr>
          <a:xfrm rot="0">
            <a:off x="615238" y="1048631"/>
            <a:ext cx="4811359" cy="2642044"/>
            <a:chOff x="615238" y="1048631"/>
            <a:chExt cx="4811359" cy="2642044"/>
          </a:xfrm>
        </p:grpSpPr>
        <p:sp>
          <p:nvSpPr>
            <p:cNvPr id="5" name="직사각형 4"/>
            <p:cNvSpPr/>
            <p:nvPr/>
          </p:nvSpPr>
          <p:spPr>
            <a:xfrm>
              <a:off x="615238" y="1308369"/>
              <a:ext cx="4807086" cy="2382306"/>
            </a:xfrm>
            <a:prstGeom prst="rect">
              <a:avLst/>
            </a:prstGeom>
            <a:blipFill rotWithShape="1">
              <a:blip r:embed="rId2">
                <a:alphaModFix/>
                <a:lum/>
              </a:blip>
              <a:srcRect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576392" y="1048631"/>
              <a:ext cx="2850205" cy="2647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r">
                <a:defRPr/>
              </a:pPr>
              <a:r>
                <a:rPr lang="en-US" altLang="ko-KR" sz="1200"/>
                <a:t>           Channel result(abs) </a:t>
              </a:r>
              <a:r>
                <a:rPr lang="ko-KR" altLang="en-US" sz="1200"/>
                <a:t>   </a:t>
              </a:r>
              <a:r>
                <a:rPr lang="en-US" altLang="ko-KR" sz="1200"/>
                <a:t>3Km/h</a:t>
              </a:r>
              <a:endParaRPr lang="en-US" altLang="ko-KR" sz="1200"/>
            </a:p>
          </p:txBody>
        </p:sp>
        <p:cxnSp>
          <p:nvCxnSpPr>
            <p:cNvPr id="26" name="직선 연결선 25"/>
            <p:cNvCxnSpPr/>
            <p:nvPr/>
          </p:nvCxnSpPr>
          <p:spPr>
            <a:xfrm>
              <a:off x="2855033" y="1187131"/>
              <a:ext cx="36965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그룹 59"/>
          <p:cNvGrpSpPr/>
          <p:nvPr/>
        </p:nvGrpSpPr>
        <p:grpSpPr>
          <a:xfrm rot="0">
            <a:off x="6675650" y="1048631"/>
            <a:ext cx="4811359" cy="2642044"/>
            <a:chOff x="615238" y="1048631"/>
            <a:chExt cx="4811359" cy="2642044"/>
          </a:xfrm>
        </p:grpSpPr>
        <p:sp>
          <p:nvSpPr>
            <p:cNvPr id="61" name="직사각형 4"/>
            <p:cNvSpPr/>
            <p:nvPr/>
          </p:nvSpPr>
          <p:spPr>
            <a:xfrm>
              <a:off x="615238" y="1308369"/>
              <a:ext cx="4807086" cy="2382306"/>
            </a:xfrm>
            <a:prstGeom prst="rect">
              <a:avLst/>
            </a:prstGeom>
            <a:blipFill rotWithShape="1">
              <a:blip r:embed="rId3">
                <a:alphaModFix/>
                <a:lum/>
              </a:blip>
              <a:srcRect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62" name="TextBox 24"/>
            <p:cNvSpPr txBox="1"/>
            <p:nvPr/>
          </p:nvSpPr>
          <p:spPr>
            <a:xfrm>
              <a:off x="2576392" y="1048631"/>
              <a:ext cx="2850205" cy="2647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r">
                <a:defRPr/>
              </a:pPr>
              <a:r>
                <a:rPr lang="en-US" altLang="ko-KR" sz="1200"/>
                <a:t>           Channel result(abs) </a:t>
              </a:r>
              <a:r>
                <a:rPr lang="ko-KR" altLang="en-US" sz="1200"/>
                <a:t> </a:t>
              </a:r>
              <a:r>
                <a:rPr lang="en-US" altLang="ko-KR" sz="1200"/>
                <a:t>60Km/h</a:t>
              </a:r>
              <a:endParaRPr lang="en-US" altLang="ko-KR" sz="1200"/>
            </a:p>
          </p:txBody>
        </p:sp>
        <p:cxnSp>
          <p:nvCxnSpPr>
            <p:cNvPr id="63" name="직선 연결선 25"/>
            <p:cNvCxnSpPr/>
            <p:nvPr/>
          </p:nvCxnSpPr>
          <p:spPr>
            <a:xfrm>
              <a:off x="2855033" y="1187131"/>
              <a:ext cx="36965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그룹 63"/>
          <p:cNvGrpSpPr/>
          <p:nvPr/>
        </p:nvGrpSpPr>
        <p:grpSpPr>
          <a:xfrm rot="0">
            <a:off x="615238" y="3968932"/>
            <a:ext cx="4811359" cy="2642044"/>
            <a:chOff x="615238" y="1048631"/>
            <a:chExt cx="4811359" cy="2642044"/>
          </a:xfrm>
        </p:grpSpPr>
        <p:sp>
          <p:nvSpPr>
            <p:cNvPr id="65" name="직사각형 4"/>
            <p:cNvSpPr/>
            <p:nvPr/>
          </p:nvSpPr>
          <p:spPr>
            <a:xfrm>
              <a:off x="615238" y="1308369"/>
              <a:ext cx="4807086" cy="2382306"/>
            </a:xfrm>
            <a:prstGeom prst="rect">
              <a:avLst/>
            </a:prstGeom>
            <a:blipFill rotWithShape="1">
              <a:blip r:embed="rId4">
                <a:alphaModFix/>
                <a:lum/>
              </a:blip>
              <a:srcRect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66" name="TextBox 24"/>
            <p:cNvSpPr txBox="1"/>
            <p:nvPr/>
          </p:nvSpPr>
          <p:spPr>
            <a:xfrm>
              <a:off x="2576392" y="1048630"/>
              <a:ext cx="2850205" cy="2677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r">
                <a:defRPr/>
              </a:pPr>
              <a:r>
                <a:rPr lang="en-US" altLang="ko-KR" sz="1200"/>
                <a:t>           Channel result(abs) 100Km/h</a:t>
              </a:r>
              <a:endParaRPr lang="en-US" altLang="ko-KR" sz="1200"/>
            </a:p>
          </p:txBody>
        </p:sp>
        <p:cxnSp>
          <p:nvCxnSpPr>
            <p:cNvPr id="67" name="직선 연결선 25"/>
            <p:cNvCxnSpPr/>
            <p:nvPr/>
          </p:nvCxnSpPr>
          <p:spPr>
            <a:xfrm>
              <a:off x="2855033" y="1187131"/>
              <a:ext cx="36965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그룹 67"/>
          <p:cNvGrpSpPr/>
          <p:nvPr/>
        </p:nvGrpSpPr>
        <p:grpSpPr>
          <a:xfrm rot="0">
            <a:off x="6675651" y="3968932"/>
            <a:ext cx="4811358" cy="2642044"/>
            <a:chOff x="615238" y="1048631"/>
            <a:chExt cx="4811358" cy="2642044"/>
          </a:xfrm>
        </p:grpSpPr>
        <p:sp>
          <p:nvSpPr>
            <p:cNvPr id="69" name="직사각형 4"/>
            <p:cNvSpPr/>
            <p:nvPr/>
          </p:nvSpPr>
          <p:spPr>
            <a:xfrm>
              <a:off x="615238" y="1308369"/>
              <a:ext cx="4807086" cy="2382306"/>
            </a:xfrm>
            <a:prstGeom prst="rect">
              <a:avLst/>
            </a:prstGeom>
            <a:blipFill rotWithShape="1">
              <a:blip r:embed="rId5">
                <a:alphaModFix/>
                <a:lum/>
              </a:blip>
              <a:srcRect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70" name="TextBox 24"/>
            <p:cNvSpPr txBox="1"/>
            <p:nvPr/>
          </p:nvSpPr>
          <p:spPr>
            <a:xfrm>
              <a:off x="2576390" y="1048630"/>
              <a:ext cx="2850205" cy="2677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r">
                <a:defRPr/>
              </a:pPr>
              <a:r>
                <a:rPr lang="en-US" altLang="ko-KR" sz="1200"/>
                <a:t>           Channel result(abs) 300Km/h</a:t>
              </a:r>
              <a:endParaRPr lang="en-US" altLang="ko-KR" sz="1200"/>
            </a:p>
          </p:txBody>
        </p:sp>
        <p:cxnSp>
          <p:nvCxnSpPr>
            <p:cNvPr id="71" name="직선 연결선 25"/>
            <p:cNvCxnSpPr/>
            <p:nvPr/>
          </p:nvCxnSpPr>
          <p:spPr>
            <a:xfrm>
              <a:off x="2855033" y="1187131"/>
              <a:ext cx="36965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4763891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838201" y="56669"/>
            <a:ext cx="10515600" cy="1325563"/>
          </a:xfrm>
        </p:spPr>
        <p:txBody>
          <a:bodyPr/>
          <a:lstStyle/>
          <a:p>
            <a:pPr lvl="0" algn="ctr">
              <a:defRPr/>
            </a:pPr>
            <a:r>
              <a:rPr lang="en-US" altLang="ko-KR"/>
              <a:t>2GHZ</a:t>
            </a:r>
            <a:endParaRPr lang="en-US" altLang="ko-KR"/>
          </a:p>
        </p:txBody>
      </p:sp>
      <p:grpSp>
        <p:nvGrpSpPr>
          <p:cNvPr id="59" name=""/>
          <p:cNvGrpSpPr/>
          <p:nvPr/>
        </p:nvGrpSpPr>
        <p:grpSpPr>
          <a:xfrm rot="0">
            <a:off x="615238" y="1048631"/>
            <a:ext cx="4811359" cy="2642044"/>
            <a:chOff x="615238" y="1048631"/>
            <a:chExt cx="4811359" cy="2642044"/>
          </a:xfrm>
        </p:grpSpPr>
        <p:sp>
          <p:nvSpPr>
            <p:cNvPr id="5" name="직사각형 4"/>
            <p:cNvSpPr/>
            <p:nvPr/>
          </p:nvSpPr>
          <p:spPr>
            <a:xfrm>
              <a:off x="615238" y="1308369"/>
              <a:ext cx="4807086" cy="2382306"/>
            </a:xfrm>
            <a:prstGeom prst="rect">
              <a:avLst/>
            </a:prstGeom>
            <a:blipFill rotWithShape="1">
              <a:blip r:embed="rId2">
                <a:alphaModFix/>
                <a:lum/>
              </a:blip>
              <a:srcRect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576392" y="1048631"/>
              <a:ext cx="2850205" cy="2647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r">
                <a:defRPr/>
              </a:pPr>
              <a:r>
                <a:rPr lang="en-US" altLang="ko-KR" sz="1200"/>
                <a:t>           Channel result(abs) </a:t>
              </a:r>
              <a:r>
                <a:rPr lang="ko-KR" altLang="en-US" sz="1200"/>
                <a:t>   </a:t>
              </a:r>
              <a:r>
                <a:rPr lang="en-US" altLang="ko-KR" sz="1200"/>
                <a:t>3Km/h</a:t>
              </a:r>
              <a:endParaRPr lang="en-US" altLang="ko-KR" sz="1200"/>
            </a:p>
          </p:txBody>
        </p:sp>
        <p:cxnSp>
          <p:nvCxnSpPr>
            <p:cNvPr id="26" name="직선 연결선 25"/>
            <p:cNvCxnSpPr/>
            <p:nvPr/>
          </p:nvCxnSpPr>
          <p:spPr>
            <a:xfrm>
              <a:off x="2855033" y="1187131"/>
              <a:ext cx="36965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그룹 59"/>
          <p:cNvGrpSpPr/>
          <p:nvPr/>
        </p:nvGrpSpPr>
        <p:grpSpPr>
          <a:xfrm rot="0">
            <a:off x="6675650" y="1048631"/>
            <a:ext cx="4811359" cy="2642044"/>
            <a:chOff x="615238" y="1048631"/>
            <a:chExt cx="4811359" cy="2642044"/>
          </a:xfrm>
        </p:grpSpPr>
        <p:sp>
          <p:nvSpPr>
            <p:cNvPr id="61" name="직사각형 4"/>
            <p:cNvSpPr/>
            <p:nvPr/>
          </p:nvSpPr>
          <p:spPr>
            <a:xfrm>
              <a:off x="615238" y="1308369"/>
              <a:ext cx="4807086" cy="2382306"/>
            </a:xfrm>
            <a:prstGeom prst="rect">
              <a:avLst/>
            </a:prstGeom>
            <a:blipFill rotWithShape="1">
              <a:blip r:embed="rId3">
                <a:alphaModFix/>
                <a:lum/>
              </a:blip>
              <a:srcRect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62" name="TextBox 24"/>
            <p:cNvSpPr txBox="1"/>
            <p:nvPr/>
          </p:nvSpPr>
          <p:spPr>
            <a:xfrm>
              <a:off x="2576392" y="1048631"/>
              <a:ext cx="2850205" cy="2647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r">
                <a:defRPr/>
              </a:pPr>
              <a:r>
                <a:rPr lang="en-US" altLang="ko-KR" sz="1200"/>
                <a:t>           Channel result(abs) </a:t>
              </a:r>
              <a:r>
                <a:rPr lang="ko-KR" altLang="en-US" sz="1200"/>
                <a:t> </a:t>
              </a:r>
              <a:r>
                <a:rPr lang="en-US" altLang="ko-KR" sz="1200"/>
                <a:t>60Km/h</a:t>
              </a:r>
              <a:endParaRPr lang="en-US" altLang="ko-KR" sz="1200"/>
            </a:p>
          </p:txBody>
        </p:sp>
        <p:cxnSp>
          <p:nvCxnSpPr>
            <p:cNvPr id="63" name="직선 연결선 25"/>
            <p:cNvCxnSpPr/>
            <p:nvPr/>
          </p:nvCxnSpPr>
          <p:spPr>
            <a:xfrm>
              <a:off x="2855033" y="1187131"/>
              <a:ext cx="36965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그룹 63"/>
          <p:cNvGrpSpPr/>
          <p:nvPr/>
        </p:nvGrpSpPr>
        <p:grpSpPr>
          <a:xfrm rot="0">
            <a:off x="615238" y="3968932"/>
            <a:ext cx="4811359" cy="2642044"/>
            <a:chOff x="615238" y="1048631"/>
            <a:chExt cx="4811359" cy="2642044"/>
          </a:xfrm>
        </p:grpSpPr>
        <p:sp>
          <p:nvSpPr>
            <p:cNvPr id="65" name="직사각형 4"/>
            <p:cNvSpPr/>
            <p:nvPr/>
          </p:nvSpPr>
          <p:spPr>
            <a:xfrm>
              <a:off x="615238" y="1308369"/>
              <a:ext cx="4807086" cy="2382306"/>
            </a:xfrm>
            <a:prstGeom prst="rect">
              <a:avLst/>
            </a:prstGeom>
            <a:blipFill rotWithShape="1">
              <a:blip r:embed="rId4">
                <a:alphaModFix/>
                <a:lum/>
              </a:blip>
              <a:srcRect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66" name="TextBox 24"/>
            <p:cNvSpPr txBox="1"/>
            <p:nvPr/>
          </p:nvSpPr>
          <p:spPr>
            <a:xfrm>
              <a:off x="2576392" y="1048630"/>
              <a:ext cx="2850205" cy="2677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r">
                <a:defRPr/>
              </a:pPr>
              <a:r>
                <a:rPr lang="en-US" altLang="ko-KR" sz="1200"/>
                <a:t>           Channel result(abs) 100Km/h</a:t>
              </a:r>
              <a:endParaRPr lang="en-US" altLang="ko-KR" sz="1200"/>
            </a:p>
          </p:txBody>
        </p:sp>
        <p:cxnSp>
          <p:nvCxnSpPr>
            <p:cNvPr id="67" name="직선 연결선 25"/>
            <p:cNvCxnSpPr/>
            <p:nvPr/>
          </p:nvCxnSpPr>
          <p:spPr>
            <a:xfrm>
              <a:off x="2855033" y="1187131"/>
              <a:ext cx="36965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그룹 67"/>
          <p:cNvGrpSpPr/>
          <p:nvPr/>
        </p:nvGrpSpPr>
        <p:grpSpPr>
          <a:xfrm rot="0">
            <a:off x="6675651" y="3968932"/>
            <a:ext cx="4811358" cy="2642044"/>
            <a:chOff x="615238" y="1048631"/>
            <a:chExt cx="4811358" cy="2642044"/>
          </a:xfrm>
        </p:grpSpPr>
        <p:sp>
          <p:nvSpPr>
            <p:cNvPr id="69" name="직사각형 4"/>
            <p:cNvSpPr/>
            <p:nvPr/>
          </p:nvSpPr>
          <p:spPr>
            <a:xfrm>
              <a:off x="615238" y="1308369"/>
              <a:ext cx="4807086" cy="2382306"/>
            </a:xfrm>
            <a:prstGeom prst="rect">
              <a:avLst/>
            </a:prstGeom>
            <a:blipFill rotWithShape="1">
              <a:blip r:embed="rId5">
                <a:alphaModFix/>
                <a:lum/>
              </a:blip>
              <a:srcRect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70" name="TextBox 24"/>
            <p:cNvSpPr txBox="1"/>
            <p:nvPr/>
          </p:nvSpPr>
          <p:spPr>
            <a:xfrm>
              <a:off x="2576390" y="1048630"/>
              <a:ext cx="2850205" cy="2677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r">
                <a:defRPr/>
              </a:pPr>
              <a:r>
                <a:rPr lang="en-US" altLang="ko-KR" sz="1200"/>
                <a:t>           Channel result(abs) 300Km/h</a:t>
              </a:r>
              <a:endParaRPr lang="en-US" altLang="ko-KR" sz="1200"/>
            </a:p>
          </p:txBody>
        </p:sp>
        <p:cxnSp>
          <p:nvCxnSpPr>
            <p:cNvPr id="71" name="직선 연결선 25"/>
            <p:cNvCxnSpPr/>
            <p:nvPr/>
          </p:nvCxnSpPr>
          <p:spPr>
            <a:xfrm>
              <a:off x="2855033" y="1187131"/>
              <a:ext cx="36965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15432792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8755" y="1196487"/>
            <a:ext cx="5499304" cy="526052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285276" y="1193135"/>
            <a:ext cx="5410585" cy="5256756"/>
          </a:xfrm>
          <a:prstGeom prst="rect">
            <a:avLst/>
          </a:prstGeom>
        </p:spPr>
      </p:pic>
      <p:sp>
        <p:nvSpPr>
          <p:cNvPr id="6" name="가로 글상자 5"/>
          <p:cNvSpPr txBox="1"/>
          <p:nvPr/>
        </p:nvSpPr>
        <p:spPr>
          <a:xfrm>
            <a:off x="2034792" y="780839"/>
            <a:ext cx="2268792" cy="360256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en-US" altLang="ko-KR"/>
              <a:t>850MHz - 300Km/h</a:t>
            </a:r>
            <a:endParaRPr lang="en-US" altLang="ko-KR"/>
          </a:p>
        </p:txBody>
      </p:sp>
      <p:sp>
        <p:nvSpPr>
          <p:cNvPr id="7" name="가로 글상자 6"/>
          <p:cNvSpPr txBox="1"/>
          <p:nvPr/>
        </p:nvSpPr>
        <p:spPr>
          <a:xfrm>
            <a:off x="7849857" y="765768"/>
            <a:ext cx="2268792" cy="365802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2GHz - 300Km/h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491886658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838200" y="166251"/>
            <a:ext cx="10515600" cy="1325563"/>
          </a:xfrm>
        </p:spPr>
        <p:txBody>
          <a:bodyPr/>
          <a:p>
            <a:pPr lvl="0">
              <a:defRPr/>
            </a:pPr>
            <a:r>
              <a:rPr lang="en-US" altLang="ko-KR"/>
              <a:t>PDF of LCR(level-crossing rate)</a:t>
            </a:r>
            <a:endParaRPr lang="en-US" altLang="ko-KR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62251" y="1480196"/>
            <a:ext cx="5833748" cy="424747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6000" y="1570055"/>
            <a:ext cx="5280408" cy="148048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263473" y="3031253"/>
            <a:ext cx="4753813" cy="175657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438482" y="4830222"/>
            <a:ext cx="4823130" cy="997089"/>
          </a:xfrm>
          <a:prstGeom prst="rect">
            <a:avLst/>
          </a:prstGeom>
        </p:spPr>
      </p:pic>
      <p:sp>
        <p:nvSpPr>
          <p:cNvPr id="8" name="가로 글상자 7"/>
          <p:cNvSpPr txBox="1"/>
          <p:nvPr/>
        </p:nvSpPr>
        <p:spPr>
          <a:xfrm>
            <a:off x="2642190" y="6431111"/>
            <a:ext cx="9424204" cy="282109"/>
          </a:xfrm>
          <a:prstGeom prst="rect">
            <a:avLst/>
          </a:prstGeom>
        </p:spPr>
        <p:txBody>
          <a:bodyPr wrap="square">
            <a:spAutoFit/>
          </a:bodyPr>
          <a:p>
            <a:pPr lvl="0" algn="r">
              <a:defRPr/>
            </a:pPr>
            <a:r>
              <a:rPr lang="ko-KR" altLang="en-US" sz="1300" i="1"/>
              <a:t>논문 </a:t>
            </a:r>
            <a:r>
              <a:rPr lang="en-US" altLang="ko-KR" sz="1300" i="1"/>
              <a:t>“</a:t>
            </a:r>
            <a:r>
              <a:rPr lang="en-US" altLang="en-US" sz="1300" b="1" i="1"/>
              <a:t>ST</a:t>
            </a:r>
            <a:r>
              <a:rPr lang="en-US" altLang="ko-KR" sz="1300" b="1" i="1"/>
              <a:t>A</a:t>
            </a:r>
            <a:r>
              <a:rPr lang="en-US" altLang="en-US" sz="1300" b="1" i="1"/>
              <a:t>TISTICAL PROPERTIES OF JAKES’ FADING CHANNEL SIMULATOR</a:t>
            </a:r>
            <a:r>
              <a:rPr lang="en-US" altLang="ko-KR" sz="1300" i="1"/>
              <a:t>”</a:t>
            </a:r>
            <a:r>
              <a:rPr lang="ko-KR" altLang="en-US" sz="1300" i="1"/>
              <a:t> 에서 발췌</a:t>
            </a:r>
            <a:r>
              <a:rPr lang="en-US" altLang="en-US" sz="1300" i="1"/>
              <a:t> </a:t>
            </a:r>
            <a:endParaRPr lang="en-US" altLang="en-US" sz="1300" i="1"/>
          </a:p>
        </p:txBody>
      </p:sp>
    </p:spTree>
    <p:extLst>
      <p:ext uri="{BB962C8B-B14F-4D97-AF65-F5344CB8AC3E}">
        <p14:creationId xmlns:p14="http://schemas.microsoft.com/office/powerpoint/2010/main" val="2932379929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52</ep:Words>
  <ep:PresentationFormat>와이드스크린</ep:PresentationFormat>
  <ep:Paragraphs>10</ep:Paragraphs>
  <ep:Slides>7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ep:HeadingPairs>
  <ep:TitlesOfParts>
    <vt:vector size="8" baseType="lpstr">
      <vt:lpstr>Office 테마</vt:lpstr>
      <vt:lpstr>Fading Channel Simulator</vt:lpstr>
      <vt:lpstr>슬라이드 2</vt:lpstr>
      <vt:lpstr>슬라이드 3</vt:lpstr>
      <vt:lpstr>850MHZ</vt:lpstr>
      <vt:lpstr>2GHZ</vt:lpstr>
      <vt:lpstr>슬라이드 6</vt:lpstr>
      <vt:lpstr>PDF of LCR(level-crossing rate)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2023-05-12T08:52:16.000</dcterms:created>
  <dc:creator>박지원</dc:creator>
  <cp:lastModifiedBy>parkj</cp:lastModifiedBy>
  <dcterms:modified xsi:type="dcterms:W3CDTF">2023-05-14T13:45:29.263</dcterms:modified>
  <cp:revision>12</cp:revision>
  <dc:title>Fading Channel Simulator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