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  <p:sldMasterId id="2147483651" r:id="rId2"/>
  </p:sldMasterIdLst>
  <p:sldIdLst>
    <p:sldId id="256" r:id="rId3"/>
    <p:sldId id="265" r:id="rId4"/>
    <p:sldId id="304" r:id="rId5"/>
    <p:sldId id="305" r:id="rId6"/>
    <p:sldId id="306" r:id="rId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14" y="168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Master" Target="slideMasters/slideMaster2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2.jpeg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3.jpeg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jpeg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5.jpeg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6.jpeg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jpeg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5.jpeg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7.png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Relationship Id="rId2" Type="http://schemas.openxmlformats.org/officeDocument/2006/relationships/image" Target="../media/image4.jpeg"  /><Relationship Id="rId3" Type="http://schemas.openxmlformats.org/officeDocument/2006/relationships/image" Target="../media/image8.png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1167594"/>
            <a:ext cx="2880000" cy="280831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6264000" y="0"/>
            <a:ext cx="2880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479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Image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694140" y="2211700"/>
            <a:ext cx="1944216" cy="25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629910" y="2211700"/>
            <a:ext cx="1944216" cy="25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2565681" y="2211700"/>
            <a:ext cx="1944216" cy="255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01452" y="447700"/>
            <a:ext cx="1944216" cy="43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065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10" Type="http://schemas.openxmlformats.org/officeDocument/2006/relationships/slideLayout" Target="../slideLayouts/slideLayout12.xml"  /><Relationship Id="rId11" Type="http://schemas.openxmlformats.org/officeDocument/2006/relationships/slideLayout" Target="../slideLayouts/slideLayout13.xml"  /><Relationship Id="rId12" Type="http://schemas.openxmlformats.org/officeDocument/2006/relationships/slideLayout" Target="../slideLayouts/slideLayout14.xml"  /><Relationship Id="rId13" Type="http://schemas.openxmlformats.org/officeDocument/2006/relationships/slideLayout" Target="../slideLayouts/slideLayout15.xml"  /><Relationship Id="rId14" Type="http://schemas.openxmlformats.org/officeDocument/2006/relationships/slideLayout" Target="../slideLayouts/slideLayout16.xml"  /><Relationship Id="rId15" Type="http://schemas.openxmlformats.org/officeDocument/2006/relationships/slideLayout" Target="../slideLayouts/slideLayout17.xml"  /><Relationship Id="rId16" Type="http://schemas.openxmlformats.org/officeDocument/2006/relationships/theme" Target="../theme/theme2.xml"  /><Relationship Id="rId2" Type="http://schemas.openxmlformats.org/officeDocument/2006/relationships/slideLayout" Target="../slideLayouts/slideLayout4.xml"  /><Relationship Id="rId3" Type="http://schemas.openxmlformats.org/officeDocument/2006/relationships/slideLayout" Target="../slideLayouts/slideLayout5.xml"  /><Relationship Id="rId4" Type="http://schemas.openxmlformats.org/officeDocument/2006/relationships/slideLayout" Target="../slideLayouts/slideLayout6.xml"  /><Relationship Id="rId5" Type="http://schemas.openxmlformats.org/officeDocument/2006/relationships/slideLayout" Target="../slideLayouts/slideLayout7.xml"  /><Relationship Id="rId6" Type="http://schemas.openxmlformats.org/officeDocument/2006/relationships/slideLayout" Target="../slideLayouts/slideLayout8.xml"  /><Relationship Id="rId7" Type="http://schemas.openxmlformats.org/officeDocument/2006/relationships/slideLayout" Target="../slideLayouts/slideLayout9.xml"  /><Relationship Id="rId8" Type="http://schemas.openxmlformats.org/officeDocument/2006/relationships/slideLayout" Target="../slideLayouts/slideLayout10.xml"  /><Relationship Id="rId9" Type="http://schemas.openxmlformats.org/officeDocument/2006/relationships/slideLayout" Target="../slideLayouts/slideLayout1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7" r:id="rId8"/>
    <p:sldLayoutId id="2147483664" r:id="rId9"/>
    <p:sldLayoutId id="2147483668" r:id="rId10"/>
    <p:sldLayoutId id="2147483669" r:id="rId11"/>
    <p:sldLayoutId id="2147483665" r:id="rId12"/>
    <p:sldLayoutId id="2147483670" r:id="rId13"/>
    <p:sldLayoutId id="2147483672" r:id="rId14"/>
    <p:sldLayoutId id="2147483656" r:id="rId1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9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4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600">
                <a:ea typeface="맑은 고딕"/>
              </a:rPr>
              <a:t>Path Loss</a:t>
            </a:r>
            <a:endParaRPr lang="en-US" altLang="ko-KR" sz="360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Path Loss</a:t>
            </a:r>
            <a:endParaRPr lang="en-US" altLang="ko-KR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송신기와 수신기 사이의 통신 경로 상에서 신호의 전력이 감소하는 것 </a:t>
            </a:r>
            <a:endParaRPr lang="ko-KR" altLang="en-US"/>
          </a:p>
        </p:txBody>
      </p:sp>
      <p:sp>
        <p:nvSpPr>
          <p:cNvPr id="4" name="Oval 3"/>
          <p:cNvSpPr/>
          <p:nvPr/>
        </p:nvSpPr>
        <p:spPr>
          <a:xfrm>
            <a:off x="2583396" y="2886448"/>
            <a:ext cx="693414" cy="69341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Oval 4"/>
          <p:cNvSpPr/>
          <p:nvPr/>
        </p:nvSpPr>
        <p:spPr>
          <a:xfrm>
            <a:off x="611560" y="1563638"/>
            <a:ext cx="693414" cy="69341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Oval 5"/>
          <p:cNvSpPr/>
          <p:nvPr/>
        </p:nvSpPr>
        <p:spPr>
          <a:xfrm>
            <a:off x="4959661" y="4096669"/>
            <a:ext cx="693414" cy="69341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55948" y="1695450"/>
            <a:ext cx="604639" cy="43033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lvl="0">
              <a:defRPr/>
            </a:pPr>
            <a:r>
              <a:rPr lang="en-US" altLang="ko-KR" sz="2800" b="1">
                <a:solidFill>
                  <a:schemeClr val="bg1"/>
                </a:solidFill>
                <a:cs typeface="Arial"/>
              </a:rPr>
              <a:t>01</a:t>
            </a:r>
            <a:endParaRPr lang="en-US" altLang="ko-KR" sz="28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04048" y="4229100"/>
            <a:ext cx="604639" cy="429721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lvl="0">
              <a:defRPr/>
            </a:pPr>
            <a:r>
              <a:rPr lang="en-US" altLang="ko-KR" sz="2800" b="1">
                <a:solidFill>
                  <a:schemeClr val="bg1"/>
                </a:solidFill>
                <a:cs typeface="Arial"/>
              </a:rPr>
              <a:t>03</a:t>
            </a:r>
            <a:endParaRPr lang="en-US" altLang="ko-KR" sz="28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27784" y="3019425"/>
            <a:ext cx="604639" cy="429174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lvl="0">
              <a:defRPr/>
            </a:pPr>
            <a:r>
              <a:rPr lang="en-US" altLang="ko-KR" sz="2800" b="1">
                <a:solidFill>
                  <a:schemeClr val="bg1"/>
                </a:solidFill>
                <a:cs typeface="Arial"/>
              </a:rPr>
              <a:t>02</a:t>
            </a:r>
            <a:endParaRPr lang="en-US" altLang="ko-KR" sz="2800" b="1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12" name="Group 11"/>
          <p:cNvGrpSpPr/>
          <p:nvPr/>
        </p:nvGrpSpPr>
        <p:grpSpPr>
          <a:xfrm rot="0">
            <a:off x="1371505" y="1356347"/>
            <a:ext cx="2932815" cy="1032523"/>
            <a:chOff x="1448989" y="1595280"/>
            <a:chExt cx="3030085" cy="1032523"/>
          </a:xfrm>
        </p:grpSpPr>
        <p:sp>
          <p:nvSpPr>
            <p:cNvPr id="13" name="TextBox 12"/>
            <p:cNvSpPr txBox="1"/>
            <p:nvPr/>
          </p:nvSpPr>
          <p:spPr>
            <a:xfrm>
              <a:off x="1454022" y="1983913"/>
              <a:ext cx="3023679" cy="64389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defRPr/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모든 모델의 기본 모델</a:t>
              </a:r>
              <a:endPara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pPr lvl="0">
                <a:defRPr/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물리학과 다르게 공기 중을 뜻함</a:t>
              </a:r>
              <a:endPara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pPr lvl="0">
                <a:defRPr/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즉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,</a:t>
              </a: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 무한정 같은 세기를 유지하지는 못함</a:t>
              </a:r>
              <a:endParaRPr lang="en-US" altLang="ko-KR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448989" y="1595280"/>
              <a:ext cx="3030085" cy="276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defRPr/>
              </a:pPr>
              <a:r>
                <a:rPr lang="ko-KR" altLang="en-US" sz="1200" b="1">
                  <a:solidFill>
                    <a:schemeClr val="accent1"/>
                  </a:solidFill>
                  <a:cs typeface="Arial"/>
                </a:rPr>
                <a:t>자유공간 </a:t>
              </a:r>
              <a:r>
                <a:rPr lang="en-US" altLang="ko-KR" sz="1200" b="1">
                  <a:solidFill>
                    <a:schemeClr val="accent1"/>
                  </a:solidFill>
                  <a:cs typeface="Arial"/>
                </a:rPr>
                <a:t>(free space)</a:t>
              </a:r>
              <a:endParaRPr lang="en-US" altLang="ko-KR" sz="1200" b="1">
                <a:solidFill>
                  <a:schemeClr val="accent1"/>
                </a:solidFill>
                <a:cs typeface="Arial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 rot="0">
            <a:off x="5748973" y="3889379"/>
            <a:ext cx="2932815" cy="1128391"/>
            <a:chOff x="1448989" y="1595280"/>
            <a:chExt cx="3030085" cy="1128391"/>
          </a:xfrm>
        </p:grpSpPr>
        <p:sp>
          <p:nvSpPr>
            <p:cNvPr id="16" name="TextBox 15"/>
            <p:cNvSpPr txBox="1"/>
            <p:nvPr/>
          </p:nvSpPr>
          <p:spPr>
            <a:xfrm>
              <a:off x="1454022" y="1898806"/>
              <a:ext cx="3023679" cy="8248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defRPr/>
              </a:pP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900MHz </a:t>
              </a: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대역에서 작동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pPr lvl="0">
                <a:defRPr/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무선 전파모델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pPr lvl="0">
                <a:defRPr/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모바일 경로를 따른 수신 신호의 평균 예측에 사용됨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448989" y="1595280"/>
              <a:ext cx="3030085" cy="276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defRPr/>
              </a:pPr>
              <a:r>
                <a:rPr lang="ko-KR" altLang="en-US" sz="1200" b="1">
                  <a:solidFill>
                    <a:schemeClr val="accent4"/>
                  </a:solidFill>
                  <a:cs typeface="Arial"/>
                </a:rPr>
                <a:t>리 모델</a:t>
              </a:r>
              <a:r>
                <a:rPr lang="en-US" altLang="ko-KR" sz="1200" b="1">
                  <a:solidFill>
                    <a:schemeClr val="accent4"/>
                  </a:solidFill>
                  <a:cs typeface="Arial"/>
                </a:rPr>
                <a:t> (Lee)</a:t>
              </a:r>
              <a:endParaRPr lang="en-US" altLang="ko-KR" sz="1200" b="1">
                <a:solidFill>
                  <a:schemeClr val="accent4"/>
                </a:solidFill>
                <a:cs typeface="Arial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 rot="0">
            <a:off x="3390620" y="2678430"/>
            <a:ext cx="2932815" cy="1129664"/>
            <a:chOff x="1448989" y="1596097"/>
            <a:chExt cx="3030085" cy="1129664"/>
          </a:xfrm>
        </p:grpSpPr>
        <p:sp>
          <p:nvSpPr>
            <p:cNvPr id="19" name="TextBox 18"/>
            <p:cNvSpPr txBox="1"/>
            <p:nvPr/>
          </p:nvSpPr>
          <p:spPr>
            <a:xfrm>
              <a:off x="1454021" y="1900897"/>
              <a:ext cx="3023679" cy="8248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defRPr/>
              </a:pP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150~1500MHz</a:t>
              </a: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의 마이크로 주파수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pPr lvl="0">
                <a:defRPr/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도시 환경과 열린 환경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(</a:t>
              </a: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농촌 환경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)</a:t>
              </a: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 에 따른 공식이 다름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  <a:p>
              <a:pPr lvl="0">
                <a:defRPr/>
              </a:pP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도시 환경도 중소도시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,</a:t>
              </a:r>
              <a:r>
                <a:rPr lang="ko-KR" alt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/>
                </a:rPr>
                <a:t> 대도시로 분류</a:t>
              </a:r>
              <a:endPara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48989" y="1596097"/>
              <a:ext cx="3030085" cy="27618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defRPr/>
              </a:pPr>
              <a:r>
                <a:rPr lang="ko-KR" altLang="en-US" sz="1200" b="1">
                  <a:solidFill>
                    <a:schemeClr val="accent2"/>
                  </a:solidFill>
                  <a:cs typeface="Arial"/>
                </a:rPr>
                <a:t>하타 모델 </a:t>
              </a:r>
              <a:r>
                <a:rPr lang="en-US" altLang="ko-KR" sz="1200" b="1">
                  <a:solidFill>
                    <a:schemeClr val="accent2"/>
                  </a:solidFill>
                  <a:cs typeface="Arial"/>
                </a:rPr>
                <a:t>(Hata)</a:t>
              </a:r>
              <a:endParaRPr lang="en-US" altLang="ko-KR" sz="1200" b="1">
                <a:solidFill>
                  <a:schemeClr val="accent2"/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 Space Path Loss</a:t>
            </a:r>
            <a:endParaRPr lang="en-US" altLang="ko-KR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FSPL</a:t>
            </a:r>
            <a:r>
              <a:rPr lang="ko-KR" altLang="en-US"/>
              <a:t> 공식 </a:t>
            </a:r>
            <a:endParaRPr lang="ko-KR" altLang="en-US"/>
          </a:p>
        </p:txBody>
      </p:sp>
      <p:pic>
        <p:nvPicPr>
          <p:cNvPr id="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15616" y="1780813"/>
            <a:ext cx="3036799" cy="1224136"/>
          </a:xfrm>
          <a:prstGeom prst="rect">
            <a:avLst/>
          </a:prstGeom>
        </p:spPr>
      </p:pic>
      <p:sp>
        <p:nvSpPr>
          <p:cNvPr id="27" name="TextBox 12"/>
          <p:cNvSpPr txBox="1"/>
          <p:nvPr/>
        </p:nvSpPr>
        <p:spPr>
          <a:xfrm>
            <a:off x="4572000" y="2067694"/>
            <a:ext cx="2926615" cy="577215"/>
          </a:xfrm>
          <a:prstGeom prst="rect">
            <a:avLst/>
          </a:prstGeom>
          <a:noFill/>
        </p:spPr>
        <p:txBody>
          <a:bodyPr wrap="square" anchor="ctr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404040"/>
                </a:solidFill>
                <a:cs typeface="Arial"/>
              </a:rPr>
              <a:t>d : 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404040"/>
                </a:solidFill>
                <a:cs typeface="Arial"/>
              </a:rPr>
              <a:t>안테나 사이 거리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404040"/>
              </a:solidFill>
              <a:cs typeface="Arial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404040"/>
                </a:solidFill>
                <a:cs typeface="Arial"/>
              </a:rPr>
              <a:t>λ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404040"/>
                </a:solidFill>
                <a:cs typeface="Arial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404040"/>
                </a:solidFill>
                <a:cs typeface="Arial"/>
              </a:rPr>
              <a:t> 신호 파장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404040"/>
              </a:solidFill>
              <a:cs typeface="Arial"/>
            </a:endParaRPr>
          </a:p>
        </p:txBody>
      </p:sp>
      <p:sp>
        <p:nvSpPr>
          <p:cNvPr id="28" name="TextBox 12"/>
          <p:cNvSpPr txBox="1"/>
          <p:nvPr/>
        </p:nvSpPr>
        <p:spPr>
          <a:xfrm>
            <a:off x="3108692" y="4011910"/>
            <a:ext cx="2926615" cy="443865"/>
          </a:xfrm>
          <a:prstGeom prst="rect">
            <a:avLst/>
          </a:prstGeom>
          <a:noFill/>
        </p:spPr>
        <p:txBody>
          <a:bodyPr wrap="square" anchor="ctr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300" b="1" i="0" u="none" strike="noStrike" kern="1200" cap="none" spc="0" normalizeH="0" baseline="0" mc:Ignorable="hp" hp:hslEmbossed="0">
                <a:solidFill>
                  <a:srgbClr val="d74709"/>
                </a:solidFill>
                <a:cs typeface="Arial"/>
              </a:rPr>
              <a:t>이론상 수치에 불과</a:t>
            </a:r>
            <a:endParaRPr xmlns:mc="http://schemas.openxmlformats.org/markup-compatibility/2006" xmlns:hp="http://schemas.haansoft.com/office/presentation/8.0" kumimoji="0" lang="en-US" altLang="ko-KR" sz="2300" b="1" i="0" u="none" strike="noStrike" kern="1200" cap="none" spc="0" normalizeH="0" baseline="0" mc:Ignorable="hp" hp:hslEmbossed="0">
              <a:solidFill>
                <a:srgbClr val="d74709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0282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Hata Model</a:t>
            </a:r>
            <a:endParaRPr lang="en-US" altLang="ko-KR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외부 셀룰러 전송의 경로 손실 예측 </a:t>
            </a:r>
            <a:endParaRPr lang="ko-KR" altLang="en-US"/>
          </a:p>
        </p:txBody>
      </p:sp>
      <p:sp>
        <p:nvSpPr>
          <p:cNvPr id="27" name="TextBox 12"/>
          <p:cNvSpPr txBox="1"/>
          <p:nvPr/>
        </p:nvSpPr>
        <p:spPr>
          <a:xfrm>
            <a:off x="539552" y="2116455"/>
            <a:ext cx="4752528" cy="339090"/>
          </a:xfrm>
          <a:prstGeom prst="rect">
            <a:avLst/>
          </a:prstGeom>
          <a:noFill/>
        </p:spPr>
        <p:txBody>
          <a:bodyPr wrap="square" anchor="ctr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404040"/>
                </a:solidFill>
                <a:cs typeface="Arial"/>
              </a:rPr>
              <a:t>안테나 높이 보정 계수가 도시의 크기에 따라 다름</a:t>
            </a:r>
            <a:endPara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<a:solidFill>
                <a:srgbClr val="404040"/>
              </a:solidFill>
              <a:cs typeface="Arial"/>
            </a:endParaRPr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5536" y="1347614"/>
            <a:ext cx="6343650" cy="352425"/>
          </a:xfrm>
          <a:prstGeom prst="rect">
            <a:avLst/>
          </a:prstGeom>
        </p:spPr>
      </p:pic>
      <p:pic>
        <p:nvPicPr>
          <p:cNvPr id="3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06590" y="1906628"/>
            <a:ext cx="2929904" cy="1169178"/>
          </a:xfrm>
          <a:prstGeom prst="rect">
            <a:avLst/>
          </a:prstGeom>
        </p:spPr>
      </p:pic>
      <p:pic>
        <p:nvPicPr>
          <p:cNvPr id="3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08434" y="3363838"/>
            <a:ext cx="4019550" cy="314325"/>
          </a:xfrm>
          <a:prstGeom prst="rect">
            <a:avLst/>
          </a:prstGeom>
        </p:spPr>
      </p:pic>
      <p:pic>
        <p:nvPicPr>
          <p:cNvPr id="34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113473" y="3443062"/>
            <a:ext cx="2886941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2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Lee Model</a:t>
            </a:r>
            <a:endParaRPr lang="en-US" altLang="ko-KR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Point-to-Point Lee Model</a:t>
            </a: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55576" y="1347614"/>
            <a:ext cx="4104456" cy="648072"/>
          </a:xfrm>
          <a:prstGeom prst="rect">
            <a:avLst/>
          </a:prstGeom>
        </p:spPr>
      </p:pic>
      <p:pic>
        <p:nvPicPr>
          <p:cNvPr id="2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56176" y="1347614"/>
            <a:ext cx="2581841" cy="1440160"/>
          </a:xfrm>
          <a:prstGeom prst="rect">
            <a:avLst/>
          </a:prstGeom>
        </p:spPr>
      </p:pic>
      <p:pic>
        <p:nvPicPr>
          <p:cNvPr id="3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55576" y="3651870"/>
            <a:ext cx="3687306" cy="360040"/>
          </a:xfrm>
          <a:prstGeom prst="rect">
            <a:avLst/>
          </a:prstGeom>
        </p:spPr>
      </p:pic>
      <p:sp>
        <p:nvSpPr>
          <p:cNvPr id="31" name="TextBox 12"/>
          <p:cNvSpPr txBox="1"/>
          <p:nvPr/>
        </p:nvSpPr>
        <p:spPr>
          <a:xfrm>
            <a:off x="611560" y="3024748"/>
            <a:ext cx="4752528" cy="339090"/>
          </a:xfrm>
          <a:prstGeom prst="rect">
            <a:avLst/>
          </a:prstGeom>
          <a:noFill/>
        </p:spPr>
        <p:txBody>
          <a:bodyPr wrap="square" anchor="ctr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600" b="1" i="0" u="none" strike="noStrike" kern="1200" cap="none" spc="0" normalizeH="0" baseline="0" mc:Ignorable="hp" hp:hslEmbossed="0">
                <a:solidFill>
                  <a:srgbClr val="404040"/>
                </a:solidFill>
                <a:cs typeface="Arial"/>
              </a:rPr>
              <a:t>기준 경로 손실 계산 </a:t>
            </a:r>
            <a:r>
              <a: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  <a:solidFill>
                  <a:srgbClr val="404040"/>
                </a:solidFill>
                <a:cs typeface="Arial"/>
              </a:rPr>
              <a:t>(L0)</a:t>
            </a:r>
            <a:endParaRPr xmlns:mc="http://schemas.openxmlformats.org/markup-compatibility/2006" xmlns:hp="http://schemas.haansoft.com/office/presentation/8.0" kumimoji="0" lang="en-US" altLang="ko-KR" sz="1600" b="1" i="0" u="none" strike="noStrike" kern="1200" cap="none" spc="0" normalizeH="0" baseline="0" mc:Ignorable="hp" hp:hslEmbossed="0">
              <a:solidFill>
                <a:srgbClr val="404040"/>
              </a:solidFill>
              <a:cs typeface="Arial"/>
            </a:endParaRPr>
          </a:p>
        </p:txBody>
      </p:sp>
      <p:pic>
        <p:nvPicPr>
          <p:cNvPr id="32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58780" y="3655133"/>
            <a:ext cx="3461638" cy="78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8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Microsoft</ep:Company>
  <ep:Words>112</ep:Words>
  <ep:PresentationFormat>On-screen Show (16:9)</ep:PresentationFormat>
  <ep:Paragraphs>20</ep:Paragraphs>
  <ep:Slides>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5</vt:i4>
      </vt:variant>
    </vt:vector>
  </ep:HeadingPairs>
  <ep:TitlesOfParts>
    <vt:vector size="7" baseType="lpstr">
      <vt:lpstr>Cover and End Slide Master</vt:lpstr>
      <vt:lpstr>Contents Slide Master</vt:lpstr>
      <vt:lpstr>슬라이드 1</vt:lpstr>
      <vt:lpstr>슬라이드 2</vt:lpstr>
      <vt:lpstr>슬라이드 3</vt:lpstr>
      <vt:lpstr>슬라이드 4</vt:lpstr>
      <vt:lpstr>슬라이드 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2016-12-05T23:26:54.000</dcterms:created>
  <dc:creator>GoogleSlidesPPT.com;Allppt.com</dc:creator>
  <cp:lastModifiedBy>parkj</cp:lastModifiedBy>
  <dcterms:modified xsi:type="dcterms:W3CDTF">2023-03-12T16:22:29.144</dcterms:modified>
  <cp:revision>107</cp:revision>
  <dc:title>PowerPoint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