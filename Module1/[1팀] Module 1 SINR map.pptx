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64" r:id="rId3"/>
    <p:sldId id="266" r:id="rId4"/>
    <p:sldId id="258" r:id="rId5"/>
    <p:sldId id="257" r:id="rId6"/>
    <p:sldId id="265" r:id="rId7"/>
    <p:sldId id="267" r:id="rId8"/>
    <p:sldId id="268" r:id="rId9"/>
    <p:sldId id="269" r:id="rId10"/>
    <p:sldId id="259" r:id="rId11"/>
    <p:sldId id="260" r:id="rId12"/>
    <p:sldId id="261" r:id="rId13"/>
    <p:sldId id="262" r:id="rId14"/>
    <p:sldId id="263" r:id="rId15"/>
    <p:sldId id="270" r:id="rId16"/>
    <p:sldId id="286" r:id="rId17"/>
    <p:sldId id="288" r:id="rId18"/>
    <p:sldId id="272" r:id="rId19"/>
    <p:sldId id="281" r:id="rId20"/>
    <p:sldId id="282" r:id="rId21"/>
    <p:sldId id="283" r:id="rId22"/>
    <p:sldId id="284" r:id="rId23"/>
    <p:sldId id="285" r:id="rId24"/>
    <p:sldId id="287" r:id="rId25"/>
    <p:sldId id="271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3" y="13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presProps" Target="presProps.xml"  /><Relationship Id="rId28" Type="http://schemas.openxmlformats.org/officeDocument/2006/relationships/viewProps" Target="viewProps.xml"  /><Relationship Id="rId29" Type="http://schemas.openxmlformats.org/officeDocument/2006/relationships/theme" Target="theme/theme1.xml"  /><Relationship Id="rId3" Type="http://schemas.openxmlformats.org/officeDocument/2006/relationships/slide" Target="slides/slide2.xml"  /><Relationship Id="rId30" Type="http://schemas.openxmlformats.org/officeDocument/2006/relationships/tableStyles" Target="tableStyles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19:49:12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276 274 24575,'-1'3'0,"1"-1"0,-1 1 0,0-1 0,0 1 0,0-1 0,-1 0 0,1 0 0,0 0 0,-1 1 0,0-1 0,1-1 0,-1 1 0,0 0 0,0 0 0,0-1 0,0 1 0,0-1 0,0 1 0,-1-1 0,1 0 0,0 0 0,-1 0 0,1 0 0,-4 0 0,3 1 0,0-1 0,0 0 0,0 0 0,0 0 0,-1-1 0,1 1 0,0-1 0,0 1 0,-1-1 0,1 0 0,0 0 0,-1-1 0,1 1 0,0-1 0,-1 0 0,1 0 0,-6-2 0,9 3 0,0 0 0,0 0 0,0 0 0,0 0 0,-1-1 0,1 1 0,0 0 0,0 0 0,0 0 0,0 0 0,0 0 0,0 0 0,0 0 0,0-1 0,0 1 0,0 0 0,0 0 0,0 0 0,0 0 0,0 0 0,0 0 0,0 0 0,0-1 0,0 1 0,0 0 0,0 0 0,0 0 0,0 0 0,0 0 0,0 0 0,0 0 0,0-1 0,0 1 0,0 0 0,0 0 0,0 0 0,0 0 0,1 0 0,-1 0 0,0 0 0,0 0 0,0-1 0,0 1 0,0 0 0,0 0 0,0 0 0,0 0 0,1 0 0,-1 0 0,0 0 0,0 0 0,0 0 0,12-4 0,11-1 0,20 0 0,1 3 0,74 4 0,-116-2 0,-1 0 0,1 0 0,0 1 0,-1-1 0,1 0 0,-1 1 0,1-1 0,-1 1 0,1-1 0,-1 1 0,0 0 0,1-1 0,-1 1 0,0 0 0,2 1 0,-5 5 0,-12-1 0,-2-3 0,1 0 0,-1-1 0,0-1 0,1 0 0,-24-3 0,33 1 0,0 0 0,1 0 0,-1 0 0,0-1 0,1 0 0,-1 0 0,-9-6 0,13 7 0,-1-1 0,1 0 0,0 0 0,-1 0 0,1 0 0,0 0 0,0 0 0,0-1 0,1 1 0,-1-1 0,0 0 0,1 1 0,0-1 0,-1 0 0,0-5 0,1 5 0,1 0 0,0 1 0,0-1 0,0 0 0,0 1 0,1-1 0,-1 0 0,1 0 0,-1 1 0,1-1 0,0 1 0,0-1 0,0 1 0,0-1 0,1 1 0,-1-1 0,1 1 0,-1 0 0,1 0 0,0 0 0,0 0 0,4-3 0,-5 4 0,0 0 0,0 0 0,0 0 0,0 0 0,0 0 0,0 1 0,0-1 0,1 0 0,-1 1 0,0-1 0,1 1 0,-1 0 0,0-1 0,1 1 0,-1 0 0,0 0 0,1 0 0,-1 0 0,1 0 0,-1 0 0,0 0 0,1 0 0,-1 1 0,1-1 0,-1 0 0,0 1 0,0-1 0,1 1 0,-1 0 0,0-1 0,0 1 0,0 0 0,1 0 0,-1-1 0,0 1 0,0 0 0,0 0 0,0 0 0,-1 1 0,1-1 0,0 0 0,0 0 0,0 2 0,0-2 0,-1 0 0,1 0 0,-1 0 0,1 0 0,-1 0 0,1 0 0,-1 0 0,0 0 0,0 0 0,1 0 0,-1 0 0,0 0 0,0 0 0,0 0 0,0 0 0,0 0 0,-1 0 0,1 0 0,0 0 0,0 1 0,-1-1 0,1-1 0,0 1 0,-1 0 0,0 1 0,-1 0 0,1 0 0,-1-1 0,1 1 0,-1-1 0,0 0 0,1 0 0,-1 0 0,0 0 0,0 0 0,0 0 0,-4 1 0,-5 1 0,-1 0 0,0-1 0,-18 1 0,27-3 0,-15 2 0,0-1 0,0-1 0,1-1 0,-1-1 0,-26-5 0,40 6 0,0 0 0,0 0 0,0-1 0,1 0 0,-1 1 0,0-1 0,1 0 0,-1-1 0,1 1 0,0-1 0,0 0 0,-6-5 0,8 5 0,-1 0 0,1 0 0,-1 1 0,1-1 0,0 0 0,0 0 0,0 0 0,1 0 0,-1-1 0,1 1 0,-1 0 0,1 0 0,0 0 0,0 0 0,1-1 0,-1 1 0,1 0 0,-1 0 0,2-4 0,0 4 0,-1-1 0,0 1 0,1 0 0,0-1 0,0 1 0,0 0 0,0 0 0,0 0 0,1 0 0,0 1 0,-1-1 0,1 1 0,0 0 0,0-1 0,0 1 0,0 0 0,0 1 0,1-1 0,-1 1 0,1-1 0,-1 1 0,1 0 0,-1 0 0,6 0 0,10-2 0,-1 1 0,1 1 0,29 1 0,-37 0 0,-7 0 0,1 0 0,-1 1 0,1-1 0,-1 1 0,1-1 0,-1 1 0,0 1 0,1-1 0,-1 1 0,0-1 0,0 1 0,0 0 0,6 4 0,-8-3 0,1 0 0,-1 0 0,0 0 0,0 0 0,0 0 0,0 0 0,0 0 0,-1 1 0,1-1 0,-1 1 0,0-1 0,0 1 0,-1 0 0,1-1 0,-1 1 0,1 0 0,-1 4 0,0 0 0,-1-1 0,1 0 0,-1 0 0,-1 0 0,1 0 0,-1 0 0,-5 12 0,7-18 0,-1 1 0,0 0 0,1 0 0,-1-1 0,0 1 0,0-1 0,0 1 0,0-1 0,0 1 0,0-1 0,-1 0 0,1 1 0,0-1 0,-1 0 0,1 0 0,-1 0 0,0 0 0,1 0 0,-1 0 0,1 0 0,-1-1 0,0 1 0,0-1 0,1 1 0,-1-1 0,0 0 0,0 0 0,0 1 0,0-1 0,1 0 0,-1-1 0,0 1 0,0 0 0,0 0 0,-3-2 0,4 1 0,-1 0 0,0 0 0,1 0 0,-1 0 0,0 0 0,1 0 0,-1 0 0,1-1 0,0 1 0,-1-1 0,1 1 0,0-1 0,0 0 0,0 1 0,0-1 0,0 0 0,1 0 0,-1 1 0,0-1 0,1 0 0,-1 0 0,1 0 0,0 0 0,0 0 0,-1 0 0,1 0 0,1 0 0,-1 0 0,0 0 0,0 0 0,1 0 0,-1 0 0,1 1 0,-1-1 0,1 0 0,0 0 0,0 0 0,0 1 0,0-1 0,0 0 0,0 1 0,1-1 0,-1 1 0,0 0 0,1-1 0,-1 1 0,1 0 0,-1 0 0,1 0 0,0 0 0,-1 0 0,1 0 0,3-1 0,2-1 0,-1 1 0,1 0 0,0 0 0,-1 1 0,1 0 0,0 0 0,0 1 0,0 0 0,0 0 0,-1 0 0,1 1 0,0 0 0,0 0 0,11 4 0,-17-5 0,-1 0 0,0 0 0,0 0 0,0 0 0,0 1 0,1-1 0,-1 0 0,0 0 0,0 0 0,0 0 0,0 0 0,1 0 0,-1 0 0,0 0 0,0 0 0,0 0 0,0 1 0,0-1 0,0 0 0,1 0 0,-1 0 0,0 0 0,0 0 0,0 0 0,0 1 0,0-1 0,0 0 0,0 0 0,0 0 0,0 0 0,0 1 0,0-1 0,0 0 0,0 0 0,0 0 0,0 0 0,0 1 0,0-1 0,0 0 0,0 0 0,0 0 0,0 0 0,0 1 0,0-1 0,0 0 0,0 0 0,0 0 0,-10 5 0,-14 0 0,2-2 0,1-1 0,-1-1 0,-26-2 0,41 0 0,-1 0 0,1 0 0,0-1 0,0 1 0,0-2 0,0 1 0,0-1 0,0 0 0,1 0 0,-1-1 0,1 0 0,0 0 0,-8-6 0,13 8 0,-1 1 0,1 0 0,0-1 0,-1 1 0,1-1 0,0 1 0,0-1 0,0 1 0,0-1 0,0 0 0,0 1 0,0-1 0,1 0 0,-1 0 0,1 0 0,-1 0 0,1 1 0,0-1 0,0 0 0,0 0 0,0 0 0,0 0 0,0 0 0,0 0 0,1 0 0,-1 0 0,1 1 0,0-4 0,1 2 0,0 1 0,-1-1 0,1 1 0,0-1 0,0 1 0,1 0 0,-1 0 0,0 0 0,1 1 0,-1-1 0,1 0 0,-1 1 0,1 0 0,0-1 0,0 1 0,0 0 0,4-1 0,26-3 0,1 0 0,0 3 0,0 0 0,0 3 0,36 4 0,-66-5 0,0 0 0,-1 1 0,1 0 0,0 0 0,0 0 0,-1 0 0,1 0 0,0 1 0,-1-1 0,0 1 0,1 0 0,-1 0 0,0 0 0,0 1 0,0-1 0,0 1 0,5 5 0,-7-5 0,1 0 0,-1 0 0,1 0 0,-1 0 0,0 0 0,0 0 0,0 0 0,0 1 0,-1-1 0,0 0 0,1 0 0,-1 1 0,0-1 0,0 0 0,-1 0 0,1 1 0,-1-1 0,0 0 0,0 0 0,0 0 0,-1 5 0,-1-4 0,1 0 0,-1 0 0,1-1 0,-1 1 0,0 0 0,0-1 0,-1 0 0,1 1 0,-1-2 0,0 1 0,0 0 0,0-1 0,0 1 0,0-1 0,0 0 0,0 0 0,-1-1 0,1 0 0,-1 1 0,1-1 0,-8 0 0,-7 2 0,-1-1 0,0-1 0,-33-3 0,46 2 0,0-1 0,0 0 0,0 0 0,0-1 0,1 0 0,-1 0 0,0-1 0,1 1 0,0-1 0,0-1 0,-7-4 0,10 6 0,0 0 0,1-1 0,-1 0 0,1 1 0,-1-1 0,1 0 0,0 0 0,0 0 0,1 0 0,-1 0 0,0-1 0,1 1 0,0 0 0,0-1 0,0 1 0,0-1 0,1 1 0,-1-1 0,1 0 0,0 1 0,0-1 0,0 1 0,1-6 0,0 2 0,0 0 0,0 0 0,1 0 0,0 0 0,0 0 0,1 0 0,0 0 0,0 1 0,0 0 0,1-1 0,0 1 0,0 0 0,1 1 0,8-10 0,-7 11 0,-1 0 0,1 0 0,0 1 0,0-1 0,1 1 0,-1 1 0,1-1 0,-1 1 0,1 0 0,0 1 0,-1-1 0,1 1 0,0 1 0,0-1 0,10 2 0,-13-1 0,0 0 0,0 1 0,0 0 0,0-1 0,-1 1 0,1 1 0,0-1 0,-1 0 0,1 1 0,-1 0 0,1 0 0,-1 0 0,0 0 0,0 1 0,0-1 0,0 1 0,0-1 0,0 1 0,-1 0 0,1 0 0,-1 1 0,0-1 0,0 0 0,0 1 0,-1-1 0,1 1 0,0 3 0,1 0 0,-2 0 0,1 0 0,-1 0 0,0 0 0,0 0 0,-1 0 0,0 0 0,0 0 0,-1 0 0,0 0 0,0 0 0,-1 0 0,1 0 0,-5 10 0,3-12 0,0 0 0,0 0 0,-1-1 0,1 1 0,-1-1 0,0 0 0,0 0 0,0-1 0,-1 1 0,1-1 0,-1 0 0,0 0 0,0 0 0,0-1 0,0 0 0,0 0 0,-1 0 0,1 0 0,-1-1 0,1 0 0,-1 0 0,-6 0 0,3 0 0,-1-1 0,1 0 0,0 0 0,0 0 0,0-2 0,0 1 0,0-1 0,0 0 0,1-1 0,-1 0 0,1 0 0,-1-1 0,-8-5 0,13 6 0,1 1 0,-1-1 0,1 0 0,0 0 0,0 0 0,0-1 0,0 1 0,0-1 0,1 0 0,-4-6 0,5 9 0,1-1 0,-1 1 0,1-1 0,-1 1 0,1-1 0,0 1 0,0-1 0,0 1 0,0-1 0,0 1 0,0-1 0,0 1 0,0-1 0,1 1 0,-1-1 0,1 1 0,-1-1 0,1 1 0,-1-1 0,1 1 0,0 0 0,-1-1 0,1 1 0,0 0 0,0 0 0,0 0 0,0-1 0,0 1 0,1 0 0,-1 0 0,0 1 0,0-1 0,1 0 0,1-1 0,5-2 0,0 1 0,0-1 0,1 1 0,-1 1 0,1-1 0,0 1 0,17-1 0,-4 2 0,0 0 0,25 3 0,-43-1 0,0-1 0,-1 1 0,1-1 0,-1 1 0,1 0 0,-1 1 0,1-1 0,-1 0 0,1 1 0,-1 0 0,0 0 0,0 0 0,0 0 0,0 1 0,-1-1 0,1 1 0,0-1 0,-1 1 0,0 0 0,0 0 0,0 0 0,0 0 0,0 0 0,0 1 0,-1-1 0,0 1 0,1-1 0,0 7 0,-1-6 0,-1 0 0,1 1 0,-1-1 0,0 1 0,0-1 0,-1 0 0,1 1 0,-1-1 0,0 1 0,0-1 0,0 0 0,-1 0 0,1 0 0,-1 0 0,0 0 0,-1 0 0,1 0 0,0 0 0,-1-1 0,0 1 0,0-1 0,0 0 0,-5 4 0,7-6 3,0 0-1,0 0 0,0 0 0,0 0 1,0 0-1,0 0 0,0-1 1,0 1-1,0 0 0,0-1 1,-1 1-1,1-1 0,0 1 0,0-1 1,-1 0-1,1 1 0,0-1 1,-1 0-1,1 0 0,0 0 1,-1 0-1,1 0 0,0 0 1,-1 0-1,1-1 0,0 1 0,0 0 1,-1-1-1,1 1 0,0-1 1,0 1-1,0-1 0,-1 0 1,1 1-1,0-1 0,0 0 0,0 0 1,0 0-1,0 0 0,0 0 1,1 0-1,-1 0 0,0 0 1,0 0-1,1 0 0,-1 0 0,1 0 1,-1-1-1,1 1 0,-1 0 1,1-3-1,-3-6-299,0 0 0,1-1 0,0 1 0,0-21 0,2 0-6529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19:49:14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44 24575,'-5'0'0,"-6"0"0,-10 0 0,-6 0 0,-4-9 0,0-8 0,5 0-8191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19:49:28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142 250 24575,'0'1'0,"-1"0"0,1 0 0,0 0 0,0 0 0,-1 0 0,1 0 0,-1 0 0,1 0 0,-1 0 0,1-1 0,-1 1 0,0 0 0,1 0 0,-1-1 0,0 1 0,1 0 0,-1-1 0,0 1 0,0 0 0,0-1 0,0 1 0,0-1 0,0 0 0,0 1 0,1-1 0,-1 0 0,0 1 0,0-1 0,0 0 0,0 0 0,0 0 0,0 0 0,0 0 0,-2 0 0,1 0 0,0 0 0,0 0 0,-1 0 0,1 0 0,0-1 0,-1 1 0,1-1 0,0 1 0,0-1 0,0 0 0,-1 0 0,1 0 0,0 0 0,-2-2 0,1 1 0,1 0 0,0 0 0,1-1 0,-1 1 0,0-1 0,1 1 0,-1-1 0,1 0 0,0 0 0,0 0 0,0 0 0,0 1 0,1-1 0,-1 0 0,1 0 0,-1 0 0,1 0 0,0-1 0,0 1 0,1 0 0,-1 0 0,1 0 0,-1 0 0,1 1 0,0-1 0,0 0 0,0 0 0,1 0 0,-1 1 0,1-1 0,-1 0 0,1 1 0,0-1 0,0 1 0,0 0 0,0 0 0,0 0 0,1 0 0,-1 0 0,0 0 0,1 1 0,0-1 0,-1 1 0,1-1 0,0 1 0,0 0 0,3-1 0,34-5 0,50-4 0,-88 10 0,0 1 0,0 0 0,-1 0 0,1 0 0,0 0 0,0 0 0,-1 0 0,1 0 0,0 1 0,-1-1 0,1 0 0,0 1 0,-1 0 0,1-1 0,-1 1 0,1 0 0,2 2 0,-3-2 0,-1-1 0,1 1 0,-1 0 0,1 0 0,-1 0 0,0 0 0,0-1 0,1 1 0,-1 0 0,0 0 0,0 0 0,0 0 0,0 0 0,0 0 0,0 0 0,0 0 0,0 0 0,0-1 0,-1 1 0,1 0 0,0 0 0,-1 0 0,0 1 0,-2 4 0,0 0 0,0-1 0,-1 0 0,0 1 0,0-1 0,-1-1 0,-8 9 0,7-8 0,0-1 0,0 0 0,-1 0 0,1 0 0,-1-1 0,1 0 0,-1 0 0,-11 3 0,16-6 0,0 1 0,1-1 0,-1 0 0,0 0 0,0 0 0,0 0 0,0 0 0,1 0 0,-1 0 0,0 0 0,0-1 0,0 1 0,1-1 0,-1 1 0,0-1 0,1 0 0,-1 0 0,0 0 0,1 0 0,-1 0 0,1 0 0,-1 0 0,1 0 0,0-1 0,-1 1 0,1 0 0,0-1 0,0 1 0,0-1 0,0 1 0,0-1 0,1 0 0,-1 1 0,0-1 0,1 0 0,-1 0 0,1 1 0,-1-1 0,1-2 0,-1-4 0,-1 0 0,2 0 0,-1 0 0,1 1 0,0-1 0,1 0 0,0 0 0,0 0 0,1 1 0,0-1 0,4-9 0,-5 12 0,1 1 0,0 0 0,0 1 0,1-1 0,-1 0 0,1 0 0,-1 1 0,1 0 0,0-1 0,1 1 0,-1 0 0,0 1 0,1-1 0,0 1 0,-1-1 0,1 1 0,0 0 0,0 0 0,0 1 0,1-1 0,6-1 0,0 1 0,0 1 0,1 0 0,-1 0 0,0 1 0,1 0 0,-1 1 0,19 4 0,-28-5 0,1 1 0,0 0 0,0 0 0,0 0 0,-1 0 0,1 0 0,-1 0 0,1 1 0,-1 0 0,1-1 0,-1 1 0,0 0 0,0 0 0,0 0 0,0 0 0,0 1 0,0-1 0,-1 0 0,1 1 0,-1-1 0,1 1 0,-1 0 0,0-1 0,0 1 0,0 0 0,0 0 0,-1-1 0,1 1 0,-1 0 0,0 0 0,0 0 0,0 0 0,0 0 0,-1 5 0,0-2 0,-1 0 0,0 0 0,0 0 0,0 0 0,-1 0 0,1 0 0,-2-1 0,1 1 0,0-1 0,-1 0 0,0 0 0,0 0 0,-1 0 0,1-1 0,-11 8 0,7-6 0,-1 0 0,1-1 0,-1 0 0,0 0 0,0-1 0,-1 0 0,0-1 0,1 0 0,-14 2 0,11-3 0,0 0 0,-1-1 0,1-1 0,0 0 0,-1-1 0,1 0 0,-21-5 0,29 5 0,0-1 0,0 1 0,0-1 0,0 1 0,0-1 0,0-1 0,1 1 0,-1 0 0,1-1 0,-1 0 0,1 0 0,0 0 0,0 0 0,0 0 0,1 0 0,-1-1 0,1 0 0,0 1 0,0-1 0,0 0 0,0 0 0,1 0 0,0 0 0,0 0 0,-1-5 0,0 0 0,1 1 0,0-1 0,0 1 0,1-1 0,0 0 0,1 1 0,0-1 0,0 1 0,1-1 0,3-9 0,-4 14 0,1 1 0,0-1 0,0 1 0,0-1 0,0 1 0,1 0 0,-1 0 0,1 0 0,0 0 0,0 0 0,0 0 0,0 1 0,0-1 0,0 1 0,1 0 0,-1 0 0,1 1 0,0-1 0,-1 1 0,1-1 0,0 1 0,0 0 0,7 0 0,4-1 0,0 0 0,0 1 0,0 1 0,0 1 0,0 0 0,22 5 0,-33-5 0,0 0 0,0 0 0,0 1 0,0-1 0,-1 1 0,1 0 0,0 0 0,-1 1 0,0-1 0,1 1 0,-1-1 0,3 5 0,-4-5 0,0 0 0,-1 1 0,1-1 0,-1 1 0,0 0 0,0-1 0,0 1 0,0 0 0,0 0 0,-1 0 0,1 0 0,-1-1 0,0 1 0,0 0 0,0 0 0,0 0 0,0 0 0,-1 0 0,0 3 0,-1-1 0,1 0 0,-1-1 0,0 0 0,-1 0 0,1 1 0,-1-2 0,0 1 0,0 0 0,0 0 0,0-1 0,0 1 0,-1-1 0,0 0 0,0 0 0,0-1 0,0 1 0,0-1 0,0 0 0,0 0 0,-1 0 0,1 0 0,-1-1 0,-9 2 0,10-2 0,0 0 0,-1 0 0,1 0 0,-1-1 0,1 0 0,-1 0 0,1 0 0,-1 0 0,1-1 0,-1 1 0,1-1 0,-1 0 0,1-1 0,-1 1 0,1-1 0,0 0 0,0 0 0,0 0 0,0 0 0,0-1 0,1 1 0,-1-1 0,1 0 0,-6-6 0,8 8 0,1 0 0,-1-1 0,0 1 0,0 0 0,1 0 0,-1 0 0,1-1 0,-1 1 0,1 0 0,0-1 0,-1 1 0,1 0 0,0-1 0,0 1 0,0 0 0,0-1 0,0 1 0,0 0 0,0-1 0,1 1 0,-1 0 0,0-1 0,1 1 0,-1 0 0,2-2 0,-1 1 0,1-1 0,0 1 0,0 0 0,0 0 0,0 0 0,1 0 0,-1 0 0,0 1 0,1-1 0,-1 1 0,5-2 0,1-1 0,0 1 0,0 0 0,1 1 0,-1 0 0,1 0 0,-1 1 0,11-1 0,-17 2 0,0 0 0,0 0 0,0 1 0,0-1 0,0 0 0,0 1 0,0-1 0,0 1 0,0-1 0,-1 1 0,1 0 0,0 0 0,0 0 0,-1 0 0,1 0 0,-1 0 0,1 1 0,-1-1 0,1 0 0,-1 1 0,0-1 0,0 1 0,2 2 0,-3-3 0,1 0 0,-1 1 0,0-1 0,0 1 0,0-1 0,0 0 0,0 1 0,0-1 0,0 1 0,-1-1 0,1 0 0,0 1 0,-1-1 0,1 0 0,-1 1 0,1-1 0,-1 0 0,0 0 0,0 0 0,1 1 0,-1-1 0,0 0 0,0 0 0,0 0 0,0 0 0,0 0 0,0-1 0,-1 1 0,1 0 0,0 0 0,0-1 0,-1 1 0,-1 0 0,-2 1 0,0 1 0,-1-1 0,1-1 0,-1 1 0,1-1 0,-1 0 0,0 0 0,1-1 0,-1 1 0,0-1 0,0 0 0,1-1 0,-7-1 0,10 2 0,0 0 0,-1-1 0,1 1 0,0-1 0,0 0 0,0 1 0,0-1 0,0 0 0,0 0 0,0-1 0,0 1 0,0 0 0,0-1 0,0 1 0,1-1 0,-1 1 0,1-1 0,-1 0 0,1 0 0,0 0 0,-1 1 0,1-1 0,0 0 0,0-1 0,1 1 0,-1 0 0,0 0 0,1 0 0,-1 0 0,1-1 0,0 1 0,-1 0 0,1-1 0,1-2 0,25 32 0,-17-17 0,0-1 0,0-1 0,1 1 0,0-1 0,1-1 0,0 0 0,0-1 0,1 0 0,-1 0 0,1-2 0,18 6 0,-24-8 0,-1-1 0,0 0 0,1 0 0,0 0 0,-1 0 0,1-1 0,-1 0 0,1-1 0,0 1 0,-1-1 0,1 0 0,-1 0 0,0-1 0,1 1 0,-1-1 0,0 0 0,0-1 0,0 1 0,0-1 0,0 0 0,-1 0 0,1-1 0,-1 0 0,0 1 0,0-1 0,0-1 0,-1 1 0,6-8 0,-7 9 0,-1 1 0,1 0 0,-1 0 0,0-1 0,0 1 0,0-1 0,0 1 0,0-1 0,0 0 0,-1 1 0,1-1 0,-1 0 0,0 1 0,0-1 0,0 0 0,0 0 0,0 1 0,-1-1 0,1 0 0,-2-3 0,1 3 0,-1 0 0,0 0 0,0 1 0,0-1 0,0 1 0,0-1 0,0 1 0,-1 0 0,1 0 0,-1 0 0,1 0 0,-1 0 0,0 1 0,0-1 0,-3 0 0,-2-2 0,0 2 0,0-1 0,0 1 0,0 0 0,-1 1 0,1 0 0,-1 0 0,1 1 0,-1 0 0,1 1 0,-1 0 0,-10 2 0,16-2 0,1 0 0,-1 0 0,1 0 0,0 1 0,0-1 0,-1 1 0,1-1 0,0 1 0,0 0 0,0-1 0,1 1 0,-1 0 0,0 1 0,1-1 0,-1 0 0,1 0 0,0 1 0,0-1 0,0 0 0,0 1 0,0-1 0,0 1 0,1 0 0,-1-1 0,1 1 0,0 0 0,0-1 0,0 1 0,0-1 0,0 1 0,0 0 0,2 4 0,-2-5 0,1 1 0,-1-1 0,0 0 0,1 1 0,0-1 0,0 0 0,0 1 0,0-1 0,0 0 0,0 0 0,0 0 0,1 0 0,-1 0 0,1 0 0,0 0 0,-1-1 0,1 1 0,0-1 0,0 1 0,0-1 0,0 1 0,0-1 0,0 0 0,1 0 0,-1 0 0,0 0 0,0-1 0,1 1 0,-1-1 0,1 1 0,-1-1 0,0 0 0,1 0 0,2 0 0,-3-1 0,1 0 0,-1 0 0,0 0 0,0 0 0,0 0 0,0-1 0,0 1 0,0-1 0,0 0 0,0 0 0,-1 1 0,1-1 0,-1 0 0,1 0 0,-1 0 0,0-1 0,1 1 0,-1 0 0,-1 0 0,1-1 0,0 1 0,0 0 0,-1-1 0,1-3 0,1-5 0,0 0 0,-1 0 0,0-1 0,-1-10 0,0 19 0,0 0 0,0 0 0,0 1 0,-1-1 0,1 0 0,-1 0 0,0 1 0,0-1 0,0 1 0,0-1 0,-2-2 0,3 4 0,-1 1 0,0-1 0,1 1 0,-1-1 0,0 1 0,0-1 0,0 1 0,1-1 0,-1 1 0,0 0 0,0 0 0,0-1 0,0 1 0,0 0 0,0 0 0,0 0 0,1 0 0,-1 0 0,0 0 0,0 0 0,0 0 0,0 0 0,0 1 0,0-1 0,0 0 0,1 0 0,-1 1 0,0-1 0,0 1 0,0-1 0,1 1 0,-1-1 0,0 1 0,-1 0 0,-18 12-1365,1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19:49:55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19:49:59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19:53:19.68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085.27954"/>
      <inkml:brushProperty name="anchorY" value="1045.3324"/>
      <inkml:brushProperty name="scaleFactor" value="0.5"/>
    </inkml:brush>
  </inkml:definitions>
  <inkml:trace contextRef="#ctx0" brushRef="#br0">355 264 24575,'0'0'0,"-4"-5"0,-8-2 0,-5 2 0,-4 0 0,-3 2 0,-3 0 0,-6 2 0,0 1 0,4-6 0,8-4 0,21 9 0,-1 0 0,0 0 0,0 0 0,0 0 0,0 0 0,1 0 0,-1 0 0,0 0 0,1 0 0,-1 0 0,1 0 0,-1 0 0,0-2 0,4-13 0,9 3 0,8 3 0,5 4 0,3 2 0,1 3 0,-5 6 0,-6 6 0,-12 1 0,-9-2 0,-11-1 0,-6-4 0,-10-1 0,-3-2 0,-1-2 0,0 0 0,2 0 0,1-1 0,7-5 0,7-5 0,6-11 0,5-5 0,9 3 0,-1 22 0,-1 0 0,0 0 0,0 1 0,0-1 0,0 0 0,1 0 0,-1 0 0,1 1 0,2-3 0,14-16 0,4 5 0,3 5 0,1-2 0,1 3 0,1 2 0,0 2 0,-1 3 0,1 0 0,-6 7 0,-1 6 0,-5 6 0,-4 5 0,-5 8 0,-9-3 0,-7-5 0,-7-5 0,-6-7 0,-3-4 0,-7-4 0,-2-1 0,0-7 0,-5-1 0,8-5 0,6-10 0,26 22 0,-2-1 0,0 0 0,1-1 0,-1 1 0,0 0 0,1-1 0,-1 1 0,1 0 0,-1-1 0,1 1 0,0-1 0,0 1 0,-1-1 0,1-1 0,0 3 0,0-2 0,0 1 0,0 0 0,0 0 0,1-1 0,-1 1 0,0 0 0,1 0 0,-1 0 0,1-1 0,0 1 0,-1 0 0,1 0 0,1-1 0,15-18 0,7 6 0,4-3 0,2 5 0,0 2 0,5 4 0,0-3 0,4 2 0,-1 1 0,-7 7 0,-8 7 0,-13 2 0,-12 4 0,-11 11 0,-8 2 0,-4-2 0,2 0 0,0-5 0,-1-6 0,0-5 0,-7-3 0,-1-4 0,0-2 0,1-1 0,1-5 0,6-6 0,7-5 0,5-5 0,12 3 0,8 3 0,8 4 0,6 5 0,9 3 0,2 3 0,1 1 0,-1 0 0,-6 7 0,-8 5 0,-6 5 0,-12-1 0,-9-2 0,-7-4 0,-13-3 0,-3-3 0,-2-3 0,5-11 0,6-7 0,13-1 0,12 3 0,15 3 0,2 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19:53:27.4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2318.677"/>
      <inkml:brushProperty name="anchorY" value="2247.18311"/>
      <inkml:brushProperty name="scaleFactor" value="0.5"/>
    </inkml:brush>
  </inkml:definitions>
  <inkml:trace contextRef="#ctx0" brushRef="#br0">281 276 24575,'0'0'0,"-4"0"0,-8 0 0,-5 0 0,-4 0 0,-3 0 0,-8 0 0,-1 0 0,-1-6 0,7-5 0,1-6 0,7-9 0,6-4 0,5-2 0,4 0 0,2 0 0,8 8 0,6 5 0,6 8 0,4 4 0,3 4 0,2 3 0,1 1 0,0 0 0,-5 6 0,0-1 0,-1 6 0,-5 4 0,-4 4 0,-4 4 0,-10-4 0,-7 1 0,-9-4 0,-4-5 0,-4-4 0,-3-3 0,11-3 0,10-2 0,17-1 0,9 1 0,8-1 0,3 0 0,-10 0 0,-11 6 0,-11 1 0,-22-1 0,-7 0 0,-5-2 0,-1-1 0,1-1 0,3 0 0,1-1 0,8-6 0,12-5 0,12 10 0,0 1 0,-1-1 0,1 0 0,0 0 0,0 0 0,0 0 0,0 0 0,-1 0 0,2 0 0,-1 0 0,0 0 0,0 0 0,0 0 0,0 0 0,1-1 0,4-19 0,9 2 0,10 3 0,4 5 0,3 4 0,12 9 0,-1 7 0,-11 2 0,-14 0 0,-17-12 0,0 2 0,1-1 0,-1 0 0,0 0 0,0 0 0,0 1 0,1-1 0,-1 0 0,0 0 0,0 1 0,0-1 0,0 0 0,0 0 0,0 1 0,1-1 0,-1 0 0,0 0 0,0 1 0,0-1 0,0 0 0,0 0 0,0 1 0,0-1 0,0 0 0,0 1 0,0-1 0,0 0 0,0 0 0,0 1 0,-1-1 0,1 0 0,0 0 0,0 1 0,-16-5 0,-9-3 0,-5-8 0,3-10 0,10 2 0,7-2 0,11 4 0,10 5 0,6 6 0,7 4 0,2 3 0,2 2 0,-4 7 0,-6 11 0,-6 6 0,-5 5 0,-4 2 0,-2 0 0,-1 0 0,-1-1 0,-6-6 0,-4-6 0,-12-6 0,-10-10 0,-2-10 0,3-6 0,8-7 0,7-3 0,7-3 0,4-6 0,5 0 0,6 5 0,7 7 0,6 7 0,-1 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19:53:41.44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3477.84155"/>
      <inkml:brushProperty name="anchorY" value="3535.08716"/>
      <inkml:brushProperty name="scaleFactor" value="0.5"/>
    </inkml:brush>
  </inkml:definitions>
  <inkml:trace contextRef="#ctx0" brushRef="#br0">1 225 24575,'0'0'0,"0"9"0,5 3 0,6-1 0,5-2 0,5-2 0,4-3 0,1-2 0,2-1 0,0-1 0,5 0 0,-5-6 0,0-5 0,-7-6 0,-5-4 0,-1-4 0,-5-1 0,-2-2 0,2 0 0,3 0 0,4 0 0,-1 0 0,2 6 0,-3 11 0,-9 11 0,-9 11 0,-3 7 0,-8 1 0,-4 2 0,-9 8 0,-9-5 0,-2-3 0,1-7 0,1-4 0,-3 0 0,2-2 0,3-2 0,1-2 0,3-2 0,12-6 0,12-2 0,12 0 0,9-4 0,2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19:53:47.79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2422.07397"/>
      <inkml:brushProperty name="anchorY" value="2581.18018"/>
      <inkml:brushProperty name="scaleFactor" value="0.5"/>
    </inkml:brush>
  </inkml:definitions>
  <inkml:trace contextRef="#ctx0" brushRef="#br0">0 0 24575,'0'0'0,"0"5"0,0 7 0,5-1 0,1-7 0,5-1 0,-1-4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19:57:31.28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1 24575,'0'0'0</inkml:trace>
</inkml:ink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0FA39-AA67-A3AB-F1B0-58006E57E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0CF6F1-1568-BAAD-7F52-D4A72C871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A51BCF-85FE-1856-473B-791C4686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9B89C4-FAEB-34F9-AEC6-5919E0658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8F9FA1-E166-7F61-EA60-B052A0E00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355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9D25DE-B2C2-824B-E458-74C1AA46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B0929C-30E9-D4EC-32DC-5FFD92ADF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3C1F6E-7A19-5340-5739-632030C3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8B7C10-EF52-148E-A3A0-F234C8959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6B052A-8DCF-7DA2-EB98-3396BEE8D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25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EA1FB-D709-03A3-4033-54C3D18A2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75F3AF-43FC-0E28-47EB-4C9304393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4F3970-678A-E7F9-0DAA-F1BB6857E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B17D2A-E8AB-6EBD-FD7B-2EC99F02A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34E51-E2A2-A15B-6C34-878D9A92F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49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CC454-F363-681D-D95B-0236E48C7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F9CCA8-2A28-745A-0DE3-06A5B4AA5B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B231EE-9065-CDDE-0157-CE1D9F89B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F7EDCD-2C5B-640D-01C7-9F41F8DF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F9F60D-BFA6-5373-B906-785513A28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A17613-91F4-2CAC-1F03-87C3997C7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67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AAAE5-2022-BE8C-8C09-17C09F96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B6F7C2-F07F-B190-5B98-A8F590199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081FB4-7D20-5AA6-7E5D-441C5D0CC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131305-37BC-9271-D232-4017935F74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06735D-0E99-F2C0-782A-52EC0E586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D21285C-3024-A352-9CEF-BB78D9409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AAACF0-9D5B-08EC-4F92-BAB3D15C8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65D6B0-EADF-CAC7-68D6-81A3E865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800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210217-0ABC-A198-0C68-DC4032E9D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F6732C-1292-FE48-A88E-C65D533F0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76CAFD-D40B-03E3-8515-FA71455F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8AB0FB-5DC0-95CF-B6C5-52AB613A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39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6A9EEBE-BA80-C6A1-A540-4715B9F2C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9C5C413-DAA0-5C09-43AF-D6797D408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74E690-A0DD-7816-11E7-8064A8B3B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722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96548-4380-63D0-18E5-FEB8BD6B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6962EF-C1BE-A0BD-43EA-313FB7543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B779B0-389C-911A-F7CA-6F95D6493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41206F-9050-7D0E-3903-B2FD93FEC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83D8D1-F631-AA2F-A6A4-1DEFD8B68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71382C-F570-1846-B395-6F65705DC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398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61E735-C0EE-CD25-C1A7-EC6A8D9E6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7854BE9-802C-B428-9148-45AFBF5B4C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0744A0-3EEF-9C92-4863-52E640092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157543-7914-869F-4C08-E398976C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D9192A-94AA-C049-4CE2-60995688D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501B60-4BD1-2AC4-E7BA-F6E7AE9C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90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9A0AB-1271-85A8-7AA5-2DBCDCEC9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7AD17D-55D0-76CC-6928-C5345616E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6880DF-6547-8AB4-01A2-F64FA4ABD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FA5CF5-9140-C114-560B-AC3148AD3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2E9A56-E8F3-065A-F6F3-F23450D3C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7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73C93DE-07EA-7127-46DA-1889EEDB79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3DA3DF-6034-4088-20E1-FEAB8D4F6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164B50-3110-CF95-A8B8-BFDA47A09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7E12C9-AF48-6AE4-7B45-BE18EA334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69C75A-36BE-D871-478B-89D2149D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41454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744425-9BEE-47FF-B3DE-6164F7257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AEC071-0076-7CAC-D167-491DC807F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6C6C70-7D2F-34FA-427A-94C0603724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0A6D0D-83ED-5C2F-6C5B-3297ACE53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F72C15-21ED-5171-4175-3F34A42B2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669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8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Relationship Id="rId4" Type="http://schemas.openxmlformats.org/officeDocument/2006/relationships/image" Target="../media/image11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9.png"  /><Relationship Id="rId3" Type="http://schemas.openxmlformats.org/officeDocument/2006/relationships/image" Target="../media/image20.png"  /><Relationship Id="rId4" Type="http://schemas.openxmlformats.org/officeDocument/2006/relationships/image" Target="../media/image2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10" Type="http://schemas.openxmlformats.org/officeDocument/2006/relationships/image" Target="../media/image27.png"  /><Relationship Id="rId2" Type="http://schemas.openxmlformats.org/officeDocument/2006/relationships/image" Target="../media/image22.png"  /><Relationship Id="rId3" Type="http://schemas.openxmlformats.org/officeDocument/2006/relationships/image" Target="../media/image23.png"  /><Relationship Id="rId4" Type="http://schemas.openxmlformats.org/officeDocument/2006/relationships/image" Target="../media/image24.png"  /><Relationship Id="rId5" Type="http://schemas.openxmlformats.org/officeDocument/2006/relationships/customXml" Target="../ink/ink1.xml"  /><Relationship Id="rId6" Type="http://schemas.openxmlformats.org/officeDocument/2006/relationships/image" Target="../media/image25.png"  /><Relationship Id="rId7" Type="http://schemas.openxmlformats.org/officeDocument/2006/relationships/customXml" Target="../ink/ink2.xml"  /><Relationship Id="rId8" Type="http://schemas.openxmlformats.org/officeDocument/2006/relationships/image" Target="../media/image26.png"  /><Relationship Id="rId9" Type="http://schemas.openxmlformats.org/officeDocument/2006/relationships/customXml" Target="../ink/ink3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10" Type="http://schemas.openxmlformats.org/officeDocument/2006/relationships/customXml" Target="../ink/ink7.xml"  /><Relationship Id="rId11" Type="http://schemas.openxmlformats.org/officeDocument/2006/relationships/image" Target="../media/image33.png"  /><Relationship Id="rId12" Type="http://schemas.openxmlformats.org/officeDocument/2006/relationships/customXml" Target="../ink/ink8.xml"  /><Relationship Id="rId13" Type="http://schemas.openxmlformats.org/officeDocument/2006/relationships/image" Target="../media/image34.png"  /><Relationship Id="rId14" Type="http://schemas.openxmlformats.org/officeDocument/2006/relationships/customXml" Target="../ink/ink9.xml"  /><Relationship Id="rId15" Type="http://schemas.openxmlformats.org/officeDocument/2006/relationships/image" Target="../media/image35.png"  /><Relationship Id="rId2" Type="http://schemas.openxmlformats.org/officeDocument/2006/relationships/customXml" Target="../ink/ink4.xml"  /><Relationship Id="rId3" Type="http://schemas.openxmlformats.org/officeDocument/2006/relationships/image" Target="../media/image28.png"  /><Relationship Id="rId4" Type="http://schemas.openxmlformats.org/officeDocument/2006/relationships/customXml" Target="../ink/ink5.xml"  /><Relationship Id="rId5" Type="http://schemas.openxmlformats.org/officeDocument/2006/relationships/image" Target="../media/image29.png"  /><Relationship Id="rId6" Type="http://schemas.openxmlformats.org/officeDocument/2006/relationships/image" Target="../media/image30.png"  /><Relationship Id="rId7" Type="http://schemas.openxmlformats.org/officeDocument/2006/relationships/image" Target="../media/image31.png"  /><Relationship Id="rId8" Type="http://schemas.openxmlformats.org/officeDocument/2006/relationships/customXml" Target="../ink/ink6.xml"  /><Relationship Id="rId9" Type="http://schemas.openxmlformats.org/officeDocument/2006/relationships/image" Target="../media/image3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customXml" Target="../ink/ink10.xml"  /><Relationship Id="rId3" Type="http://schemas.openxmlformats.org/officeDocument/2006/relationships/image" Target="../media/image36.png"  /><Relationship Id="rId4" Type="http://schemas.openxmlformats.org/officeDocument/2006/relationships/image" Target="../media/image37.png"  /><Relationship Id="rId5" Type="http://schemas.openxmlformats.org/officeDocument/2006/relationships/image" Target="../media/image38.png"  /><Relationship Id="rId6" Type="http://schemas.openxmlformats.org/officeDocument/2006/relationships/image" Target="../media/image39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0.png"  /><Relationship Id="rId3" Type="http://schemas.openxmlformats.org/officeDocument/2006/relationships/image" Target="../media/image41.png"  /><Relationship Id="rId4" Type="http://schemas.openxmlformats.org/officeDocument/2006/relationships/image" Target="../media/image42.png"  /><Relationship Id="rId5" Type="http://schemas.openxmlformats.org/officeDocument/2006/relationships/image" Target="../media/image43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4.png"  /><Relationship Id="rId3" Type="http://schemas.openxmlformats.org/officeDocument/2006/relationships/image" Target="../media/image45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doi.org/10.7236/JIIBC.2015.15.4.105" TargetMode="External" /><Relationship Id="rId3" Type="http://schemas.openxmlformats.org/officeDocument/2006/relationships/hyperlink" Target="https://scienceon.kisti.re.kr/commons/util/originalView.do?cn=JAKO201707153701890&amp;oCn=JAKO201707153701890&amp;dbt=JAKO&amp;journal=NJOU00395629" TargetMode="External" /><Relationship Id="rId4" Type="http://schemas.openxmlformats.org/officeDocument/2006/relationships/hyperlink" Target="https://scienceon.kisti.re.kr/commons/util/originalView.do?cn=JAKO201402852973994&amp;oCn=JAKO201402852973994&amp;dbt=JAKO&amp;journal=NJOU00395629" TargetMode="External" /><Relationship Id="rId5" Type="http://schemas.openxmlformats.org/officeDocument/2006/relationships/hyperlink" Target="https://en.wikipedia.org/wiki/Signal-to-interference-plus-noise_ratio" TargetMode="External" /><Relationship Id="rId6" Type="http://schemas.openxmlformats.org/officeDocument/2006/relationships/hyperlink" Target="https://wiki.teltonika-networks.com/view/SINR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5FF9B6-A09A-2D8F-776A-DBC9274145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LinkBudget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SINR MAP</a:t>
            </a:r>
            <a:br>
              <a:rPr lang="en-US" altLang="ko-KR" dirty="0"/>
            </a:br>
            <a:r>
              <a:rPr lang="en-US" altLang="ko-KR" sz="3600" dirty="0"/>
              <a:t>(A Two-cell case)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5CB3CA-0E63-9EE4-BFD5-379D86A88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91536"/>
            <a:ext cx="9144000" cy="1655762"/>
          </a:xfrm>
        </p:spPr>
        <p:txBody>
          <a:bodyPr/>
          <a:lstStyle/>
          <a:p>
            <a:pPr algn="r"/>
            <a:r>
              <a:rPr lang="ko-KR" altLang="en-US" dirty="0" err="1"/>
              <a:t>박준모</a:t>
            </a:r>
            <a:endParaRPr lang="en-US" altLang="ko-KR" dirty="0"/>
          </a:p>
          <a:p>
            <a:pPr algn="r"/>
            <a:r>
              <a:rPr lang="ko-KR" altLang="en-US" dirty="0"/>
              <a:t>박지원</a:t>
            </a:r>
            <a:endParaRPr lang="en-US" altLang="ko-KR" dirty="0"/>
          </a:p>
          <a:p>
            <a:pPr algn="r"/>
            <a:r>
              <a:rPr lang="ko-KR" altLang="en-US" dirty="0" err="1"/>
              <a:t>윤철훈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5818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6DD97-C80E-5704-0C54-A93A08377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2914D0-E28C-D84B-6696-A762D0CFE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0479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/>
              <a:t>I. </a:t>
            </a:r>
            <a:r>
              <a:rPr lang="ko-KR" altLang="en-US" dirty="0"/>
              <a:t>주파수에 따른 </a:t>
            </a:r>
            <a:r>
              <a:rPr lang="en-US" altLang="ko-KR" dirty="0"/>
              <a:t>Model’s SINR </a:t>
            </a:r>
            <a:r>
              <a:rPr lang="ko-KR" altLang="en-US" dirty="0"/>
              <a:t>계산</a:t>
            </a:r>
            <a:endParaRPr lang="en-US" altLang="ko-KR" dirty="0"/>
          </a:p>
          <a:p>
            <a:pPr marL="571500" indent="-571500">
              <a:buAutoNum type="romanUcPeriod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II. Model’s</a:t>
            </a:r>
            <a:r>
              <a:rPr lang="ko-KR" altLang="en-US" dirty="0"/>
              <a:t> </a:t>
            </a:r>
            <a:r>
              <a:rPr lang="en-US" altLang="ko-KR" dirty="0"/>
              <a:t>SINR Map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III. Conclusion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IV. Appendix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V. Reference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1235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A59AF-237D-D6DA-A2E4-A24A3125A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I. </a:t>
            </a:r>
            <a:r>
              <a:rPr lang="ko-KR" altLang="en-US" dirty="0"/>
              <a:t>주파수에 따른 </a:t>
            </a:r>
            <a:r>
              <a:rPr lang="en-US" altLang="ko-KR" dirty="0"/>
              <a:t>Model’s SINR </a:t>
            </a:r>
            <a:r>
              <a:rPr lang="ko-KR" altLang="en-US" dirty="0"/>
              <a:t>계산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8310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6D708-919F-BD28-0387-8194BEF4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SINR(Signal to Interference plus Noise Ratio)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2D1A2C-82EC-2A7D-9E5D-589583434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2490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SINR=S/(N+I)</a:t>
            </a:r>
          </a:p>
          <a:p>
            <a:endParaRPr lang="en-US" altLang="ko-KR" dirty="0"/>
          </a:p>
          <a:p>
            <a:r>
              <a:rPr lang="en-US" altLang="ko-KR" dirty="0"/>
              <a:t>N = -174 + 10log(B) + F = -159.7 -&gt; 1.07e-16(W)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B= </a:t>
            </a:r>
            <a:r>
              <a:rPr lang="ko-KR" altLang="en-US" dirty="0"/>
              <a:t>수신기의 대역폭 </a:t>
            </a:r>
            <a:r>
              <a:rPr lang="en-US" altLang="ko-KR" dirty="0"/>
              <a:t>(Hz)  -&gt;</a:t>
            </a:r>
            <a:r>
              <a:rPr lang="ko-KR" altLang="en-US" dirty="0"/>
              <a:t> </a:t>
            </a:r>
            <a:r>
              <a:rPr lang="en-US" altLang="ko-KR" dirty="0"/>
              <a:t>20MHz</a:t>
            </a:r>
            <a:r>
              <a:rPr lang="ko-KR" altLang="en-US" dirty="0"/>
              <a:t>로 가정</a:t>
            </a:r>
            <a:endParaRPr lang="en-US" altLang="ko-KR" dirty="0"/>
          </a:p>
          <a:p>
            <a:pPr lvl="1"/>
            <a:r>
              <a:rPr lang="en-US" altLang="ko-KR" dirty="0"/>
              <a:t>F= </a:t>
            </a:r>
            <a:r>
              <a:rPr lang="ko-KR" altLang="en-US" dirty="0"/>
              <a:t>수신기 잡음 지수 </a:t>
            </a:r>
            <a:r>
              <a:rPr lang="en-US" altLang="ko-KR" dirty="0"/>
              <a:t>(dB)  –&gt; 7dB</a:t>
            </a:r>
            <a:r>
              <a:rPr lang="ko-KR" altLang="en-US" dirty="0"/>
              <a:t>로 가정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4974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C6868-18EA-51F0-9797-70B2D064A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Linkbudget</a:t>
            </a:r>
            <a:r>
              <a:rPr lang="ko-KR" altLang="en-US" dirty="0"/>
              <a:t> </a:t>
            </a:r>
            <a:r>
              <a:rPr lang="ko-KR" altLang="en-US" dirty="0" err="1"/>
              <a:t>가정값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EF26A-7E1A-F1D0-11D1-FF4D78F8106A}"/>
              </a:ext>
            </a:extLst>
          </p:cNvPr>
          <p:cNvSpPr txBox="1"/>
          <p:nvPr/>
        </p:nvSpPr>
        <p:spPr>
          <a:xfrm>
            <a:off x="1130840" y="1696260"/>
            <a:ext cx="7650398" cy="365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/>
              <a:t>수신 전력</a:t>
            </a:r>
            <a:r>
              <a:rPr lang="en-US" altLang="ko-KR" dirty="0"/>
              <a:t>(dBm) = </a:t>
            </a:r>
            <a:r>
              <a:rPr lang="ko-KR" altLang="en-US" dirty="0"/>
              <a:t>전송 전력</a:t>
            </a:r>
            <a:r>
              <a:rPr lang="en-US" altLang="ko-KR" dirty="0"/>
              <a:t>(dBm) + </a:t>
            </a:r>
            <a:r>
              <a:rPr lang="ko-KR" altLang="en-US" dirty="0"/>
              <a:t>이득</a:t>
            </a:r>
            <a:r>
              <a:rPr lang="en-US" altLang="ko-KR" dirty="0"/>
              <a:t>(dB) - </a:t>
            </a:r>
            <a:r>
              <a:rPr lang="ko-KR" altLang="en-US" dirty="0"/>
              <a:t>손실</a:t>
            </a:r>
            <a:r>
              <a:rPr lang="en-US" altLang="ko-KR" dirty="0"/>
              <a:t>(dB)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F05935-A0A3-3C0E-4F82-4E68D95AE4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13205" y="2955587"/>
            <a:ext cx="561975" cy="3619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9700D11-D1EE-963F-9E79-453DE29533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94155" y="2411851"/>
            <a:ext cx="581025" cy="371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1C6EA7-FBCD-4C98-5089-2FC569704736}"/>
              </a:ext>
            </a:extLst>
          </p:cNvPr>
          <p:cNvSpPr txBox="1"/>
          <p:nvPr/>
        </p:nvSpPr>
        <p:spPr>
          <a:xfrm>
            <a:off x="1414563" y="2742794"/>
            <a:ext cx="677329" cy="3675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이득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3FB823D-59C9-5B0B-8E0B-16F406BA5E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729399" y="3503254"/>
            <a:ext cx="495300" cy="3524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656B3A0-EF6D-B5E0-1DAC-689613C359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24636" y="4045063"/>
            <a:ext cx="504825" cy="3429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99D6212-BED5-F380-FA0A-C6E48E98E60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706194" y="4590926"/>
            <a:ext cx="495300" cy="3714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C38CBAD-48DF-76BA-6310-F2E449A3F13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717442" y="5114396"/>
            <a:ext cx="438150" cy="352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4C7839-06D6-1BDB-8788-8A86D790F5CE}"/>
              </a:ext>
            </a:extLst>
          </p:cNvPr>
          <p:cNvSpPr txBox="1"/>
          <p:nvPr/>
        </p:nvSpPr>
        <p:spPr>
          <a:xfrm>
            <a:off x="1414563" y="4414976"/>
            <a:ext cx="670439" cy="3604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손실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33CE1B-B075-245C-78E8-FB465393F84D}"/>
              </a:ext>
            </a:extLst>
          </p:cNvPr>
          <p:cNvSpPr txBox="1"/>
          <p:nvPr/>
        </p:nvSpPr>
        <p:spPr>
          <a:xfrm>
            <a:off x="3491824" y="2411851"/>
            <a:ext cx="2590841" cy="3675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송신기 안테나 이득</a:t>
            </a:r>
            <a:r>
              <a:rPr lang="en-US" altLang="ko-KR"/>
              <a:t>(dBi)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3C48AA-7FD1-DFE8-0EFF-A2E1FB13A1FD}"/>
              </a:ext>
            </a:extLst>
          </p:cNvPr>
          <p:cNvSpPr txBox="1"/>
          <p:nvPr/>
        </p:nvSpPr>
        <p:spPr>
          <a:xfrm>
            <a:off x="3505159" y="2949993"/>
            <a:ext cx="2587031" cy="3675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800" b="0" i="0" u="none" strike="noStrike" kern="1200" cap="none" spc="0" normalizeH="0" baseline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수신기 안테나 이득</a:t>
            </a:r>
            <a:r>
              <a:rPr kumimoji="0" lang="en-US" altLang="ko-KR" sz="1800" b="0" i="0" u="none" strike="noStrike" kern="1200" cap="none" spc="0" normalizeH="0" baseline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(dBi)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EBBB88-DDCE-0C29-5383-17FC26BB4223}"/>
              </a:ext>
            </a:extLst>
          </p:cNvPr>
          <p:cNvSpPr txBox="1"/>
          <p:nvPr/>
        </p:nvSpPr>
        <p:spPr>
          <a:xfrm>
            <a:off x="3491824" y="3488135"/>
            <a:ext cx="35221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송신기 손실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(</a:t>
            </a:r>
            <a:r>
              <a:rPr kumimoji="0" lang="ko-KR" altLang="en-US" sz="1800" b="0" i="0" u="none" strike="noStrike" kern="1200" cap="none" spc="0" normalizeH="0" baseline="0" dirty="0" err="1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동축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,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커넥터 등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)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[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dB]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8C00D7-D50A-DD65-3736-FE9E04254521}"/>
              </a:ext>
            </a:extLst>
          </p:cNvPr>
          <p:cNvSpPr txBox="1"/>
          <p:nvPr/>
        </p:nvSpPr>
        <p:spPr>
          <a:xfrm>
            <a:off x="3491824" y="4032741"/>
            <a:ext cx="3516672" cy="3675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수신기 손실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(</a:t>
            </a:r>
            <a:r>
              <a:rPr kumimoji="0" lang="ko-KR" altLang="en-US" sz="1800" b="0" i="0" u="none" strike="noStrike" kern="1200" cap="none" spc="0" normalizeH="0" baseline="0" dirty="0" err="1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동축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,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커넥터 등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)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[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dB</a:t>
            </a:r>
            <a:r>
              <a:rPr lang="en-US" altLang="ko-KR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]</a:t>
            </a:r>
            <a:endParaRPr kumimoji="0" lang="en-US" altLang="ko-KR" sz="1800" b="0" i="0" u="none" strike="noStrike" kern="1200" cap="none" spc="0" normalizeH="0" baseline="0" dirty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F97ED7-04D9-6541-0A2C-A4474079A7D5}"/>
              </a:ext>
            </a:extLst>
          </p:cNvPr>
          <p:cNvSpPr txBox="1"/>
          <p:nvPr/>
        </p:nvSpPr>
        <p:spPr>
          <a:xfrm>
            <a:off x="3491824" y="4592892"/>
            <a:ext cx="18923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경로 손실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[dB</a:t>
            </a:r>
            <a:r>
              <a:rPr lang="en-US" altLang="ko-KR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]</a:t>
            </a:r>
            <a:endParaRPr kumimoji="0" lang="en-US" altLang="ko-KR" sz="1800" b="0" i="0" u="none" strike="noStrike" kern="1200" cap="none" spc="0" normalizeH="0" baseline="0" dirty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A1647C-F315-4FEC-DBEF-69C53AAFE966}"/>
              </a:ext>
            </a:extLst>
          </p:cNvPr>
          <p:cNvSpPr txBox="1"/>
          <p:nvPr/>
        </p:nvSpPr>
        <p:spPr>
          <a:xfrm>
            <a:off x="3491820" y="5099277"/>
            <a:ext cx="6488475" cy="3675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기타 손실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(</a:t>
            </a:r>
            <a:r>
              <a:rPr kumimoji="0" lang="ko-KR" altLang="en-US" sz="1800" b="0" i="0" u="none" strike="noStrike" kern="1200" cap="none" spc="0" normalizeH="0" baseline="0" dirty="0" err="1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페이드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마진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,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바디 손실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,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polarization-mismatch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등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)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[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dB</a:t>
            </a:r>
            <a:r>
              <a:rPr lang="en-US" altLang="ko-KR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]</a:t>
            </a:r>
            <a:endParaRPr kumimoji="0" lang="en-US" altLang="ko-KR" sz="1800" b="0" i="0" u="none" strike="noStrike" kern="1200" cap="none" spc="0" normalizeH="0" baseline="0" dirty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66D968-047C-8DE2-ECE9-BE3A8C386058}"/>
              </a:ext>
            </a:extLst>
          </p:cNvPr>
          <p:cNvSpPr txBox="1"/>
          <p:nvPr/>
        </p:nvSpPr>
        <p:spPr>
          <a:xfrm>
            <a:off x="6715544" y="2869504"/>
            <a:ext cx="782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dirty="0"/>
              <a:t>5[</a:t>
            </a:r>
            <a:r>
              <a:rPr lang="en-US" altLang="ko-KR" dirty="0" err="1"/>
              <a:t>dBi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8753D6-6402-5B62-21FE-DDB8BC472F2C}"/>
              </a:ext>
            </a:extLst>
          </p:cNvPr>
          <p:cNvSpPr txBox="1"/>
          <p:nvPr/>
        </p:nvSpPr>
        <p:spPr>
          <a:xfrm>
            <a:off x="7343409" y="3848969"/>
            <a:ext cx="2103487" cy="3675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800" b="0" i="0" u="none" strike="noStrike" kern="1200" cap="none" spc="0" normalizeH="0" baseline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이상적인 송수신기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30368C-1999-D1B7-0008-E25D6543541B}"/>
              </a:ext>
            </a:extLst>
          </p:cNvPr>
          <p:cNvSpPr txBox="1"/>
          <p:nvPr/>
        </p:nvSpPr>
        <p:spPr>
          <a:xfrm>
            <a:off x="9980295" y="5093952"/>
            <a:ext cx="11272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/>
              <a:t>10[dB]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E3C98C-07ED-E741-3556-5DD53180B3EA}"/>
              </a:ext>
            </a:extLst>
          </p:cNvPr>
          <p:cNvSpPr txBox="1"/>
          <p:nvPr/>
        </p:nvSpPr>
        <p:spPr>
          <a:xfrm>
            <a:off x="6715543" y="2381927"/>
            <a:ext cx="782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dirty="0"/>
              <a:t>5[</a:t>
            </a:r>
            <a:r>
              <a:rPr lang="en-US" altLang="ko-KR" dirty="0" err="1"/>
              <a:t>dBi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99A575F-95E0-BC81-695E-9614E12BCB6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2713205" y="5605371"/>
            <a:ext cx="438150" cy="35242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FDE7F6D2-DEDE-4B35-6D3F-42A9BE35808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2736069" y="6108749"/>
            <a:ext cx="428625" cy="35169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DAD57A2-139C-0E62-A86E-B022310A8940}"/>
              </a:ext>
            </a:extLst>
          </p:cNvPr>
          <p:cNvSpPr txBox="1"/>
          <p:nvPr/>
        </p:nvSpPr>
        <p:spPr>
          <a:xfrm>
            <a:off x="3526438" y="5605371"/>
            <a:ext cx="35525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dirty="0"/>
              <a:t>기지국 안테나 높이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	50[m]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6BA057-94AE-DD23-8B4C-4F87471646BF}"/>
              </a:ext>
            </a:extLst>
          </p:cNvPr>
          <p:cNvSpPr txBox="1"/>
          <p:nvPr/>
        </p:nvSpPr>
        <p:spPr>
          <a:xfrm>
            <a:off x="3526438" y="6099176"/>
            <a:ext cx="3589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dirty="0"/>
              <a:t>이동국 안테나 높이 </a:t>
            </a:r>
            <a:r>
              <a:rPr lang="en-US" altLang="ko-KR" dirty="0"/>
              <a:t>:	 </a:t>
            </a:r>
            <a:r>
              <a:rPr lang="ko-KR" altLang="en-US" dirty="0"/>
              <a:t> </a:t>
            </a:r>
            <a:r>
              <a:rPr lang="en-US" altLang="ko-KR" dirty="0"/>
              <a:t>1[m]</a:t>
            </a:r>
          </a:p>
        </p:txBody>
      </p:sp>
    </p:spTree>
    <p:extLst>
      <p:ext uri="{BB962C8B-B14F-4D97-AF65-F5344CB8AC3E}">
        <p14:creationId xmlns:p14="http://schemas.microsoft.com/office/powerpoint/2010/main" val="1414277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35515-56BA-2298-1D1A-FF6324DFC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Model’s SINR </a:t>
            </a:r>
            <a:r>
              <a:rPr lang="ko-KR" altLang="en-US" dirty="0"/>
              <a:t>계산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6020002-6232-FD66-FAE3-573D3A6DD2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 err="1"/>
                  <a:t>Hata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model (800MHz, 1.9GHz)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8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𝑢𝑟𝑏𝑎𝑛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=69.55+26.16</m:t>
                    </m:r>
                    <m:func>
                      <m:func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ko-KR" altLang="ko-KR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−13.82</m:t>
                    </m:r>
                    <m:func>
                      <m:func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ko-KR" altLang="ko-KR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ko-KR" altLang="ko-KR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𝑡𝑒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− 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𝑟𝑒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)+</m:t>
                    </m:r>
                    <m:d>
                      <m:dPr>
                        <m:begChr m:val="["/>
                        <m:endChr m:val="]"/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44.9−6.55</m:t>
                        </m:r>
                        <m:func>
                          <m:funcPr>
                            <m:ctrlPr>
                              <a:rPr lang="ko-KR" altLang="ko-KR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800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ko-KR" altLang="ko-KR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ko-KR" altLang="ko-KR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ko-KR" sz="18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𝑡𝑒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  <m:func>
                      <m:func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</m:func>
                  </m:oMath>
                </a14:m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ko-KR" altLang="en-US" dirty="0"/>
                  <a:t>  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6020002-6232-FD66-FAE3-573D3A6DD2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 descr="텍스트, 편지이(가) 표시된 사진&#10;&#10;자동 생성된 설명">
            <a:extLst>
              <a:ext uri="{FF2B5EF4-FFF2-40B4-BE49-F238E27FC236}">
                <a16:creationId xmlns:a16="http://schemas.microsoft.com/office/drawing/2014/main" id="{4A37F35E-8553-2588-52E8-DA399BE69F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454" y="3800857"/>
            <a:ext cx="5144414" cy="2021934"/>
          </a:xfrm>
          <a:prstGeom prst="rect">
            <a:avLst/>
          </a:prstGeom>
        </p:spPr>
      </p:pic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393E3B89-C7DC-7CA3-4012-08E0729C18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454" y="2794414"/>
            <a:ext cx="5990732" cy="100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68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55D059-98BE-27E1-8EFD-A03CE3564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Model’s SINR </a:t>
            </a:r>
            <a:r>
              <a:rPr lang="ko-KR" altLang="en-US" dirty="0"/>
              <a:t>계산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0453C6A-A2F4-2EAE-5B8E-0E68CB8A01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COST 231 Model (800MHz, 1.9GHz)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  </a:t>
                </a:r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  </a:t>
                </a:r>
              </a:p>
              <a:p>
                <a:pPr marL="0" indent="0">
                  <a:buNone/>
                </a:pPr>
                <a:endParaRPr lang="en-US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sz="1800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    </a:t>
                </a: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: 3 </a:t>
                </a:r>
                <a:r>
                  <a:rPr lang="ko-KR" altLang="en-US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도심지역</a:t>
                </a: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/>
                  <a:t>     (</a:t>
                </a:r>
                <a:r>
                  <a:rPr lang="en-US" altLang="ko-KR" sz="1800" dirty="0" err="1">
                    <a:effectLst/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Hata</a:t>
                </a:r>
                <a:r>
                  <a:rPr lang="en-US" altLang="ko-KR" sz="1800" dirty="0">
                    <a:effectLst/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ko-KR" sz="1800" dirty="0">
                    <a:effectLst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모델과 </a:t>
                </a:r>
                <a:r>
                  <a:rPr lang="en-US" altLang="ko-KR" sz="1800" dirty="0">
                    <a:effectLst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Parameter</a:t>
                </a:r>
                <a:r>
                  <a:rPr lang="ko-KR" altLang="en-US" sz="1800" dirty="0"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와 </a:t>
                </a:r>
                <a:r>
                  <a:rPr lang="en-US" altLang="ko-KR" sz="1800" dirty="0" err="1"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Patameter</a:t>
                </a:r>
                <a:r>
                  <a:rPr lang="ko-KR" altLang="en-US" sz="1800" dirty="0"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의</a:t>
                </a:r>
                <a:r>
                  <a:rPr lang="ko-KR" altLang="en-US" sz="1800" dirty="0">
                    <a:effectLst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단위 동일</a:t>
                </a:r>
                <a:r>
                  <a:rPr lang="en-US" altLang="ko-KR" sz="1800" dirty="0">
                    <a:effectLst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0453C6A-A2F4-2EAE-5B8E-0E68CB8A01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 descr="텍스트, 오렌지이(가) 표시된 사진&#10;&#10;자동 생성된 설명">
            <a:extLst>
              <a:ext uri="{FF2B5EF4-FFF2-40B4-BE49-F238E27FC236}">
                <a16:creationId xmlns:a16="http://schemas.microsoft.com/office/drawing/2014/main" id="{CFED8BF9-F2DD-01EC-8BD7-DD38C5DA0A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566" y="2522096"/>
            <a:ext cx="7937760" cy="1179160"/>
          </a:xfrm>
          <a:prstGeom prst="rect">
            <a:avLst/>
          </a:prstGeom>
        </p:spPr>
      </p:pic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7A2E1035-BFC5-56DB-378B-EA61762B7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566" y="3701256"/>
            <a:ext cx="6139989" cy="103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31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71DE17-0278-CEA6-C9FA-DFC40ECF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Model’s SINR </a:t>
            </a:r>
            <a:r>
              <a:rPr lang="ko-KR" altLang="en-US" dirty="0"/>
              <a:t>계산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C5E1B28-B27F-B44E-9E89-0A8614F895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SUI Model (28GHz)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    </a:t>
                </a:r>
                <a14:m>
                  <m:oMath xmlns:m="http://schemas.openxmlformats.org/officeDocument/2006/math">
                    <m:r>
                      <a:rPr lang="en-US" altLang="ko-KR" sz="18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𝑃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𝑆𝑈𝐼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𝑃𝐿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)+10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𝑛</m:t>
                    </m:r>
                    <m:func>
                      <m:func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ko-KR" altLang="ko-KR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0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ko-KR" altLang="ko-KR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ko-KR" altLang="ko-KR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ko-KR" altLang="ko-KR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ko-KR" sz="18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𝑓𝑐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h𝑟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/>
                  <a:t>    </a:t>
                </a:r>
                <a14:m>
                  <m:oMath xmlns:m="http://schemas.openxmlformats.org/officeDocument/2006/math">
                    <m:r>
                      <a:rPr lang="en-US" altLang="ko-KR" sz="18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𝑃𝐿</m:t>
                    </m:r>
                    <m:r>
                      <a:rPr lang="en-US" altLang="ko-KR" sz="18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)=20</m:t>
                    </m:r>
                    <m:func>
                      <m:func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ko-KR" altLang="ko-KR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0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ko-KR" altLang="ko-KR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ko-KR" altLang="ko-KR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  <m:sSub>
                                  <m:sSubPr>
                                    <m:ctrlPr>
                                      <a:rPr lang="ko-KR" altLang="ko-KR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ko-KR" sz="18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, 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ko-KR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ko-KR" altLang="ko-KR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b>
                          <m:sSubPr>
                            <m:ctrlPr>
                              <a:rPr lang="ko-KR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800" dirty="0"/>
                  <a:t> 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𝑓𝑐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</a:rPr>
                      <m:t>=6</m:t>
                    </m:r>
                    <m:func>
                      <m:funcPr>
                        <m:ctrlPr>
                          <a:rPr lang="ko-KR" altLang="ko-KR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ko-KR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ko-KR" altLang="ko-KR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ko-KR" altLang="ko-KR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ko-KR" altLang="ko-KR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𝑀𝐻𝑍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2000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sz="1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ko-KR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</a:rPr>
                      <m:t>&gt;2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𝐺𝐻𝑧</m:t>
                    </m:r>
                  </m:oMath>
                </a14:m>
                <a:endParaRPr lang="en-US" altLang="ko-KR" sz="1800" dirty="0"/>
              </a:p>
              <a:p>
                <a:pPr marL="0" indent="0">
                  <a:buNone/>
                </a:pPr>
                <a:r>
                  <a:rPr lang="en-US" altLang="ko-KR" sz="1800" dirty="0"/>
                  <a:t>   </a:t>
                </a:r>
                <a:endParaRPr lang="ko-KR" altLang="ko-KR" sz="1800" dirty="0"/>
              </a:p>
              <a:p>
                <a:pPr marL="0" indent="0">
                  <a:buNone/>
                </a:pP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C5E1B28-B27F-B44E-9E89-0A8614F895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 descr="텍스트, 편지이(가) 표시된 사진&#10;&#10;자동 생성된 설명">
            <a:extLst>
              <a:ext uri="{FF2B5EF4-FFF2-40B4-BE49-F238E27FC236}">
                <a16:creationId xmlns:a16="http://schemas.microsoft.com/office/drawing/2014/main" id="{4446F838-3471-4852-7414-31AF64BED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951" y="3429000"/>
            <a:ext cx="4230588" cy="140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19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6C54D3-0750-A75F-D453-68F42D77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II. Model’s</a:t>
            </a:r>
            <a:r>
              <a:rPr lang="ko-KR" altLang="en-US" dirty="0"/>
              <a:t> </a:t>
            </a:r>
            <a:r>
              <a:rPr lang="en-US" altLang="ko-KR" dirty="0"/>
              <a:t>SINR Map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1447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65EEDD-3C68-3888-243A-3316CFDF2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ko-KR" dirty="0" err="1"/>
              <a:t>Hata</a:t>
            </a:r>
            <a:r>
              <a:rPr lang="en-US" altLang="ko-KR" dirty="0"/>
              <a:t> model’s SINR Map (800MHz)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2A19DE6-1CF5-B90D-08A5-BF87EE987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405" y="1195131"/>
            <a:ext cx="3887471" cy="2985179"/>
          </a:xfr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A049D7E-E1FD-2020-A6C4-D14FFFDD0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045" y="2288101"/>
            <a:ext cx="4065088" cy="298517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62C49B1-953D-0C1E-E7D8-066A2556A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302" y="3698127"/>
            <a:ext cx="3834584" cy="298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837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09BB9-8E02-188B-2B86-454D0DA03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 err="1"/>
              <a:t>Hata</a:t>
            </a:r>
            <a:r>
              <a:rPr lang="en-US" altLang="ko-KR" dirty="0"/>
              <a:t> model’s SINR Map (1.9GHz)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268FB1-C0DF-8B4C-701C-2717E53E0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20" y="986170"/>
            <a:ext cx="3936043" cy="30833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BABC3CB-3F29-A033-FE0F-BC98EB153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725" y="2527850"/>
            <a:ext cx="3768550" cy="308335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09FBCB7-81B1-157A-AAF2-8D058CC7A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952" y="3634652"/>
            <a:ext cx="3862228" cy="308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914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B6994-98D1-BDB5-C6CE-BF3D580D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ko-KR" dirty="0"/>
              <a:t>Cost 231 model’s SINR Map(800MHz)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988B23-81F9-6CB5-9A84-F33007B7C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1" y="1325563"/>
            <a:ext cx="3866021" cy="299522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4EB8D02-716B-EC2B-B908-475C29452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754" y="2546938"/>
            <a:ext cx="3842045" cy="299522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04B501D-585C-5B4A-108D-79158A25A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11" y="3499338"/>
            <a:ext cx="4020267" cy="32380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D2394CEE-B58B-E4A4-897F-DF240D17FD93}"/>
                  </a:ext>
                </a:extLst>
              </p14:cNvPr>
              <p14:cNvContentPartPr/>
              <p14:nvPr/>
            </p14:nvContentPartPr>
            <p14:xfrm>
              <a:off x="9491844" y="5338685"/>
              <a:ext cx="157320" cy="11988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D2394CEE-B58B-E4A4-897F-DF240D17FD9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82844" y="5329685"/>
                <a:ext cx="17496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4B79CE1B-2C2A-BE11-6093-99FC75A2514F}"/>
                  </a:ext>
                </a:extLst>
              </p14:cNvPr>
              <p14:cNvContentPartPr/>
              <p14:nvPr/>
            </p14:nvContentPartPr>
            <p14:xfrm>
              <a:off x="11491644" y="3894365"/>
              <a:ext cx="55080" cy="1584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4B79CE1B-2C2A-BE11-6093-99FC75A2514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483004" y="3885725"/>
                <a:ext cx="7272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FEE434B8-ED11-C8BB-3EAE-D618BE2A7265}"/>
                  </a:ext>
                </a:extLst>
              </p14:cNvPr>
              <p14:cNvContentPartPr/>
              <p14:nvPr/>
            </p14:nvContentPartPr>
            <p14:xfrm>
              <a:off x="11495604" y="3820205"/>
              <a:ext cx="145800" cy="9756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FEE434B8-ED11-C8BB-3EAE-D618BE2A726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486604" y="3811205"/>
                <a:ext cx="163440" cy="11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4283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C4064-5A00-C4EF-3C83-4E551A30D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ko-KR" dirty="0"/>
              <a:t>Cost 231 model’s SINR Map (1.9GHz)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C1C85386-59C8-65B5-3CD3-3E0CBF8C9348}"/>
                  </a:ext>
                </a:extLst>
              </p14:cNvPr>
              <p14:cNvContentPartPr/>
              <p14:nvPr/>
            </p14:nvContentPartPr>
            <p14:xfrm>
              <a:off x="-963636" y="1225325"/>
              <a:ext cx="360" cy="3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C1C85386-59C8-65B5-3CD3-3E0CBF8C93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72276" y="121632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9E228F1C-1CE5-3A8C-C956-C65E357764EF}"/>
                  </a:ext>
                </a:extLst>
              </p14:cNvPr>
              <p14:cNvContentPartPr/>
              <p14:nvPr/>
            </p14:nvContentPartPr>
            <p14:xfrm>
              <a:off x="5456604" y="4007405"/>
              <a:ext cx="360" cy="3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9E228F1C-1CE5-3A8C-C956-C65E357764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47964" y="399876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그림 13">
            <a:extLst>
              <a:ext uri="{FF2B5EF4-FFF2-40B4-BE49-F238E27FC236}">
                <a16:creationId xmlns:a16="http://schemas.microsoft.com/office/drawing/2014/main" id="{C10B1215-60C4-05CF-A6EA-E679F7361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142" y="1147504"/>
            <a:ext cx="3775031" cy="30727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E3AEC43-6611-8957-D265-CAD0A3148C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543" y="2470304"/>
            <a:ext cx="3775751" cy="307420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F757E1-8AF9-AE0D-6068-158BBD8517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5664" y="3429000"/>
            <a:ext cx="3775751" cy="30742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2D4E79D8-49C4-B2B5-1CE4-68B5D1065B26}"/>
                  </a:ext>
                </a:extLst>
              </p14:cNvPr>
              <p14:cNvContentPartPr/>
              <p14:nvPr/>
            </p14:nvContentPartPr>
            <p14:xfrm>
              <a:off x="9307884" y="5187125"/>
              <a:ext cx="143640" cy="9504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2D4E79D8-49C4-B2B5-1CE4-68B5D1065B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98884" y="5178485"/>
                <a:ext cx="16128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A6F209AA-D47B-03EF-E16E-8F8265D7285E}"/>
                  </a:ext>
                </a:extLst>
              </p14:cNvPr>
              <p14:cNvContentPartPr/>
              <p14:nvPr/>
            </p14:nvContentPartPr>
            <p14:xfrm>
              <a:off x="11221644" y="3723725"/>
              <a:ext cx="103320" cy="9936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A6F209AA-D47B-03EF-E16E-8F8265D7285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212644" y="3714725"/>
                <a:ext cx="12096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E86EE848-4A3C-0D86-348D-0102EE4D8F56}"/>
                  </a:ext>
                </a:extLst>
              </p14:cNvPr>
              <p14:cNvContentPartPr/>
              <p14:nvPr/>
            </p14:nvContentPartPr>
            <p14:xfrm>
              <a:off x="9328404" y="5210885"/>
              <a:ext cx="149400" cy="10116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E86EE848-4A3C-0D86-348D-0102EE4D8F5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19764" y="5202245"/>
                <a:ext cx="1670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E1DFD1D0-4DC7-AED9-4777-A8A458FD3EA1}"/>
                  </a:ext>
                </a:extLst>
              </p14:cNvPr>
              <p14:cNvContentPartPr/>
              <p14:nvPr/>
            </p14:nvContentPartPr>
            <p14:xfrm>
              <a:off x="9387084" y="5242925"/>
              <a:ext cx="11880" cy="1260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E1DFD1D0-4DC7-AED9-4777-A8A458FD3EA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378084" y="5233925"/>
                <a:ext cx="29520" cy="3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6174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AB38CE-A7A5-D66D-3437-70BFDF23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845"/>
            <a:ext cx="10515600" cy="1325563"/>
          </a:xfrm>
        </p:spPr>
        <p:txBody>
          <a:bodyPr/>
          <a:lstStyle/>
          <a:p>
            <a:r>
              <a:rPr lang="en-US" altLang="ko-KR" dirty="0"/>
              <a:t>SUI model’s SINR Map (28GHz)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BAC0C039-7F34-0339-EAF6-7A5375E41DFC}"/>
                  </a:ext>
                </a:extLst>
              </p14:cNvPr>
              <p14:cNvContentPartPr/>
              <p14:nvPr/>
            </p14:nvContentPartPr>
            <p14:xfrm>
              <a:off x="-1060476" y="2956925"/>
              <a:ext cx="360" cy="3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BAC0C039-7F34-0339-EAF6-7A5375E41D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069476" y="294828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A215468D-9C1F-1E08-A1DD-9AD27DD70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830" y="1201753"/>
            <a:ext cx="3813242" cy="300915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96F0F21-E82F-AEAC-7A45-635B358B6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9559" y="2223033"/>
            <a:ext cx="3812882" cy="30790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797B897-E0C7-7721-DEF6-A7C6FC43E6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8658" y="3588635"/>
            <a:ext cx="3858621" cy="307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90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8F574C-53EF-C44E-0F60-4E196EEFE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III. Conclusion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5132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5BD5C28-8D64-FF3D-EF27-75D924E98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4292889"/>
            <a:ext cx="11163300" cy="21145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67FF6DC-13D3-0621-FB50-32F7004FD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115268"/>
            <a:ext cx="3814762" cy="30881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0E61827-3013-3829-7AE2-263FE5102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462" y="1115267"/>
            <a:ext cx="3807843" cy="3088141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9D7B112A-FA7A-1427-58A3-8015911C8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734EB9E-00CA-CE72-4702-137994B2EE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9305" y="1115266"/>
            <a:ext cx="3985210" cy="308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74296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92942" y="1487346"/>
            <a:ext cx="7718536" cy="4407957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1843098" y="5885443"/>
            <a:ext cx="6450408" cy="3956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2000"/>
              <a:t>&lt;SINR 3dB</a:t>
            </a:r>
            <a:r>
              <a:rPr lang="ko-KR" altLang="en-US" sz="2000"/>
              <a:t>를 만족하며 거리에 따른 최적의</a:t>
            </a:r>
            <a:r>
              <a:rPr lang="en-US" altLang="ko-KR" sz="2000"/>
              <a:t> </a:t>
            </a:r>
            <a:r>
              <a:rPr lang="ko-KR" altLang="en-US" sz="2000"/>
              <a:t>송신파워</a:t>
            </a:r>
            <a:r>
              <a:rPr lang="en-US" altLang="ko-KR" sz="2000"/>
              <a:t>&gt;</a:t>
            </a:r>
            <a:endParaRPr lang="en-US" altLang="ko-KR" sz="2000"/>
          </a:p>
        </p:txBody>
      </p:sp>
      <p:sp>
        <p:nvSpPr>
          <p:cNvPr id="6" name="제목 1"/>
          <p:cNvSpPr>
            <a:spLocks noGrp="1"/>
          </p:cNvSpPr>
          <p:nvPr>
            <p:ph type="title" idx="0"/>
          </p:nvPr>
        </p:nvSpPr>
        <p:spPr>
          <a:xfrm>
            <a:off x="838200" y="0"/>
            <a:ext cx="10515600" cy="1325563"/>
          </a:xfrm>
        </p:spPr>
        <p:txBody>
          <a:bodyPr vert="horz" lIns="91440" tIns="45720" rIns="91440" bIns="45720" anchor="ctr">
            <a:normAutofit/>
          </a:bodyPr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Conclusion</a:t>
            </a:r>
            <a:endPara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423108" y="1984114"/>
            <a:ext cx="3608471" cy="2889771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8492288" y="4902869"/>
            <a:ext cx="3524952" cy="63677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3dB</a:t>
            </a:r>
            <a:r>
              <a:rPr lang="ko-KR" altLang="en-US"/>
              <a:t>를 만족하며 </a:t>
            </a:r>
            <a:r>
              <a:rPr lang="en-US" altLang="ko-KR"/>
              <a:t>-105dBm</a:t>
            </a:r>
            <a:r>
              <a:rPr lang="ko-KR" altLang="en-US"/>
              <a:t>의</a:t>
            </a:r>
            <a:endParaRPr lang="ko-KR" altLang="en-US"/>
          </a:p>
          <a:p>
            <a:pPr>
              <a:defRPr/>
            </a:pPr>
            <a:r>
              <a:rPr lang="ko-KR" altLang="en-US"/>
              <a:t>수신 민감도를 고려한 </a:t>
            </a:r>
            <a:r>
              <a:rPr lang="en-US" altLang="ko-KR"/>
              <a:t>2cell</a:t>
            </a:r>
            <a:r>
              <a:rPr lang="ko-KR" altLang="en-US"/>
              <a:t> 구조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156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0A5F91-075B-B2A4-15A2-E7983738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IV. Appendix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0628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6F0C7-C02B-1B6C-E2DB-49CC0ECF6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Matlab</a:t>
            </a:r>
            <a:r>
              <a:rPr lang="en-US" altLang="ko-KR" dirty="0"/>
              <a:t>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EC31F-2E0D-9057-15AC-BD3DA1D59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안테나 위치 및 송수신기 위치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</a:t>
            </a:r>
            <a:r>
              <a:rPr lang="en-US" altLang="ko-KR" sz="1800" dirty="0"/>
              <a:t>tx1.x = 0;</a:t>
            </a:r>
          </a:p>
          <a:p>
            <a:pPr marL="0" indent="0">
              <a:buNone/>
            </a:pPr>
            <a:r>
              <a:rPr lang="en-US" altLang="ko-KR" sz="1800" dirty="0"/>
              <a:t>   tx1.y = 0;</a:t>
            </a:r>
          </a:p>
          <a:p>
            <a:pPr marL="0" indent="0">
              <a:buNone/>
            </a:pPr>
            <a:r>
              <a:rPr lang="en-US" altLang="ko-KR" sz="1800" dirty="0"/>
              <a:t>   tx2.x = 3*sqrt(2);</a:t>
            </a:r>
          </a:p>
          <a:p>
            <a:pPr marL="0" indent="0">
              <a:buNone/>
            </a:pPr>
            <a:r>
              <a:rPr lang="en-US" altLang="ko-KR" sz="1800" dirty="0"/>
              <a:t>   tx2.y = 3*sqrt(2);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pt-BR" altLang="ko-KR" sz="1800" dirty="0"/>
              <a:t>   tx_h = 50;</a:t>
            </a:r>
          </a:p>
          <a:p>
            <a:pPr marL="0" indent="0">
              <a:buNone/>
            </a:pPr>
            <a:r>
              <a:rPr lang="pt-BR" altLang="ko-KR" sz="1800" dirty="0"/>
              <a:t>   rx_h = 1;</a:t>
            </a:r>
            <a:endParaRPr lang="ko-KR" altLang="en-US" sz="1800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6411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CEF62-AE60-DF92-DD2F-E6B5FD06B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Matlab</a:t>
            </a:r>
            <a:r>
              <a:rPr lang="en-US" altLang="ko-KR" dirty="0"/>
              <a:t>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C5F7F8-020B-D2ED-4134-F80E169AB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x, y</a:t>
            </a:r>
            <a:r>
              <a:rPr lang="ko-KR" altLang="en-US" dirty="0"/>
              <a:t>범위 지정</a:t>
            </a:r>
            <a:r>
              <a:rPr lang="en-US" altLang="ko-KR" dirty="0"/>
              <a:t>, d_1 d_2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각 </a:t>
            </a:r>
            <a:r>
              <a:rPr lang="en-US" altLang="ko-KR" dirty="0"/>
              <a:t>Tx</a:t>
            </a:r>
            <a:r>
              <a:rPr lang="ko-KR" altLang="en-US" dirty="0"/>
              <a:t>에서 거리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sz="1800" dirty="0"/>
              <a:t>   </a:t>
            </a:r>
            <a:r>
              <a:rPr lang="en-US" altLang="ko-KR" sz="1800" dirty="0"/>
              <a:t>[x, y] = </a:t>
            </a:r>
            <a:r>
              <a:rPr lang="en-US" altLang="ko-KR" sz="1800" dirty="0" err="1"/>
              <a:t>meshgrid</a:t>
            </a:r>
            <a:r>
              <a:rPr lang="en-US" altLang="ko-KR" sz="1800" dirty="0"/>
              <a:t>(-3:0.1:5);</a:t>
            </a:r>
          </a:p>
          <a:p>
            <a:pPr marL="0" indent="0">
              <a:buNone/>
            </a:pPr>
            <a:r>
              <a:rPr lang="en-US" altLang="ko-KR" sz="1800" dirty="0"/>
              <a:t>   d_1 = sqrt((x-tx1.x).^2 + (y-tx1.y).^2);</a:t>
            </a:r>
          </a:p>
          <a:p>
            <a:pPr marL="0" indent="0">
              <a:buNone/>
            </a:pPr>
            <a:r>
              <a:rPr lang="en-US" altLang="ko-KR" sz="1800" dirty="0"/>
              <a:t>   d_2 = sqrt((x-tx2.x).^2 + (y-tx2.y).^2);</a:t>
            </a:r>
          </a:p>
          <a:p>
            <a:pPr marL="0" indent="0">
              <a:buNone/>
            </a:pPr>
            <a:r>
              <a:rPr lang="en-US" altLang="ko-KR" sz="1800" dirty="0"/>
              <a:t>   </a:t>
            </a:r>
            <a:r>
              <a:rPr lang="en-US" altLang="ko-KR" sz="1800" dirty="0" err="1"/>
              <a:t>d_close</a:t>
            </a:r>
            <a:r>
              <a:rPr lang="en-US" altLang="ko-KR" sz="1800" dirty="0"/>
              <a:t> = d_1;</a:t>
            </a:r>
          </a:p>
          <a:p>
            <a:pPr marL="0" indent="0">
              <a:buNone/>
            </a:pPr>
            <a:r>
              <a:rPr lang="en-US" altLang="ko-KR" sz="1800" dirty="0"/>
              <a:t>   </a:t>
            </a:r>
            <a:r>
              <a:rPr lang="en-US" altLang="ko-KR" sz="1800" dirty="0" err="1"/>
              <a:t>d_far</a:t>
            </a:r>
            <a:r>
              <a:rPr lang="en-US" altLang="ko-KR" sz="1800" dirty="0"/>
              <a:t> = d_2;</a:t>
            </a:r>
          </a:p>
          <a:p>
            <a:pPr marL="0" indent="0">
              <a:buNone/>
            </a:pPr>
            <a:r>
              <a:rPr lang="en-US" altLang="ko-KR" sz="1800" dirty="0"/>
              <a:t>   for c = 1:1:81</a:t>
            </a:r>
          </a:p>
          <a:p>
            <a:pPr marL="0" indent="0">
              <a:buNone/>
            </a:pPr>
            <a:r>
              <a:rPr lang="en-US" altLang="ko-KR" sz="1800" dirty="0"/>
              <a:t>       for r = 1:1:81</a:t>
            </a:r>
          </a:p>
          <a:p>
            <a:pPr marL="0" indent="0">
              <a:buNone/>
            </a:pPr>
            <a:r>
              <a:rPr lang="en-US" altLang="ko-KR" sz="1800" dirty="0"/>
              <a:t>           if d_1(c, r)&gt;d_2(c, r)</a:t>
            </a:r>
          </a:p>
          <a:p>
            <a:pPr marL="0" indent="0">
              <a:buNone/>
            </a:pPr>
            <a:r>
              <a:rPr lang="en-US" altLang="ko-KR" sz="1800" dirty="0"/>
              <a:t>               </a:t>
            </a:r>
            <a:r>
              <a:rPr lang="en-US" altLang="ko-KR" sz="1800" dirty="0" err="1"/>
              <a:t>d_close</a:t>
            </a:r>
            <a:r>
              <a:rPr lang="en-US" altLang="ko-KR" sz="1800" dirty="0"/>
              <a:t>(c, r) = d_2(c, r);</a:t>
            </a:r>
          </a:p>
          <a:p>
            <a:pPr marL="0" indent="0">
              <a:buNone/>
            </a:pPr>
            <a:r>
              <a:rPr lang="en-US" altLang="ko-KR" sz="1800" dirty="0"/>
              <a:t>               </a:t>
            </a:r>
            <a:r>
              <a:rPr lang="en-US" altLang="ko-KR" sz="1800" dirty="0" err="1"/>
              <a:t>d_far</a:t>
            </a:r>
            <a:r>
              <a:rPr lang="en-US" altLang="ko-KR" sz="1800" dirty="0"/>
              <a:t>(c, r) = d_1(c, r);</a:t>
            </a:r>
          </a:p>
          <a:p>
            <a:pPr marL="0" indent="0">
              <a:buNone/>
            </a:pPr>
            <a:r>
              <a:rPr lang="en-US" altLang="ko-KR" sz="1800" dirty="0"/>
              <a:t>           end</a:t>
            </a:r>
          </a:p>
          <a:p>
            <a:pPr marL="0" indent="0">
              <a:buNone/>
            </a:pPr>
            <a:r>
              <a:rPr lang="en-US" altLang="ko-KR" sz="1800" dirty="0"/>
              <a:t>       end</a:t>
            </a:r>
          </a:p>
          <a:p>
            <a:pPr marL="0" indent="0">
              <a:buNone/>
            </a:pPr>
            <a:r>
              <a:rPr lang="en-US" altLang="ko-KR" sz="1800" dirty="0"/>
              <a:t>   end</a:t>
            </a:r>
            <a:endParaRPr lang="ko-KR" altLang="en-US" sz="1800" dirty="0"/>
          </a:p>
          <a:p>
            <a:pPr marL="0" indent="0">
              <a:buNone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72435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9EBD32-C0EC-AB48-5174-CC76CDED8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Matlab</a:t>
            </a:r>
            <a:r>
              <a:rPr lang="en-US" altLang="ko-KR" dirty="0"/>
              <a:t>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746EF5-8AB0-8924-EFDC-0D2374802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2902"/>
            <a:ext cx="10515600" cy="4351338"/>
          </a:xfrm>
        </p:spPr>
        <p:txBody>
          <a:bodyPr/>
          <a:lstStyle/>
          <a:p>
            <a:r>
              <a:rPr lang="en-US" altLang="ko-KR" dirty="0" err="1"/>
              <a:t>Hata</a:t>
            </a:r>
            <a:r>
              <a:rPr lang="ko-KR" altLang="en-US" dirty="0"/>
              <a:t> </a:t>
            </a:r>
            <a:r>
              <a:rPr lang="en-US" altLang="ko-KR" dirty="0"/>
              <a:t>model </a:t>
            </a:r>
            <a:r>
              <a:rPr lang="ko-KR" altLang="en-US" dirty="0"/>
              <a:t>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800" dirty="0"/>
              <a:t>PL_hata_1 = 69.55 + 26.16*log10(</a:t>
            </a:r>
            <a:r>
              <a:rPr lang="en-US" altLang="ko-KR" sz="1800" dirty="0" err="1"/>
              <a:t>fq</a:t>
            </a:r>
            <a:r>
              <a:rPr lang="en-US" altLang="ko-KR" sz="1800" dirty="0"/>
              <a:t>) - 13.82*log10(</a:t>
            </a:r>
            <a:r>
              <a:rPr lang="en-US" altLang="ko-KR" sz="1800" dirty="0" err="1"/>
              <a:t>tx_h</a:t>
            </a:r>
            <a:r>
              <a:rPr lang="en-US" altLang="ko-KR" sz="1800" dirty="0"/>
              <a:t>) - 3.2 * (log10(11.75 * </a:t>
            </a:r>
            <a:r>
              <a:rPr lang="en-US" altLang="ko-KR" sz="1800" dirty="0" err="1"/>
              <a:t>rx_h</a:t>
            </a:r>
            <a:r>
              <a:rPr lang="en-US" altLang="ko-KR" sz="1800" dirty="0"/>
              <a:t>))^2 - 4.97 + (44.9 - 6.55 * log10(</a:t>
            </a:r>
            <a:r>
              <a:rPr lang="en-US" altLang="ko-KR" sz="1800" dirty="0" err="1"/>
              <a:t>tx_h</a:t>
            </a:r>
            <a:r>
              <a:rPr lang="en-US" altLang="ko-KR" sz="1800" dirty="0"/>
              <a:t>)) * log10(</a:t>
            </a:r>
            <a:r>
              <a:rPr lang="en-US" altLang="ko-KR" sz="1800" dirty="0" err="1"/>
              <a:t>d_close</a:t>
            </a:r>
            <a:r>
              <a:rPr lang="en-US" altLang="ko-KR" sz="1800" dirty="0"/>
              <a:t>);</a:t>
            </a:r>
          </a:p>
          <a:p>
            <a:pPr marL="0" indent="0">
              <a:buNone/>
            </a:pPr>
            <a:r>
              <a:rPr lang="en-US" altLang="ko-KR" sz="1800" dirty="0"/>
              <a:t>PL_hata_2 = 69.55 + 26.16*log10(</a:t>
            </a:r>
            <a:r>
              <a:rPr lang="en-US" altLang="ko-KR" sz="1800" dirty="0" err="1"/>
              <a:t>fq</a:t>
            </a:r>
            <a:r>
              <a:rPr lang="en-US" altLang="ko-KR" sz="1800" dirty="0"/>
              <a:t>) - 13.82*log10(</a:t>
            </a:r>
            <a:r>
              <a:rPr lang="en-US" altLang="ko-KR" sz="1800" dirty="0" err="1"/>
              <a:t>tx_h</a:t>
            </a:r>
            <a:r>
              <a:rPr lang="en-US" altLang="ko-KR" sz="1800" dirty="0"/>
              <a:t>) - 3.2 * (log10(11.75 * </a:t>
            </a:r>
            <a:r>
              <a:rPr lang="en-US" altLang="ko-KR" sz="1800" dirty="0" err="1"/>
              <a:t>rx_h</a:t>
            </a:r>
            <a:r>
              <a:rPr lang="en-US" altLang="ko-KR" sz="1800" dirty="0"/>
              <a:t>))^2 - 4.97 + (44.9 - 6.55 * log10(</a:t>
            </a:r>
            <a:r>
              <a:rPr lang="en-US" altLang="ko-KR" sz="1800" dirty="0" err="1"/>
              <a:t>tx_h</a:t>
            </a:r>
            <a:r>
              <a:rPr lang="en-US" altLang="ko-KR" sz="1800" dirty="0"/>
              <a:t>)) * log10(</a:t>
            </a:r>
            <a:r>
              <a:rPr lang="en-US" altLang="ko-KR" sz="1800" dirty="0" err="1"/>
              <a:t>d_far</a:t>
            </a:r>
            <a:r>
              <a:rPr lang="en-US" altLang="ko-KR" sz="1800" dirty="0"/>
              <a:t>);</a:t>
            </a:r>
            <a:endParaRPr lang="ko-KR" altLang="en-US" sz="1800" dirty="0"/>
          </a:p>
          <a:p>
            <a:pPr marL="0" indent="0">
              <a:buNone/>
            </a:pPr>
            <a:endParaRPr lang="en-US" altLang="ko-KR" sz="1800" dirty="0"/>
          </a:p>
          <a:p>
            <a:r>
              <a:rPr lang="en-US" altLang="ko-KR" dirty="0"/>
              <a:t>COST 231 model </a:t>
            </a:r>
            <a:r>
              <a:rPr lang="ko-KR" altLang="en-US" dirty="0"/>
              <a:t>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800" dirty="0"/>
              <a:t>PL_cost_1 = 46.3 + 33.9 * log10(</a:t>
            </a:r>
            <a:r>
              <a:rPr lang="en-US" altLang="ko-KR" sz="1800" dirty="0" err="1"/>
              <a:t>fq</a:t>
            </a:r>
            <a:r>
              <a:rPr lang="en-US" altLang="ko-KR" sz="1800" dirty="0"/>
              <a:t>) - 13.82*log10(</a:t>
            </a:r>
            <a:r>
              <a:rPr lang="en-US" altLang="ko-KR" sz="1800" dirty="0" err="1"/>
              <a:t>tx_h</a:t>
            </a:r>
            <a:r>
              <a:rPr lang="en-US" altLang="ko-KR" sz="1800" dirty="0"/>
              <a:t>) - 3.2 * (log10(11.75 * </a:t>
            </a:r>
            <a:r>
              <a:rPr lang="en-US" altLang="ko-KR" sz="1800" dirty="0" err="1"/>
              <a:t>rx_h</a:t>
            </a:r>
            <a:r>
              <a:rPr lang="en-US" altLang="ko-KR" sz="1800" dirty="0"/>
              <a:t>))^2 - 4.97 + (44.9 - 6.55 * log10(</a:t>
            </a:r>
            <a:r>
              <a:rPr lang="en-US" altLang="ko-KR" sz="1800" dirty="0" err="1"/>
              <a:t>tx_h</a:t>
            </a:r>
            <a:r>
              <a:rPr lang="en-US" altLang="ko-KR" sz="1800" dirty="0"/>
              <a:t>)) * log10(</a:t>
            </a:r>
            <a:r>
              <a:rPr lang="en-US" altLang="ko-KR" sz="1800" dirty="0" err="1"/>
              <a:t>d_close</a:t>
            </a:r>
            <a:r>
              <a:rPr lang="en-US" altLang="ko-KR" sz="1800" dirty="0"/>
              <a:t>) + 3;</a:t>
            </a:r>
          </a:p>
          <a:p>
            <a:pPr marL="0" indent="0">
              <a:buNone/>
            </a:pPr>
            <a:r>
              <a:rPr lang="en-US" altLang="ko-KR" sz="1800" dirty="0"/>
              <a:t>PL_cost_2 = 46.3 + 33.9 * log10(</a:t>
            </a:r>
            <a:r>
              <a:rPr lang="en-US" altLang="ko-KR" sz="1800" dirty="0" err="1"/>
              <a:t>fq</a:t>
            </a:r>
            <a:r>
              <a:rPr lang="en-US" altLang="ko-KR" sz="1800" dirty="0"/>
              <a:t>) - 13.82*log10(</a:t>
            </a:r>
            <a:r>
              <a:rPr lang="en-US" altLang="ko-KR" sz="1800" dirty="0" err="1"/>
              <a:t>tx_h</a:t>
            </a:r>
            <a:r>
              <a:rPr lang="en-US" altLang="ko-KR" sz="1800" dirty="0"/>
              <a:t>) - 3.2 * (log10(11.75 * </a:t>
            </a:r>
            <a:r>
              <a:rPr lang="en-US" altLang="ko-KR" sz="1800" dirty="0" err="1"/>
              <a:t>rx_h</a:t>
            </a:r>
            <a:r>
              <a:rPr lang="en-US" altLang="ko-KR" sz="1800" dirty="0"/>
              <a:t>))^2 - 4.97 + (44.9 - 6.55 * log10(</a:t>
            </a:r>
            <a:r>
              <a:rPr lang="en-US" altLang="ko-KR" sz="1800" dirty="0" err="1"/>
              <a:t>tx_h</a:t>
            </a:r>
            <a:r>
              <a:rPr lang="en-US" altLang="ko-KR" sz="1800" dirty="0"/>
              <a:t>)) * log10(</a:t>
            </a:r>
            <a:r>
              <a:rPr lang="en-US" altLang="ko-KR" sz="1800" dirty="0" err="1"/>
              <a:t>d_far</a:t>
            </a:r>
            <a:r>
              <a:rPr lang="en-US" altLang="ko-KR" sz="1800" dirty="0"/>
              <a:t>) + 3;</a:t>
            </a:r>
            <a:endParaRPr lang="ko-KR" altLang="en-US" sz="1800" dirty="0"/>
          </a:p>
          <a:p>
            <a:pPr marL="0" indent="0">
              <a:buNone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693094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6B1BA-F107-30B2-D0B6-DB67EE638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Matlab</a:t>
            </a:r>
            <a:r>
              <a:rPr lang="en-US" altLang="ko-KR" dirty="0"/>
              <a:t>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A07D64-3FFF-6F47-204A-11F36C068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SUI model </a:t>
            </a:r>
            <a:r>
              <a:rPr lang="ko-KR" altLang="en-US" dirty="0"/>
              <a:t>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800" dirty="0"/>
              <a:t>PL_sui_1 = 20*log10(4*pi*100*</a:t>
            </a:r>
            <a:r>
              <a:rPr lang="en-US" altLang="ko-KR" sz="1800" dirty="0" err="1"/>
              <a:t>fq</a:t>
            </a:r>
            <a:r>
              <a:rPr lang="en-US" altLang="ko-KR" sz="1800" dirty="0"/>
              <a:t>)-147.55+10*(3.6-0.005*tx_h+20/</a:t>
            </a:r>
            <a:r>
              <a:rPr lang="en-US" altLang="ko-KR" sz="1800" dirty="0" err="1"/>
              <a:t>tx_h</a:t>
            </a:r>
            <a:r>
              <a:rPr lang="en-US" altLang="ko-KR" sz="1800" dirty="0"/>
              <a:t>)*log10(</a:t>
            </a:r>
            <a:r>
              <a:rPr lang="en-US" altLang="ko-KR" sz="1800" dirty="0" err="1"/>
              <a:t>d_close</a:t>
            </a:r>
            <a:r>
              <a:rPr lang="en-US" altLang="ko-KR" sz="1800" dirty="0"/>
              <a:t>/100)+6*log10(</a:t>
            </a:r>
            <a:r>
              <a:rPr lang="en-US" altLang="ko-KR" sz="1800" dirty="0" err="1"/>
              <a:t>fq</a:t>
            </a:r>
            <a:r>
              <a:rPr lang="en-US" altLang="ko-KR" sz="1800" dirty="0"/>
              <a:t>/2000)-20*log10(</a:t>
            </a:r>
            <a:r>
              <a:rPr lang="en-US" altLang="ko-KR" sz="1800" dirty="0" err="1"/>
              <a:t>rx_h</a:t>
            </a:r>
            <a:r>
              <a:rPr lang="en-US" altLang="ko-KR" sz="1800" dirty="0"/>
              <a:t>/2);</a:t>
            </a:r>
          </a:p>
          <a:p>
            <a:pPr marL="0" indent="0">
              <a:buNone/>
            </a:pPr>
            <a:r>
              <a:rPr lang="en-US" altLang="ko-KR" sz="1800" dirty="0"/>
              <a:t>PL_sui_2 = 20*log10(4*pi*100*</a:t>
            </a:r>
            <a:r>
              <a:rPr lang="en-US" altLang="ko-KR" sz="1800" dirty="0" err="1"/>
              <a:t>fq</a:t>
            </a:r>
            <a:r>
              <a:rPr lang="en-US" altLang="ko-KR" sz="1800" dirty="0"/>
              <a:t>)-147.55+10*(3.6-0.005*tx_h+20/</a:t>
            </a:r>
            <a:r>
              <a:rPr lang="en-US" altLang="ko-KR" sz="1800" dirty="0" err="1"/>
              <a:t>tx_h</a:t>
            </a:r>
            <a:r>
              <a:rPr lang="en-US" altLang="ko-KR" sz="1800" dirty="0"/>
              <a:t>)*log10(</a:t>
            </a:r>
            <a:r>
              <a:rPr lang="en-US" altLang="ko-KR" sz="1800" dirty="0" err="1"/>
              <a:t>d_far</a:t>
            </a:r>
            <a:r>
              <a:rPr lang="en-US" altLang="ko-KR" sz="1800" dirty="0"/>
              <a:t>/100)+6*log10(</a:t>
            </a:r>
            <a:r>
              <a:rPr lang="en-US" altLang="ko-KR" sz="1800" dirty="0" err="1"/>
              <a:t>fq</a:t>
            </a:r>
            <a:r>
              <a:rPr lang="en-US" altLang="ko-KR" sz="1800" dirty="0"/>
              <a:t>/2000)-20*log10(</a:t>
            </a:r>
            <a:r>
              <a:rPr lang="en-US" altLang="ko-KR" sz="1800" dirty="0" err="1"/>
              <a:t>rx_h</a:t>
            </a:r>
            <a:r>
              <a:rPr lang="en-US" altLang="ko-KR" sz="1800" dirty="0"/>
              <a:t>/2);</a:t>
            </a:r>
            <a:endParaRPr lang="ko-KR" altLang="en-US" sz="1800" dirty="0"/>
          </a:p>
          <a:p>
            <a:pPr marL="0" indent="0">
              <a:buNone/>
            </a:pPr>
            <a:endParaRPr lang="en-US" altLang="ko-KR" sz="1800" dirty="0"/>
          </a:p>
          <a:p>
            <a:r>
              <a:rPr lang="ko-KR" altLang="en-US" dirty="0"/>
              <a:t>무한대 제거</a:t>
            </a:r>
            <a:endParaRPr lang="en-US" altLang="ko-KR" dirty="0"/>
          </a:p>
          <a:p>
            <a:pPr marL="0" indent="0">
              <a:buNone/>
            </a:pPr>
            <a:r>
              <a:rPr lang="it-IT" altLang="ko-KR" sz="1800" dirty="0"/>
              <a:t>rx_tx1 = 23.01 - PL_sui_1;</a:t>
            </a:r>
          </a:p>
          <a:p>
            <a:pPr marL="0" indent="0">
              <a:buNone/>
            </a:pPr>
            <a:r>
              <a:rPr lang="it-IT" altLang="ko-KR" sz="1800" dirty="0"/>
              <a:t>rx_tx2 = 23.01 - PL_sui_2;</a:t>
            </a:r>
          </a:p>
          <a:p>
            <a:pPr marL="0" indent="0">
              <a:buNone/>
            </a:pPr>
            <a:r>
              <a:rPr lang="en-US" altLang="ko-KR" sz="1800" dirty="0"/>
              <a:t>rx_tx1(</a:t>
            </a:r>
            <a:r>
              <a:rPr lang="en-US" altLang="ko-KR" sz="1800" dirty="0" err="1"/>
              <a:t>isinf</a:t>
            </a:r>
            <a:r>
              <a:rPr lang="en-US" altLang="ko-KR" sz="1800" dirty="0"/>
              <a:t>(rx_tx1)) = C;</a:t>
            </a:r>
          </a:p>
          <a:p>
            <a:pPr marL="0" indent="0">
              <a:buNone/>
            </a:pPr>
            <a:r>
              <a:rPr lang="en-US" altLang="ko-KR" sz="1800" dirty="0"/>
              <a:t>rx_tx2(</a:t>
            </a:r>
            <a:r>
              <a:rPr lang="en-US" altLang="ko-KR" sz="1800" dirty="0" err="1"/>
              <a:t>isinf</a:t>
            </a:r>
            <a:r>
              <a:rPr lang="en-US" altLang="ko-KR" sz="1800" dirty="0"/>
              <a:t>(rx_tx2)) = C;</a:t>
            </a:r>
          </a:p>
          <a:p>
            <a:pPr marL="0" indent="0">
              <a:buNone/>
            </a:pPr>
            <a:r>
              <a:rPr lang="pl-PL" altLang="ko-KR" sz="1800" dirty="0"/>
              <a:t>z = rx_tx1 - rx_tx2;</a:t>
            </a:r>
            <a:endParaRPr lang="ko-KR" altLang="en-US" sz="1800" dirty="0"/>
          </a:p>
          <a:p>
            <a:pPr marL="0" indent="0">
              <a:buNone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264412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0974C-07A2-E1A8-AB7D-673351046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Matlab</a:t>
            </a:r>
            <a:r>
              <a:rPr lang="en-US" altLang="ko-KR" dirty="0"/>
              <a:t>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E709D8-4D94-2CBB-DD4B-5B4864169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7250"/>
          </a:xfrm>
        </p:spPr>
        <p:txBody>
          <a:bodyPr/>
          <a:lstStyle/>
          <a:p>
            <a:r>
              <a:rPr lang="en-US" altLang="ko-KR" dirty="0"/>
              <a:t>3D</a:t>
            </a:r>
          </a:p>
          <a:p>
            <a:pPr marL="0" indent="0">
              <a:buNone/>
            </a:pPr>
            <a:r>
              <a:rPr lang="en-US" altLang="ko-KR" sz="1800" dirty="0"/>
              <a:t>surf(x, y, z)</a:t>
            </a:r>
          </a:p>
          <a:p>
            <a:pPr marL="0" indent="0">
              <a:buNone/>
            </a:pPr>
            <a:r>
              <a:rPr lang="en-US" altLang="ko-KR" sz="1800" dirty="0" err="1"/>
              <a:t>xlabel</a:t>
            </a:r>
            <a:r>
              <a:rPr lang="en-US" altLang="ko-KR" sz="1800" dirty="0"/>
              <a:t>('X')</a:t>
            </a:r>
          </a:p>
          <a:p>
            <a:pPr marL="0" indent="0">
              <a:buNone/>
            </a:pPr>
            <a:r>
              <a:rPr lang="en-US" altLang="ko-KR" sz="1800" dirty="0" err="1"/>
              <a:t>ylabel</a:t>
            </a:r>
            <a:r>
              <a:rPr lang="en-US" altLang="ko-KR" sz="1800" dirty="0"/>
              <a:t>('Y')</a:t>
            </a:r>
          </a:p>
          <a:p>
            <a:pPr marL="0" indent="0">
              <a:buNone/>
            </a:pPr>
            <a:r>
              <a:rPr lang="en-US" altLang="ko-KR" sz="1800" dirty="0" err="1"/>
              <a:t>zlabel</a:t>
            </a:r>
            <a:r>
              <a:rPr lang="en-US" altLang="ko-KR" sz="1800" dirty="0"/>
              <a:t>('SINR’)</a:t>
            </a:r>
          </a:p>
          <a:p>
            <a:pPr marL="0" indent="0">
              <a:buNone/>
            </a:pPr>
            <a:endParaRPr lang="en-US" altLang="ko-KR" sz="1800" dirty="0"/>
          </a:p>
          <a:p>
            <a:r>
              <a:rPr lang="ko-KR" altLang="en-US" dirty="0"/>
              <a:t>등고선</a:t>
            </a:r>
            <a:endParaRPr lang="en-US" altLang="ko-KR" dirty="0"/>
          </a:p>
          <a:p>
            <a:pPr marL="0" indent="0">
              <a:buNone/>
            </a:pPr>
            <a:r>
              <a:rPr lang="fr-FR" altLang="ko-KR" sz="1800" dirty="0"/>
              <a:t>contour(x, y, z, 50)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r>
              <a:rPr lang="en-US" altLang="ko-KR" dirty="0"/>
              <a:t>3dB</a:t>
            </a:r>
            <a:r>
              <a:rPr lang="ko-KR" altLang="en-US" dirty="0"/>
              <a:t>위치와 송수신기 위치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800" dirty="0"/>
              <a:t>contour(x, y, z, [0 3 50], "</a:t>
            </a:r>
            <a:r>
              <a:rPr lang="en-US" altLang="ko-KR" sz="1800" dirty="0" err="1"/>
              <a:t>ShowText</a:t>
            </a:r>
            <a:r>
              <a:rPr lang="en-US" altLang="ko-KR" sz="1800" dirty="0"/>
              <a:t>", true, "</a:t>
            </a:r>
            <a:r>
              <a:rPr lang="en-US" altLang="ko-KR" sz="1800" dirty="0" err="1"/>
              <a:t>LabelFormat</a:t>
            </a:r>
            <a:r>
              <a:rPr lang="en-US" altLang="ko-KR" sz="1800" dirty="0"/>
              <a:t>", "%d dB")</a:t>
            </a:r>
            <a:endParaRPr lang="ko-KR" altLang="en-US" sz="1800" dirty="0"/>
          </a:p>
          <a:p>
            <a:pPr marL="0" indent="0">
              <a:buNone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186942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CCBE0B-8B1D-B044-3BC2-F0E0A47B0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V. Reference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88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1D8C4-CD60-D5C5-0C8D-3F73DA579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3147D1-8373-951E-59B6-2EE4FE701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b="0" i="0" dirty="0">
                <a:solidFill>
                  <a:srgbClr val="676A6C"/>
                </a:solidFill>
                <a:effectLst/>
                <a:latin typeface="Menlo"/>
              </a:rPr>
              <a:t>Park, Ju-Yong, Kim, Ki-Jung, Kim, Jeong-</a:t>
            </a:r>
            <a:r>
              <a:rPr lang="en-US" altLang="ko-KR" sz="1800" b="0" i="0" dirty="0" err="1">
                <a:solidFill>
                  <a:srgbClr val="676A6C"/>
                </a:solidFill>
                <a:effectLst/>
                <a:latin typeface="Menlo"/>
              </a:rPr>
              <a:t>Su</a:t>
            </a:r>
            <a:r>
              <a:rPr lang="en-US" altLang="ko-KR" sz="1800" b="0" i="0" dirty="0">
                <a:solidFill>
                  <a:srgbClr val="676A6C"/>
                </a:solidFill>
                <a:effectLst/>
                <a:latin typeface="Menlo"/>
              </a:rPr>
              <a:t>, &amp; Lee, Moon-Ho. (2015). Cell Edge SINR of Multi-cell MIMO Downlink Channel. </a:t>
            </a:r>
            <a:r>
              <a:rPr lang="en-US" altLang="ko-KR" sz="1800" b="0" i="1" dirty="0">
                <a:solidFill>
                  <a:srgbClr val="676A6C"/>
                </a:solidFill>
                <a:effectLst/>
                <a:latin typeface="Menlo"/>
              </a:rPr>
              <a:t>The Journal of The Institute of Internet, Broadcasting and Communication</a:t>
            </a:r>
            <a:r>
              <a:rPr lang="en-US" altLang="ko-KR" sz="1800" b="0" i="0" dirty="0">
                <a:solidFill>
                  <a:srgbClr val="676A6C"/>
                </a:solidFill>
                <a:effectLst/>
                <a:latin typeface="Menlo"/>
              </a:rPr>
              <a:t>, </a:t>
            </a:r>
            <a:r>
              <a:rPr lang="en-US" altLang="ko-KR" sz="1800" b="0" i="1" dirty="0">
                <a:solidFill>
                  <a:srgbClr val="676A6C"/>
                </a:solidFill>
                <a:effectLst/>
                <a:latin typeface="Menlo"/>
              </a:rPr>
              <a:t>15</a:t>
            </a:r>
            <a:r>
              <a:rPr lang="en-US" altLang="ko-KR" sz="1800" b="0" i="0" dirty="0">
                <a:solidFill>
                  <a:srgbClr val="676A6C"/>
                </a:solidFill>
                <a:effectLst/>
                <a:latin typeface="Menlo"/>
              </a:rPr>
              <a:t>(4), 105–117. </a:t>
            </a:r>
            <a:r>
              <a:rPr lang="en-US" altLang="ko-KR" sz="1800" b="0" i="0" dirty="0">
                <a:solidFill>
                  <a:srgbClr val="676A6C"/>
                </a:solidFill>
                <a:effectLst/>
                <a:latin typeface="Menlo"/>
                <a:hlinkClick r:id="rId2"/>
              </a:rPr>
              <a:t>https://doi.org/10.7236/JIIBC.2015.15.4.105</a:t>
            </a:r>
            <a:endParaRPr lang="en-US" altLang="ko-KR" sz="1800" b="0" i="0" dirty="0">
              <a:solidFill>
                <a:srgbClr val="676A6C"/>
              </a:solidFill>
              <a:effectLst/>
              <a:latin typeface="Menlo"/>
            </a:endParaRPr>
          </a:p>
          <a:p>
            <a:r>
              <a:rPr lang="en-US" altLang="ko-KR" sz="1800" u="sng" kern="100" dirty="0">
                <a:solidFill>
                  <a:srgbClr val="0563C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hlinkClick r:id="rId3"/>
              </a:rPr>
              <a:t>https://scienceon.kisti.re.kr/commons/util/originalView.do?cn=JAKO201707153701890&amp;oCn=JAKO201707153701890&amp;dbt=JAKO&amp;journal=NJOU00395629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800" u="sng" kern="100" dirty="0">
                <a:solidFill>
                  <a:srgbClr val="0563C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hlinkClick r:id="rId4"/>
              </a:rPr>
              <a:t>https://scienceon.kisti.re.kr/commons/util/originalView.do?cn=JAKO201402852973994&amp;oCn=JAKO201402852973994&amp;dbt=JAKO&amp;journal=NJOU00395629</a:t>
            </a:r>
            <a:endParaRPr lang="en-US" altLang="ko-KR" sz="1800" u="sng" kern="100" dirty="0">
              <a:solidFill>
                <a:srgbClr val="0563C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hlinkClick r:id="rId5"/>
              </a:rPr>
              <a:t>https://en.wikipedia.org/wiki/Signal-to-interference-plus-noise_ratio</a:t>
            </a:r>
            <a:endParaRPr lang="en-US" altLang="ko-KR" sz="1800" u="sng" kern="100" dirty="0">
              <a:solidFill>
                <a:srgbClr val="0563C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hlinkClick r:id="rId6"/>
              </a:rPr>
              <a:t>https://wiki.teltonika-networks.com/view/SINR</a:t>
            </a:r>
            <a:endParaRPr lang="en-US" altLang="ko-KR" sz="1800" u="sng" kern="100" dirty="0">
              <a:solidFill>
                <a:srgbClr val="0563C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https://help.venntelecom.com/support/solutions/articles/44001931194-how-to-interpret-sinr-parameters-in-2g-3g-and-lte-routers-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420487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432</ep:Words>
  <ep:PresentationFormat>와이드스크린</ep:PresentationFormat>
  <ep:Paragraphs>127</ep:Paragraphs>
  <ep:Slides>25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ep:HeadingPairs>
  <ep:TitlesOfParts>
    <vt:vector size="26" baseType="lpstr">
      <vt:lpstr>Office 테마</vt:lpstr>
      <vt:lpstr>LinkBudget &amp; SINR MAP (A Two-cell case)</vt:lpstr>
      <vt:lpstr>Contents</vt:lpstr>
      <vt:lpstr>I. 주파수에 따른 Model’s SINR 계산</vt:lpstr>
      <vt:lpstr>SINR(Signal to Interference plus Noise Ratio)</vt:lpstr>
      <vt:lpstr>Linkbudget 가정값</vt:lpstr>
      <vt:lpstr>Model’s SINR 계산</vt:lpstr>
      <vt:lpstr>Model’s SINR 계산</vt:lpstr>
      <vt:lpstr>Model’s SINR 계산</vt:lpstr>
      <vt:lpstr>II. Model’s SINR Map</vt:lpstr>
      <vt:lpstr>Hata model’s SINR Map (800MHz)</vt:lpstr>
      <vt:lpstr>Hata model’s SINR Map (1.9GHz)</vt:lpstr>
      <vt:lpstr>Cost 231 model’s SINR Map(800MHz)</vt:lpstr>
      <vt:lpstr>Cost 231 model’s SINR Map (1.9GHz)</vt:lpstr>
      <vt:lpstr>SUI model’s SINR Map (28GHz)</vt:lpstr>
      <vt:lpstr>III. Conclusion</vt:lpstr>
      <vt:lpstr>Conclusion</vt:lpstr>
      <vt:lpstr>Conclusion</vt:lpstr>
      <vt:lpstr>IV. Appendix</vt:lpstr>
      <vt:lpstr>Matlab code</vt:lpstr>
      <vt:lpstr>Matlab code</vt:lpstr>
      <vt:lpstr>Matlab code</vt:lpstr>
      <vt:lpstr>Matlab code</vt:lpstr>
      <vt:lpstr>Matlab code</vt:lpstr>
      <vt:lpstr>V. Reference</vt:lpstr>
      <vt:lpstr>Reference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2023-03-31T18:57:34.000</dcterms:created>
  <dc:creator>박지원</dc:creator>
  <cp:lastModifiedBy>parkj</cp:lastModifiedBy>
  <dcterms:modified xsi:type="dcterms:W3CDTF">2023-04-03T13:35:51.236</dcterms:modified>
  <cp:revision>14</cp:revision>
  <dc:title>Module 1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