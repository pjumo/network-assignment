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4" r:id="rId3"/>
    <p:sldId id="266" r:id="rId4"/>
    <p:sldId id="257" r:id="rId5"/>
    <p:sldId id="267" r:id="rId6"/>
    <p:sldId id="268" r:id="rId7"/>
    <p:sldId id="258" r:id="rId8"/>
    <p:sldId id="291" r:id="rId9"/>
    <p:sldId id="290" r:id="rId10"/>
    <p:sldId id="269" r:id="rId11"/>
    <p:sldId id="292" r:id="rId12"/>
    <p:sldId id="293" r:id="rId13"/>
    <p:sldId id="294" r:id="rId14"/>
    <p:sldId id="270" r:id="rId15"/>
    <p:sldId id="286" r:id="rId16"/>
    <p:sldId id="288" r:id="rId17"/>
    <p:sldId id="287" r:id="rId18"/>
    <p:sldId id="271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204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" y="130"/>
      </p:cViewPr>
      <p:guideLst>
        <p:guide orient="horz" pos="2158"/>
        <p:guide pos="383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presProps" Target="presProps.xml"  /><Relationship Id="rId21" Type="http://schemas.openxmlformats.org/officeDocument/2006/relationships/viewProps" Target="viewProps.xml"  /><Relationship Id="rId22" Type="http://schemas.openxmlformats.org/officeDocument/2006/relationships/theme" Target="theme/theme1.xml"  /><Relationship Id="rId23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30FA39-AA67-A3AB-F1B0-58006E57E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0CF6F1-1568-BAAD-7F52-D4A72C871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A51BCF-85FE-1856-473B-791C46860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9B89C4-FAEB-34F9-AEC6-5919E0658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F9FA1-E166-7F61-EA60-B052A0E00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35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D25DE-B2C2-824B-E458-74C1AA46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0929C-30E9-D4EC-32DC-5FFD92ADF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3C1F6E-7A19-5340-5739-632030C3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B7C10-EF52-148E-A3A0-F234C895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B052A-8DCF-7DA2-EB98-3396BEE8D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2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EA1FB-D709-03A3-4033-54C3D18A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75F3AF-43FC-0E28-47EB-4C9304393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F3970-678A-E7F9-0DAA-F1BB6857E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B17D2A-E8AB-6EBD-FD7B-2EC99F02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34E51-E2A2-A15B-6C34-878D9A92F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049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ECC454-F363-681D-D95B-0236E48C7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F9CCA8-2A28-745A-0DE3-06A5B4AA5B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B231EE-9065-CDDE-0157-CE1D9F89B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F7EDCD-2C5B-640D-01C7-9F41F8DF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F9F60D-BFA6-5373-B906-785513A2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A17613-91F4-2CAC-1F03-87C3997C7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06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AAAE5-2022-BE8C-8C09-17C09F964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B6F7C2-F07F-B190-5B98-A8F590199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081FB4-7D20-5AA6-7E5D-441C5D0CC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131305-37BC-9271-D232-4017935F74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06735D-0E99-F2C0-782A-52EC0E586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D21285C-3024-A352-9CEF-BB78D9409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AAACF0-9D5B-08EC-4F92-BAB3D15C8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65D6B0-EADF-CAC7-68D6-81A3E865D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0800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10217-0ABC-A198-0C68-DC4032E9D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F6732C-1292-FE48-A88E-C65D533F0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76CAFD-D40B-03E3-8515-FA71455F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8AB0FB-5DC0-95CF-B6C5-52AB613A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390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A9EEBE-BA80-C6A1-A540-4715B9F2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9C5C413-DAA0-5C09-43AF-D6797D408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74E690-A0DD-7816-11E7-8064A8B3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372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96548-4380-63D0-18E5-FEB8BD6B0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6962EF-C1BE-A0BD-43EA-313FB7543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B779B0-389C-911A-F7CA-6F95D6493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41206F-9050-7D0E-3903-B2FD93FE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83D8D1-F631-AA2F-A6A4-1DEFD8B6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71382C-F570-1846-B395-6F65705DC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398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1E735-C0EE-CD25-C1A7-EC6A8D9E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7854BE9-802C-B428-9148-45AFBF5B4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0744A0-3EEF-9C92-4863-52E640092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157543-7914-869F-4C08-E398976C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D9192A-94AA-C049-4CE2-60995688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501B60-4BD1-2AC4-E7BA-F6E7AE9C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90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D9A0AB-1271-85A8-7AA5-2DBCDCEC9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7AD17D-55D0-76CC-6928-C5345616E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6880DF-6547-8AB4-01A2-F64FA4ABD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FA5CF5-9140-C114-560B-AC3148AD3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2E9A56-E8F3-065A-F6F3-F23450D3C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074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73C93DE-07EA-7127-46DA-1889EEDB79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3DA3DF-6034-4088-20E1-FEAB8D4F6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164B50-3110-CF95-A8B8-BFDA47A0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7E12C9-AF48-6AE4-7B45-BE18EA33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69C75A-36BE-D871-478B-89D2149D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41454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744425-9BEE-47FF-B3DE-6164F7257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AEC071-0076-7CAC-D167-491DC807F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6C6C70-7D2F-34FA-427A-94C060372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D00619-07B8-477E-BF36-81780575559E}" type="datetimeFigureOut">
              <a:rPr lang="ko-KR" altLang="en-US" smtClean="0"/>
              <a:t>2023-04-02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0A6D0D-83ED-5C2F-6C5B-3297ACE53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F72C15-21ED-5171-4175-3F34A42B2B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641E3-B89E-4E0D-BD8F-DD1C28D9FB8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66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Relationship Id="rId3" Type="http://schemas.openxmlformats.org/officeDocument/2006/relationships/image" Target="../media/image10.png"  /><Relationship Id="rId4" Type="http://schemas.openxmlformats.org/officeDocument/2006/relationships/image" Target="../media/image1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Relationship Id="rId3" Type="http://schemas.openxmlformats.org/officeDocument/2006/relationships/image" Target="../media/image21.png"  /><Relationship Id="rId4" Type="http://schemas.openxmlformats.org/officeDocument/2006/relationships/image" Target="../media/image2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3.png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hyperlink" Target="https://doi.org/10.7236/JIIBC.2015.15.4.105" TargetMode="External" /><Relationship Id="rId3" Type="http://schemas.openxmlformats.org/officeDocument/2006/relationships/hyperlink" Target="https://scienceon.kisti.re.kr/commons/util/originalView.do?cn=JAKO201707153701890&amp;oCn=JAKO201707153701890&amp;dbt=JAKO&amp;journal=NJOU00395629" TargetMode="External" /><Relationship Id="rId4" Type="http://schemas.openxmlformats.org/officeDocument/2006/relationships/hyperlink" Target="https://scienceon.kisti.re.kr/commons/util/originalView.do?cn=JAKO201402852973994&amp;oCn=JAKO201402852973994&amp;dbt=JAKO&amp;journal=NJOU00395629" TargetMode="External" /><Relationship Id="rId5" Type="http://schemas.openxmlformats.org/officeDocument/2006/relationships/hyperlink" Target="https://en.wikipedia.org/wiki/Signal-to-interference-plus-noise_ratio" TargetMode="External" /><Relationship Id="rId6" Type="http://schemas.openxmlformats.org/officeDocument/2006/relationships/hyperlink" Target="https://wiki.teltonika-networks.com/view/SINR" TargetMode="External"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Module2</a:t>
            </a:r>
            <a:br>
              <a:rPr lang="en-US" altLang="ko-KR"/>
            </a:br>
            <a:r>
              <a:rPr lang="en-US" altLang="ko-KR" sz="3600"/>
              <a:t>(Base Station Capacity and Coverage)</a:t>
            </a:r>
            <a:endParaRPr lang="en-US" altLang="ko-KR" sz="36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5CB3CA-0E63-9EE4-BFD5-379D86A88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1536"/>
            <a:ext cx="9144000" cy="1655762"/>
          </a:xfrm>
        </p:spPr>
        <p:txBody>
          <a:bodyPr/>
          <a:lstStyle/>
          <a:p>
            <a:pPr algn="r"/>
            <a:r>
              <a:rPr lang="ko-KR" altLang="en-US" dirty="0" err="1"/>
              <a:t>박준모</a:t>
            </a:r>
            <a:endParaRPr lang="en-US" altLang="ko-KR" dirty="0"/>
          </a:p>
          <a:p>
            <a:pPr algn="r"/>
            <a:r>
              <a:rPr lang="ko-KR" altLang="en-US" dirty="0"/>
              <a:t>박지원</a:t>
            </a:r>
            <a:endParaRPr lang="en-US" altLang="ko-KR" dirty="0"/>
          </a:p>
          <a:p>
            <a:pPr algn="r"/>
            <a:r>
              <a:rPr lang="ko-KR" altLang="en-US" dirty="0" err="1"/>
              <a:t>윤철훈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5818580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6DD97-C80E-5704-0C54-A93A0837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760479"/>
            <a:ext cx="10515600" cy="435133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  <a:defRPr/>
            </a:pPr>
            <a:r>
              <a:rPr lang="en-US" altLang="ko-KR"/>
              <a:t>I.</a:t>
            </a:r>
            <a:r>
              <a:rPr lang="ko-KR" altLang="en-US"/>
              <a:t> 기본값을 지정한 </a:t>
            </a:r>
            <a:r>
              <a:rPr lang="en-US" altLang="ko-KR"/>
              <a:t>DataRate Map</a:t>
            </a:r>
            <a:endParaRPr lang="en-US" altLang="ko-KR"/>
          </a:p>
          <a:p>
            <a:pPr marL="571500" lvl="0" indent="-571500">
              <a:buAutoNum type="romanUcPeriod"/>
              <a:defRPr/>
            </a:pP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II. Model’s</a:t>
            </a:r>
            <a:r>
              <a:rPr lang="ko-KR" altLang="en-US"/>
              <a:t> </a:t>
            </a:r>
            <a:r>
              <a:rPr lang="en-US" altLang="ko-KR"/>
              <a:t>SINR Map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III. Conclusion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r>
              <a:rPr lang="en-US" altLang="ko-KR"/>
              <a:t>IV. Reference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marL="0" lvl="0" indent="0">
              <a:buNone/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23564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lvl="0" algn="ctr">
              <a:defRPr/>
            </a:pPr>
            <a:r>
              <a:rPr lang="en-US" altLang="ko-KR"/>
              <a:t>I. </a:t>
            </a:r>
            <a:r>
              <a:rPr lang="ko-KR" altLang="en-US"/>
              <a:t>기본값을 지정한 </a:t>
            </a:r>
            <a:r>
              <a:rPr lang="en-US" altLang="ko-KR"/>
              <a:t>DataRate Map</a:t>
            </a: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831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C6868-18EA-51F0-9797-70B2D064A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Linkbudget</a:t>
            </a:r>
            <a:r>
              <a:rPr lang="ko-KR" altLang="en-US" dirty="0"/>
              <a:t> </a:t>
            </a:r>
            <a:r>
              <a:rPr lang="ko-KR" altLang="en-US" dirty="0" err="1"/>
              <a:t>가정값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6EF26A-7E1A-F1D0-11D1-FF4D78F8106A}"/>
              </a:ext>
            </a:extLst>
          </p:cNvPr>
          <p:cNvSpPr txBox="1"/>
          <p:nvPr/>
        </p:nvSpPr>
        <p:spPr>
          <a:xfrm>
            <a:off x="1130840" y="1696260"/>
            <a:ext cx="7650398" cy="365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dirty="0"/>
              <a:t>수신 전력</a:t>
            </a:r>
            <a:r>
              <a:rPr lang="en-US" altLang="ko-KR" dirty="0"/>
              <a:t>(dBm) = </a:t>
            </a:r>
            <a:r>
              <a:rPr lang="ko-KR" altLang="en-US" dirty="0"/>
              <a:t>전송 전력</a:t>
            </a:r>
            <a:r>
              <a:rPr lang="en-US" altLang="ko-KR" dirty="0"/>
              <a:t>(dBm) + </a:t>
            </a:r>
            <a:r>
              <a:rPr lang="ko-KR" altLang="en-US" dirty="0"/>
              <a:t>이득</a:t>
            </a:r>
            <a:r>
              <a:rPr lang="en-US" altLang="ko-KR" dirty="0"/>
              <a:t>(dB) - </a:t>
            </a:r>
            <a:r>
              <a:rPr lang="ko-KR" altLang="en-US" dirty="0"/>
              <a:t>손실</a:t>
            </a:r>
            <a:r>
              <a:rPr lang="en-US" altLang="ko-KR" dirty="0"/>
              <a:t>(dB)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F05935-A0A3-3C0E-4F82-4E68D95AE4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13205" y="2955587"/>
            <a:ext cx="561975" cy="3619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9700D11-D1EE-963F-9E79-453DE29533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694155" y="2411851"/>
            <a:ext cx="581025" cy="371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1C6EA7-FBCD-4C98-5089-2FC569704736}"/>
              </a:ext>
            </a:extLst>
          </p:cNvPr>
          <p:cNvSpPr txBox="1"/>
          <p:nvPr/>
        </p:nvSpPr>
        <p:spPr>
          <a:xfrm>
            <a:off x="1414563" y="2742794"/>
            <a:ext cx="677329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이득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3FB823D-59C9-5B0B-8E0B-16F406BA5E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29399" y="3503254"/>
            <a:ext cx="495300" cy="3524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656B3A0-EF6D-B5E0-1DAC-689613C359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24636" y="4045063"/>
            <a:ext cx="504825" cy="3429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9D6212-BED5-F380-FA0A-C6E48E98E60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706194" y="4590926"/>
            <a:ext cx="495300" cy="37147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C38CBAD-48DF-76BA-6310-F2E449A3F1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717442" y="5114396"/>
            <a:ext cx="438150" cy="352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4C7839-06D6-1BDB-8788-8A86D790F5CE}"/>
              </a:ext>
            </a:extLst>
          </p:cNvPr>
          <p:cNvSpPr txBox="1"/>
          <p:nvPr/>
        </p:nvSpPr>
        <p:spPr>
          <a:xfrm>
            <a:off x="1414563" y="4414976"/>
            <a:ext cx="670439" cy="3604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손실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33CE1B-B075-245C-78E8-FB465393F84D}"/>
              </a:ext>
            </a:extLst>
          </p:cNvPr>
          <p:cNvSpPr txBox="1"/>
          <p:nvPr/>
        </p:nvSpPr>
        <p:spPr>
          <a:xfrm>
            <a:off x="3491824" y="2411851"/>
            <a:ext cx="2590841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/>
              <a:t>송신기 안테나 이득</a:t>
            </a:r>
            <a:r>
              <a:rPr lang="en-US" altLang="ko-KR"/>
              <a:t>(dBi)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3C48AA-7FD1-DFE8-0EFF-A2E1FB13A1FD}"/>
              </a:ext>
            </a:extLst>
          </p:cNvPr>
          <p:cNvSpPr txBox="1"/>
          <p:nvPr/>
        </p:nvSpPr>
        <p:spPr>
          <a:xfrm>
            <a:off x="3505159" y="2949993"/>
            <a:ext cx="2587031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안테나 이득</a:t>
            </a:r>
            <a:r>
              <a:rPr kumimoji="0" lang="en-US" altLang="ko-KR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(dBi)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EBBB88-DDCE-0C29-5383-17FC26BB4223}"/>
              </a:ext>
            </a:extLst>
          </p:cNvPr>
          <p:cNvSpPr txBox="1"/>
          <p:nvPr/>
        </p:nvSpPr>
        <p:spPr>
          <a:xfrm>
            <a:off x="3491824" y="3488135"/>
            <a:ext cx="35221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송신기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C00D7-D50A-DD65-3736-FE9E04254521}"/>
              </a:ext>
            </a:extLst>
          </p:cNvPr>
          <p:cNvSpPr txBox="1"/>
          <p:nvPr/>
        </p:nvSpPr>
        <p:spPr>
          <a:xfrm>
            <a:off x="3491824" y="4032741"/>
            <a:ext cx="3516672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수신기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동축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커넥터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F97ED7-04D9-6541-0A2C-A4474079A7D5}"/>
              </a:ext>
            </a:extLst>
          </p:cNvPr>
          <p:cNvSpPr txBox="1"/>
          <p:nvPr/>
        </p:nvSpPr>
        <p:spPr>
          <a:xfrm>
            <a:off x="3491824" y="4592892"/>
            <a:ext cx="18923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경로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[dB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A1647C-F315-4FEC-DBEF-69C53AAFE966}"/>
              </a:ext>
            </a:extLst>
          </p:cNvPr>
          <p:cNvSpPr txBox="1"/>
          <p:nvPr/>
        </p:nvSpPr>
        <p:spPr>
          <a:xfrm>
            <a:off x="3491820" y="5099277"/>
            <a:ext cx="6488475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기타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(</a:t>
            </a:r>
            <a:r>
              <a:rPr kumimoji="0" lang="ko-KR" altLang="en-US" sz="1800" b="0" i="0" u="none" strike="noStrike" kern="1200" cap="none" spc="0" normalizeH="0" baseline="0" dirty="0" err="1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페이드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마진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바디 손실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,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polarization-mismatch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등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)</a:t>
            </a:r>
            <a:r>
              <a:rPr kumimoji="0" lang="ko-KR" altLang="en-US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[</a:t>
            </a:r>
            <a:r>
              <a:rPr kumimoji="0" lang="en-US" altLang="ko-KR" sz="1800" b="0" i="0" u="none" strike="noStrike" kern="1200" cap="none" spc="0" normalizeH="0" baseline="0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dB</a:t>
            </a:r>
            <a:r>
              <a:rPr lang="en-US" altLang="ko-KR" dirty="0">
                <a:solidFill>
                  <a:srgbClr val="000000"/>
                </a:solidFill>
                <a:latin typeface="Calibri"/>
                <a:ea typeface="맑은 고딕"/>
                <a:cs typeface="맑은 고딕"/>
              </a:rPr>
              <a:t>]</a:t>
            </a:r>
            <a:endParaRPr kumimoji="0" lang="en-US" altLang="ko-KR" sz="1800" b="0" i="0" u="none" strike="noStrike" kern="1200" cap="none" spc="0" normalizeH="0" baseline="0" dirty="0">
              <a:solidFill>
                <a:srgbClr val="000000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66D968-047C-8DE2-ECE9-BE3A8C386058}"/>
              </a:ext>
            </a:extLst>
          </p:cNvPr>
          <p:cNvSpPr txBox="1"/>
          <p:nvPr/>
        </p:nvSpPr>
        <p:spPr>
          <a:xfrm>
            <a:off x="6715544" y="2869504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5[</a:t>
            </a:r>
            <a:r>
              <a:rPr lang="en-US" altLang="ko-KR" dirty="0" err="1"/>
              <a:t>dBi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753D6-6402-5B62-21FE-DDB8BC472F2C}"/>
              </a:ext>
            </a:extLst>
          </p:cNvPr>
          <p:cNvSpPr txBox="1"/>
          <p:nvPr/>
        </p:nvSpPr>
        <p:spPr>
          <a:xfrm>
            <a:off x="7343409" y="3848969"/>
            <a:ext cx="2103487" cy="3675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1800" b="0" i="0" u="none" strike="noStrike" kern="1200" cap="none" spc="0" normalizeH="0" baseline="0">
                <a:solidFill>
                  <a:srgbClr val="000000"/>
                </a:solidFill>
                <a:latin typeface="Calibri"/>
                <a:ea typeface="맑은 고딕"/>
                <a:cs typeface="Calibri"/>
              </a:rPr>
              <a:t>이상적인 송수신기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30368C-1999-D1B7-0008-E25D6543541B}"/>
              </a:ext>
            </a:extLst>
          </p:cNvPr>
          <p:cNvSpPr txBox="1"/>
          <p:nvPr/>
        </p:nvSpPr>
        <p:spPr>
          <a:xfrm>
            <a:off x="9980295" y="5093952"/>
            <a:ext cx="1127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/>
              <a:t>10[dB]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E3C98C-07ED-E741-3556-5DD53180B3EA}"/>
              </a:ext>
            </a:extLst>
          </p:cNvPr>
          <p:cNvSpPr txBox="1"/>
          <p:nvPr/>
        </p:nvSpPr>
        <p:spPr>
          <a:xfrm>
            <a:off x="6715543" y="2381927"/>
            <a:ext cx="782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dirty="0"/>
              <a:t>5[</a:t>
            </a:r>
            <a:r>
              <a:rPr lang="en-US" altLang="ko-KR" dirty="0" err="1"/>
              <a:t>dBi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99A575F-95E0-BC81-695E-9614E12BCB6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713205" y="5605371"/>
            <a:ext cx="438150" cy="35242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FDE7F6D2-DEDE-4B35-6D3F-42A9BE35808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736069" y="6108749"/>
            <a:ext cx="428625" cy="35169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0DAD57A2-139C-0E62-A86E-B022310A8940}"/>
              </a:ext>
            </a:extLst>
          </p:cNvPr>
          <p:cNvSpPr txBox="1"/>
          <p:nvPr/>
        </p:nvSpPr>
        <p:spPr>
          <a:xfrm>
            <a:off x="3526438" y="5605371"/>
            <a:ext cx="35525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기지국 안테나 높이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	50[m]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6BA057-94AE-DD23-8B4C-4F87471646BF}"/>
              </a:ext>
            </a:extLst>
          </p:cNvPr>
          <p:cNvSpPr txBox="1"/>
          <p:nvPr/>
        </p:nvSpPr>
        <p:spPr>
          <a:xfrm>
            <a:off x="3526438" y="6099176"/>
            <a:ext cx="3589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dirty="0"/>
              <a:t>이동국 안테나 높이 </a:t>
            </a:r>
            <a:r>
              <a:rPr lang="en-US" altLang="ko-KR" dirty="0"/>
              <a:t>:	 </a:t>
            </a:r>
            <a:r>
              <a:rPr lang="ko-KR" altLang="en-US" dirty="0"/>
              <a:t> </a:t>
            </a:r>
            <a:r>
              <a:rPr lang="en-US" altLang="ko-KR" dirty="0"/>
              <a:t>1[m]</a:t>
            </a:r>
          </a:p>
        </p:txBody>
      </p:sp>
    </p:spTree>
    <p:extLst>
      <p:ext uri="{BB962C8B-B14F-4D97-AF65-F5344CB8AC3E}">
        <p14:creationId xmlns:p14="http://schemas.microsoft.com/office/powerpoint/2010/main" val="141427724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xmlns:mc="http://schemas.openxmlformats.org/markup-compatibility/2006" xmlns:a14="http://schemas.microsoft.com/office/drawing/2010/main" mc:Ignorable="a14 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5D059-98BE-27E1-8EFD-A03CE3564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5651"/>
                <a:ext cx="10515600" cy="4351338"/>
              </a:xfrm>
            </p:spPr>
            <p:txBody>
              <a:bodyPr/>
              <a:lstStyle/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en-US" altLang="ko-KR" dirty="0"/>
                        <m:t>COST 231 Model (800MHz, 1.9GHz)</m:t>
                      </m:r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en-US" altLang="ko-KR" dirty="0"/>
                        <m:t xml:space="preserve">  </m:t>
                      </m:r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en-US" altLang="ko-KR" dirty="0"/>
                        <m:t xml:space="preserve">  </m:t>
                      </m:r>
                    </m:oMath>
                  </m:oMathPara>
                </a14:m>
              </a:p>
              <a:p>
                <a:pPr marL="0" indent="0">
                  <a:buNone/>
                </a:pPr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en-US" altLang="ko-KR" sz="1800" kern="1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     </m:t>
                      </m:r>
                      <m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  </m:t>
                      </m:r>
                      <m:sSub>
                        <m:sSubPr>
                          <m:ctrlPr>
                            <a:rPr lang="ko-KR" altLang="ko-KR" sz="18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800" i="1" kern="100">
                              <a:effectLst/>
                              <a:latin typeface="Cambria Math" panose="02040503050406030204" pitchFamily="18" charset="0"/>
                              <a:ea typeface="맑은 고딕" panose="020B0503020000020004" pitchFamily="50" charset="-127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: 3 </m:t>
                      </m:r>
                      <m:r>
                        <a:rPr lang="ko-KR" altLang="en-US" sz="1800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도심지역</m:t>
                      </m:r>
                    </m:oMath>
                  </m:oMathPara>
                </a14:m>
              </a:p>
              <a:p>
                <a14:m xmlns:m="http://schemas.openxmlformats.org/officeDocument/2006/math">
                  <m:oMathPara>
                    <m:oMath xmlns:m="http://schemas.openxmlformats.org/officeDocument/2006/math">
                      <m:r>
                        <a:rPr lang="en-US" altLang="ko-KR" dirty="0"/>
                        <m:t xml:space="preserve">     (</m:t>
                      </m:r>
                      <m:r>
                        <a:rPr lang="en-US" altLang="ko-KR" sz="1800" dirty="0" err="1">
                          <a:effectLst/>
                          <a:latin typeface="맑은 고딕" panose="020B0503020000020004" pitchFamily="50" charset="-127"/>
                          <a:cs typeface="Times New Roman" panose="02020603050405020304" pitchFamily="18" charset="0"/>
                        </a:rPr>
                        <m:t>Hata</m:t>
                      </m:r>
                      <m:r>
                        <a:rPr lang="en-US" altLang="ko-KR" sz="1800" dirty="0">
                          <a:effectLst/>
                          <a:latin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 </m:t>
                      </m:r>
                      <m:r>
                        <a:rPr lang="ko-KR" altLang="ko-KR" sz="1800" dirty="0">
                          <a:effectLst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모델과 </m:t>
                      </m:r>
                      <m:r>
                        <a:rPr lang="en-US" altLang="ko-KR" sz="1800" dirty="0">
                          <a:effectLst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Parameter</m:t>
                      </m:r>
                      <m:r>
                        <a:rPr lang="ko-KR" altLang="en-US" sz="1800" dirty="0"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와 </m:t>
                      </m:r>
                      <m:r>
                        <a:rPr lang="en-US" altLang="ko-KR" sz="1800" dirty="0" err="1"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Patameter</m:t>
                      </m:r>
                      <m:r>
                        <a:rPr lang="ko-KR" altLang="en-US" sz="1800" dirty="0"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의</m:t>
                      </m:r>
                      <m:r>
                        <a:rPr lang="ko-KR" altLang="en-US" sz="1800" dirty="0">
                          <a:effectLst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 xml:space="preserve"> 단위 동일</m:t>
                      </m:r>
                      <m:r>
                        <a:rPr lang="en-US" altLang="ko-KR" sz="1800" dirty="0">
                          <a:effectLst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3" name=""/>
              <p:cNvSpPr txBox="1"/>
              <p:nvPr/>
            </p:nvSpPr>
            <p:spPr>
              <a:xfrm>
                <a:off x="838200" y="1835651"/>
                <a:ext cx="10515600" cy="4351338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p:pic>
        <p:nvPicPr>
          <p:cNvPr id="4" name="그림 3" descr="텍스트, 오렌지이(가) 표시된 사진&#10;&#10;자동 생성된 설명">
            <a:extLst>
              <a:ext uri="{FF2B5EF4-FFF2-40B4-BE49-F238E27FC236}">
                <a16:creationId xmlns:a16="http://schemas.microsoft.com/office/drawing/2014/main" id="{CFED8BF9-F2DD-01EC-8BD7-DD38C5DA0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66" y="2522096"/>
            <a:ext cx="7937760" cy="1179160"/>
          </a:xfrm>
          <a:prstGeom prst="rect">
            <a:avLst/>
          </a:prstGeom>
        </p:spPr>
      </p:pic>
      <p:pic>
        <p:nvPicPr>
          <p:cNvPr id="5" name="그림 4" descr="텍스트이(가) 표시된 사진&#10;&#10;자동 생성된 설명">
            <a:extLst>
              <a:ext uri="{FF2B5EF4-FFF2-40B4-BE49-F238E27FC236}">
                <a16:creationId xmlns:a16="http://schemas.microsoft.com/office/drawing/2014/main" id="{7A2E1035-BFC5-56DB-378B-EA61762B7D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566" y="3701256"/>
            <a:ext cx="6139989" cy="103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3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1DE17-0278-CEA6-C9FA-DFC40ECF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Model’s SINR </a:t>
            </a:r>
            <a:r>
              <a:rPr lang="ko-KR" altLang="en-US" dirty="0"/>
              <a:t>계산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5E1B28-B27F-B44E-9E89-0A8614F895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SUI Model (28GHz)</a:t>
                </a:r>
              </a:p>
              <a:p>
                <a:pPr marL="0" indent="0">
                  <a:buNone/>
                </a:pP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𝑆𝑈𝐼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𝑃𝐿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)+10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num>
                              <m:den>
                                <m:sSub>
                                  <m:sSubPr>
                                    <m:ctrlPr>
                                      <a:rPr lang="ko-KR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𝑓𝑐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h𝑟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ko-KR" dirty="0"/>
                  <a:t>    </a:t>
                </a:r>
                <a14:m>
                  <m:oMath xmlns:m="http://schemas.openxmlformats.org/officeDocument/2006/math"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𝑃𝐿</m:t>
                    </m:r>
                    <m:r>
                      <a:rPr lang="en-US" altLang="ko-KR" sz="1800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800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800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)=20</m:t>
                    </m:r>
                    <m:func>
                      <m:funcPr>
                        <m:ctrlPr>
                          <a:rPr lang="ko-KR" altLang="ko-KR" sz="1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 kern="100">
                                <a:effectLst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  <a:cs typeface="Times New Roman" panose="020206030504050203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ko-KR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ko-KR" sz="1800" i="1" kern="100">
                                        <a:effectLst/>
                                        <a:latin typeface="Cambria Math" panose="02040503050406030204" pitchFamily="18" charset="0"/>
                                        <a:ea typeface="맑은 고딕" panose="020B0503020000020004" pitchFamily="50" charset="-127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1800" i="1" kern="100">
                                    <a:effectLst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  <a:cs typeface="Times New Roman" panose="02020603050405020304" pitchFamily="18" charset="0"/>
                                  </a:rPr>
                                  <m:t>𝜆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1800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, 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b>
                          <m:sSub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800" dirty="0"/>
                  <a:t> 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𝑓𝑐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=6</m:t>
                    </m:r>
                    <m:func>
                      <m:func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ko-KR" altLang="ko-KR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ko-KR" altLang="ko-KR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ko-KR" altLang="ko-KR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sz="1800" i="1">
                                        <a:latin typeface="Cambria Math" panose="02040503050406030204" pitchFamily="18" charset="0"/>
                                      </a:rPr>
                                      <m:t>𝑀𝐻𝑍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ko-KR" sz="1800" i="1">
                                    <a:latin typeface="Cambria Math" panose="02040503050406030204" pitchFamily="18" charset="0"/>
                                  </a:rPr>
                                  <m:t>2000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ko-KR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&gt;2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𝐺𝐻𝑧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en-US" altLang="ko-KR" sz="1800" dirty="0"/>
                  <a:t>   </a:t>
                </a:r>
                <a:endParaRPr lang="ko-KR" altLang="ko-KR" sz="1800" dirty="0"/>
              </a:p>
              <a:p>
                <a:pPr marL="0" indent="0">
                  <a:buNone/>
                </a:pPr>
                <a:endParaRPr lang="ko-KR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5E1B28-B27F-B44E-9E89-0A8614F895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편지이(가) 표시된 사진&#10;&#10;자동 생성된 설명">
            <a:extLst>
              <a:ext uri="{FF2B5EF4-FFF2-40B4-BE49-F238E27FC236}">
                <a16:creationId xmlns:a16="http://schemas.microsoft.com/office/drawing/2014/main" id="{4446F838-3471-4852-7414-31AF64BED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951" y="3429000"/>
            <a:ext cx="4230588" cy="140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19131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600"/>
              <a:t>DataRate</a:t>
            </a:r>
            <a:endParaRPr lang="en-US" altLang="ko-KR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10214"/>
            <a:ext cx="10515600" cy="55195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/>
              <a:t>DataRate = BandWidth * log2(1+SINR)</a:t>
            </a:r>
            <a:endParaRPr lang="en-US" altLang="ko-KR"/>
          </a:p>
        </p:txBody>
      </p:sp>
      <p:sp>
        <p:nvSpPr>
          <p:cNvPr id="4" name="내용 개체 틀 2"/>
          <p:cNvSpPr>
            <a:spLocks noGrp="1"/>
          </p:cNvSpPr>
          <p:nvPr/>
        </p:nvSpPr>
        <p:spPr>
          <a:xfrm>
            <a:off x="838200" y="3036219"/>
            <a:ext cx="10515600" cy="310866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제목 1"/>
          <p:cNvSpPr>
            <a:spLocks noGrp="1"/>
          </p:cNvSpPr>
          <p:nvPr/>
        </p:nvSpPr>
        <p:spPr>
          <a:xfrm>
            <a:off x="838199" y="2223752"/>
            <a:ext cx="10515600" cy="874378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기타 설정값</a:t>
            </a:r>
            <a:endParaRPr xmlns:mc="http://schemas.openxmlformats.org/markup-compatibility/2006" xmlns:hp="http://schemas.haansoft.com/office/presentation/8.0" kumimoji="0" lang="ko-KR" altLang="en-US" sz="36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내용 개체 틀 2"/>
          <p:cNvSpPr>
            <a:spLocks noGrp="1"/>
          </p:cNvSpPr>
          <p:nvPr/>
        </p:nvSpPr>
        <p:spPr>
          <a:xfrm>
            <a:off x="838200" y="3153020"/>
            <a:ext cx="10515600" cy="3299169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송신기 위치를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6cell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형태를 띄도록 하여 설정함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각 송신기마다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SINR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을 구한 후 각 수신자별로 가장 높은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SINR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을 추출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그에 맞는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를 구함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기지국당 전송 전력을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20W, 40W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 설정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채널의 경우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1.9GHz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에서는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[1.900, 1.905, 1.910, 1.915]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            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  28GHz</a:t>
            </a: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에서는 </a:t>
            </a:r>
            <a:r>
              <a:rPr xmlns:mc="http://schemas.openxmlformats.org/markup-compatibility/2006" xmlns:hp="http://schemas.haansoft.com/office/presentation/8.0" kumimoji="0" lang="en-US" altLang="ko-KR" sz="2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[28.00, 28.01, 28.02, 28.03]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05497425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4G DataRate Map</a:t>
            </a:r>
            <a:endParaRPr lang="en-US" altLang="ko-KR"/>
          </a:p>
        </p:txBody>
      </p:sp>
      <p:sp>
        <p:nvSpPr>
          <p:cNvPr id="20" name="가로 글상자 19"/>
          <p:cNvSpPr txBox="1"/>
          <p:nvPr/>
        </p:nvSpPr>
        <p:spPr>
          <a:xfrm>
            <a:off x="6096000" y="3863063"/>
            <a:ext cx="1576637" cy="283110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42.64Mbps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43.11Mbps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39.81Mbps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33.13Mbps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39.74Mbps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40.19Mbps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33.72Mbps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39.97Mbps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43.11Mbps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42.64Mbps</a:t>
            </a:r>
            <a:endParaRPr lang="en-US" altLang="ko-KR"/>
          </a:p>
        </p:txBody>
      </p:sp>
      <p:sp>
        <p:nvSpPr>
          <p:cNvPr id="22" name="가로 글상자 21"/>
          <p:cNvSpPr txBox="1"/>
          <p:nvPr/>
        </p:nvSpPr>
        <p:spPr>
          <a:xfrm>
            <a:off x="1002629" y="1604209"/>
            <a:ext cx="4521569" cy="100373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범위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39.7Mbps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10%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 : 15.2Mbps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가로 글상자 24"/>
          <p:cNvSpPr txBox="1"/>
          <p:nvPr/>
        </p:nvSpPr>
        <p:spPr>
          <a:xfrm>
            <a:off x="571797" y="4955003"/>
            <a:ext cx="5073017" cy="70094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영역에서 최소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8.9Mbps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186468"/>
            <a:ext cx="4397631" cy="3242531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26180" y="3631722"/>
            <a:ext cx="4103954" cy="3226277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5987" y="3429000"/>
            <a:ext cx="514350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77657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5G DataRate Map</a:t>
            </a:r>
            <a:endParaRPr lang="en-US" altLang="ko-KR"/>
          </a:p>
        </p:txBody>
      </p:sp>
      <p:sp>
        <p:nvSpPr>
          <p:cNvPr id="20" name="가로 글상자 19"/>
          <p:cNvSpPr txBox="1"/>
          <p:nvPr/>
        </p:nvSpPr>
        <p:spPr>
          <a:xfrm>
            <a:off x="6096000" y="3863063"/>
            <a:ext cx="1576637" cy="283110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96.20Mbps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95.21Mbps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84.91Mbps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81.19Mbps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85.03Mbps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83.45Mbps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82.73Mbps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82.97Mbps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95.21Mbps</a:t>
            </a:r>
            <a:endParaRPr lang="en-US" altLang="ko-KR"/>
          </a:p>
          <a:p>
            <a:pPr lvl="0">
              <a:defRPr/>
            </a:pPr>
            <a:r>
              <a:rPr lang="en-US" altLang="ko-KR"/>
              <a:t>96.20Mbps</a:t>
            </a:r>
            <a:endParaRPr lang="en-US" altLang="ko-KR"/>
          </a:p>
        </p:txBody>
      </p:sp>
      <p:sp>
        <p:nvSpPr>
          <p:cNvPr id="22" name="가로 글상자 21"/>
          <p:cNvSpPr txBox="1"/>
          <p:nvPr/>
        </p:nvSpPr>
        <p:spPr>
          <a:xfrm>
            <a:off x="1002629" y="1604209"/>
            <a:ext cx="4521569" cy="100373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범위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88.3Mbps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10%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 : 33.6Mbps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가로 글상자 24"/>
          <p:cNvSpPr txBox="1"/>
          <p:nvPr/>
        </p:nvSpPr>
        <p:spPr>
          <a:xfrm>
            <a:off x="571797" y="4955003"/>
            <a:ext cx="5073017" cy="39614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영역에서 최소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18.9Mbps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142990"/>
            <a:ext cx="4241056" cy="3286009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30204" y="3584247"/>
            <a:ext cx="4120981" cy="3273753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3915" y="3429000"/>
            <a:ext cx="52482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81517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lvl="0" algn="ctr">
              <a:defRPr/>
            </a:pPr>
            <a:r>
              <a:rPr lang="en-US" altLang="ko-KR"/>
              <a:t>II. 2Channel in 1Cell</a:t>
            </a:r>
            <a:br>
              <a:rPr lang="en-US" altLang="ko-KR"/>
            </a:b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8144738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600"/>
              <a:t>2Channel in 1Cell</a:t>
            </a:r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38726" y="1881188"/>
            <a:ext cx="10114548" cy="2269706"/>
          </a:xfrm>
        </p:spPr>
        <p:txBody>
          <a:bodyPr>
            <a:noAutofit/>
          </a:bodyPr>
          <a:lstStyle/>
          <a:p>
            <a:pPr lvl="0">
              <a:lnSpc>
                <a:spcPct val="140000"/>
              </a:lnSpc>
              <a:defRPr/>
            </a:pPr>
            <a:r>
              <a:rPr lang="en-US" altLang="ko-KR" sz="2100"/>
              <a:t>10</a:t>
            </a:r>
            <a:r>
              <a:rPr lang="ko-KR" altLang="en-US" sz="2100"/>
              <a:t>개의 송신기 중에 가장 간섭이 많은 중앙 두개의 송신기에 </a:t>
            </a:r>
            <a:r>
              <a:rPr lang="en-US" altLang="ko-KR" sz="2100"/>
              <a:t>2</a:t>
            </a:r>
            <a:r>
              <a:rPr lang="ko-KR" altLang="en-US" sz="2100"/>
              <a:t>개의 채널을 부여</a:t>
            </a:r>
            <a:endParaRPr lang="ko-KR" altLang="en-US" sz="2100"/>
          </a:p>
          <a:p>
            <a:pPr lvl="0">
              <a:lnSpc>
                <a:spcPct val="140000"/>
              </a:lnSpc>
              <a:defRPr/>
            </a:pPr>
            <a:r>
              <a:rPr lang="ko-KR" altLang="en-US" sz="2100"/>
              <a:t>원래 부여했던 채널의 출력을 줄이고</a:t>
            </a:r>
            <a:r>
              <a:rPr lang="en-US" altLang="ko-KR" sz="2100"/>
              <a:t>,</a:t>
            </a:r>
            <a:r>
              <a:rPr lang="ko-KR" altLang="en-US" sz="2100"/>
              <a:t> 외곽의 채널을 하나 더 붙여 기존 출력보단 작게 송출</a:t>
            </a:r>
            <a:r>
              <a:rPr lang="en-US" altLang="ko-KR" sz="2100"/>
              <a:t>.</a:t>
            </a:r>
            <a:endParaRPr lang="en-US" altLang="ko-KR" sz="2100"/>
          </a:p>
          <a:p>
            <a:pPr lvl="0">
              <a:lnSpc>
                <a:spcPct val="140000"/>
              </a:lnSpc>
              <a:defRPr/>
            </a:pPr>
            <a:r>
              <a:rPr lang="en-US" altLang="ko-KR" sz="2100"/>
              <a:t>5W and 15W  ;;  10W and 30W</a:t>
            </a:r>
            <a:endParaRPr lang="en-US" altLang="ko-KR" sz="2100"/>
          </a:p>
        </p:txBody>
      </p:sp>
    </p:spTree>
    <p:extLst>
      <p:ext uri="{BB962C8B-B14F-4D97-AF65-F5344CB8AC3E}">
        <p14:creationId xmlns:p14="http://schemas.microsoft.com/office/powerpoint/2010/main" val="890999835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4G DataRate Map</a:t>
            </a:r>
            <a:endParaRPr lang="en-US" altLang="ko-KR"/>
          </a:p>
        </p:txBody>
      </p:sp>
      <p:sp>
        <p:nvSpPr>
          <p:cNvPr id="22" name="가로 글상자 21"/>
          <p:cNvSpPr txBox="1"/>
          <p:nvPr/>
        </p:nvSpPr>
        <p:spPr>
          <a:xfrm>
            <a:off x="1002629" y="1604209"/>
            <a:ext cx="4692016" cy="100373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범위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40.52Mbps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10%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 : 18.6Mbps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가로 글상자 24"/>
          <p:cNvSpPr txBox="1"/>
          <p:nvPr/>
        </p:nvSpPr>
        <p:spPr>
          <a:xfrm>
            <a:off x="571797" y="4955003"/>
            <a:ext cx="5073017" cy="70094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영역에서 최소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9.2Mbps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7675" y="3429000"/>
            <a:ext cx="5200650" cy="1333500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98391" y="231496"/>
            <a:ext cx="4195190" cy="3197504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805916" y="3679774"/>
            <a:ext cx="3809139" cy="31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33167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en-US" altLang="ko-KR"/>
              <a:t>5G DataRate Map</a:t>
            </a:r>
            <a:endParaRPr lang="en-US" altLang="ko-KR"/>
          </a:p>
        </p:txBody>
      </p:sp>
      <p:sp>
        <p:nvSpPr>
          <p:cNvPr id="22" name="가로 글상자 21"/>
          <p:cNvSpPr txBox="1"/>
          <p:nvPr/>
        </p:nvSpPr>
        <p:spPr>
          <a:xfrm>
            <a:off x="1002629" y="1604209"/>
            <a:ext cx="4521569" cy="100373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범위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: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80.5Mbps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10%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Rate : 37.2Mbps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가로 글상자 24"/>
          <p:cNvSpPr txBox="1"/>
          <p:nvPr/>
        </p:nvSpPr>
        <p:spPr>
          <a:xfrm>
            <a:off x="571797" y="4955003"/>
            <a:ext cx="5073017" cy="700942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전체 영역에서 최소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18.3Mbps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96000" y="140368"/>
            <a:ext cx="4285426" cy="3333109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764051" y="3629676"/>
            <a:ext cx="3993138" cy="3228323"/>
          </a:xfrm>
          <a:prstGeom prst="rect">
            <a:avLst/>
          </a:prstGeom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99811" y="3429000"/>
            <a:ext cx="52768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430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8F574C-53EF-C44E-0F60-4E196EEFE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III. Conclusion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513255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9D7B112A-FA7A-1427-58A3-8015911C8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8623" y="2246146"/>
            <a:ext cx="6944225" cy="3736934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1983464" y="5955627"/>
            <a:ext cx="4455171" cy="39564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&lt;4G 5G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 따른 실제 평균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DataRate&gt;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가로 글상자 14"/>
          <p:cNvSpPr txBox="1"/>
          <p:nvPr/>
        </p:nvSpPr>
        <p:spPr>
          <a:xfrm>
            <a:off x="922419" y="1163054"/>
            <a:ext cx="10523320" cy="901966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송신국에서 하나의 채널만 사용할 경우의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평균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4G :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39.7Mbps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5G : 88.3Mbps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가로 글상자 15"/>
          <p:cNvSpPr txBox="1"/>
          <p:nvPr/>
        </p:nvSpPr>
        <p:spPr>
          <a:xfrm>
            <a:off x="7590180" y="5516472"/>
            <a:ext cx="4455172" cy="691923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4G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bandwidth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대부분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5MHz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5G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bandwidth</a:t>
            </a:r>
            <a:r>
              <a:rPr xmlns:mc="http://schemas.openxmlformats.org/markup-compatibility/2006" xmlns:hp="http://schemas.haansoft.com/office/presentation/8.0" kumimoji="0" lang="ko-KR" altLang="en-US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는 적어도 </a:t>
            </a:r>
            <a:r>
              <a: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40MHz</a:t>
            </a:r>
            <a:endParaRPr xmlns:mc="http://schemas.openxmlformats.org/markup-compatibility/2006" xmlns:hp="http://schemas.haansoft.com/office/presentation/8.0" kumimoji="0" lang="en-US" altLang="ko-KR" sz="20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0874296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 idx="0"/>
          </p:nvPr>
        </p:nvSpPr>
        <p:spPr>
          <a:xfrm>
            <a:off x="838200" y="0"/>
            <a:ext cx="10515600" cy="1325563"/>
          </a:xfrm>
        </p:spPr>
        <p:txBody>
          <a:bodyPr vert="horz" lIns="91440" tIns="45720" rIns="91440" bIns="45720" anchor="ctr">
            <a:normAutofit/>
          </a:bodyPr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44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Conclusion</a:t>
            </a:r>
            <a:endParaRPr xmlns:mc="http://schemas.openxmlformats.org/markup-compatibility/2006" xmlns:hp="http://schemas.haansoft.com/office/presentation/8.0" kumimoji="0" lang="ko-KR" altLang="en-US" sz="44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가로 글상자 9"/>
          <p:cNvSpPr txBox="1"/>
          <p:nvPr/>
        </p:nvSpPr>
        <p:spPr>
          <a:xfrm>
            <a:off x="834340" y="1283369"/>
            <a:ext cx="10523320" cy="362551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음영지역의 평균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를 올리고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전체 평균은 다소 내려가거나 비슷함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83319" y="1765383"/>
            <a:ext cx="6083968" cy="4814380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7130864" y="2787315"/>
            <a:ext cx="4838400" cy="338298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최종적으로 음영지역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 최대한 적게 하는 안테나 배치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4G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기준으로 음영지역의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DataRate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20Mbps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에 근접하는 것을 미루어볼때 성공적이라고 생각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기지국당 전송 전력은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4G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기준으로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1W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아래로 내려가도 상관 없음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(5MHz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 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bw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더 많은 송신국에서 멀티채널을 사용할 경우 음영지역의 평균이 더 올라갈 것이라 예상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3601569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CCBE0B-8B1D-B044-3BC2-F0E0A47B0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V. Reference</a:t>
            </a:r>
            <a:br>
              <a:rPr lang="en-US" altLang="ko-KR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8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1D8C4-CD60-D5C5-0C8D-3F73DA579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3147D1-8373-951E-59B6-2EE4FE701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Park, Ju-Yong, Kim, Ki-Jung, Kim, Jeong-</a:t>
            </a:r>
            <a:r>
              <a:rPr lang="en-US" altLang="ko-KR" sz="1800" b="0" i="0" dirty="0" err="1">
                <a:solidFill>
                  <a:srgbClr val="676A6C"/>
                </a:solidFill>
                <a:effectLst/>
                <a:latin typeface="Menlo"/>
              </a:rPr>
              <a:t>Su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, &amp; Lee, Moon-Ho. (2015). Cell Edge SINR of Multi-cell MIMO Downlink Channel. </a:t>
            </a:r>
            <a:r>
              <a:rPr lang="en-US" altLang="ko-KR" sz="1800" b="0" i="1" dirty="0">
                <a:solidFill>
                  <a:srgbClr val="676A6C"/>
                </a:solidFill>
                <a:effectLst/>
                <a:latin typeface="Menlo"/>
              </a:rPr>
              <a:t>The Journal of The Institute of Internet, Broadcasting and Communication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, </a:t>
            </a:r>
            <a:r>
              <a:rPr lang="en-US" altLang="ko-KR" sz="1800" b="0" i="1" dirty="0">
                <a:solidFill>
                  <a:srgbClr val="676A6C"/>
                </a:solidFill>
                <a:effectLst/>
                <a:latin typeface="Menlo"/>
              </a:rPr>
              <a:t>15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</a:rPr>
              <a:t>(4), 105–117. </a:t>
            </a:r>
            <a:r>
              <a:rPr lang="en-US" altLang="ko-KR" sz="1800" b="0" i="0" dirty="0">
                <a:solidFill>
                  <a:srgbClr val="676A6C"/>
                </a:solidFill>
                <a:effectLst/>
                <a:latin typeface="Menlo"/>
                <a:hlinkClick r:id="rId2"/>
              </a:rPr>
              <a:t>https://doi.org/10.7236/JIIBC.2015.15.4.105</a:t>
            </a:r>
            <a:endParaRPr lang="en-US" altLang="ko-KR" sz="1800" b="0" i="0" dirty="0">
              <a:solidFill>
                <a:srgbClr val="676A6C"/>
              </a:solidFill>
              <a:effectLst/>
              <a:latin typeface="Menlo"/>
            </a:endParaRPr>
          </a:p>
          <a:p>
            <a:r>
              <a:rPr lang="en-US" altLang="ko-KR" sz="1800" u="sng" kern="100" dirty="0">
                <a:solidFill>
                  <a:srgbClr val="0563C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3"/>
              </a:rPr>
              <a:t>https://scienceon.kisti.re.kr/commons/util/originalView.do?cn=JAKO201707153701890&amp;oCn=JAKO201707153701890&amp;dbt=JAKO&amp;journal=NJOU00395629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u="sng" kern="100" dirty="0">
                <a:solidFill>
                  <a:srgbClr val="0563C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4"/>
              </a:rPr>
              <a:t>https://scienceon.kisti.re.kr/commons/util/originalView.do?cn=JAKO201402852973994&amp;oCn=JAKO201402852973994&amp;dbt=JAKO&amp;journal=NJOU00395629</a:t>
            </a:r>
            <a:endParaRPr lang="en-US" altLang="ko-KR" sz="1800" u="sng" kern="100" dirty="0">
              <a:solidFill>
                <a:srgbClr val="0563C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5"/>
              </a:rPr>
              <a:t>https://en.wikipedia.org/wiki/Signal-to-interference-plus-noise_ratio</a:t>
            </a:r>
            <a:endParaRPr lang="en-US" altLang="ko-KR" sz="1800" u="sng" kern="100" dirty="0">
              <a:solidFill>
                <a:srgbClr val="0563C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hlinkClick r:id="rId6"/>
              </a:rPr>
              <a:t>https://wiki.teltonika-networks.com/view/SINR</a:t>
            </a:r>
            <a:endParaRPr lang="en-US" altLang="ko-KR" sz="1800" u="sng" kern="100" dirty="0">
              <a:solidFill>
                <a:srgbClr val="0563C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r>
              <a:rPr lang="en-US" altLang="ko-KR" sz="18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https://help.venntelecom.com/support/solutions/articles/44001931194-how-to-interpret-sinr-parameters-in-2g-3g-and-lte-routers-</a:t>
            </a: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42048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361</ep:Words>
  <ep:PresentationFormat>와이드스크린</ep:PresentationFormat>
  <ep:Paragraphs>116</ep:Paragraphs>
  <ep:Slides>18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ep:HeadingPairs>
  <ep:TitlesOfParts>
    <vt:vector size="19" baseType="lpstr">
      <vt:lpstr>Office 테마</vt:lpstr>
      <vt:lpstr>Module2 (Base Station Capacity and Coverage)</vt:lpstr>
      <vt:lpstr>Contents</vt:lpstr>
      <vt:lpstr>I. 기본값을 지정한 DataRate Map</vt:lpstr>
      <vt:lpstr>Linkbudget 가정값</vt:lpstr>
      <vt:lpstr>Model’s SINR 계산</vt:lpstr>
      <vt:lpstr>Model’s SINR 계산</vt:lpstr>
      <vt:lpstr>DataRate</vt:lpstr>
      <vt:lpstr>4G DataRate Map</vt:lpstr>
      <vt:lpstr>5G DataRate Map</vt:lpstr>
      <vt:lpstr>II. 2Channel in 1Cell</vt:lpstr>
      <vt:lpstr>2Channel in 1Cell</vt:lpstr>
      <vt:lpstr>4G DataRate Map</vt:lpstr>
      <vt:lpstr>5G DataRate Map</vt:lpstr>
      <vt:lpstr>III. Conclusion</vt:lpstr>
      <vt:lpstr>Conclusion</vt:lpstr>
      <vt:lpstr>Conclusion</vt:lpstr>
      <vt:lpstr>V. Reference</vt:lpstr>
      <vt:lpstr>Reference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2023-03-31T18:57:34.000</dcterms:created>
  <dc:creator>박지원</dc:creator>
  <cp:lastModifiedBy>parkj</cp:lastModifiedBy>
  <dcterms:modified xsi:type="dcterms:W3CDTF">2023-04-30T09:50:59.343</dcterms:modified>
  <cp:revision>44</cp:revision>
  <dc:title>Module 1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